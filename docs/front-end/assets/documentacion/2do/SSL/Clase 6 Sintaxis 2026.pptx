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embeddedFontLst>
    <p:embeddedFont>
      <p:font typeface="Montserrat" panose="020B0604020202020204" charset="0"/>
      <p:regular r:id="rId28"/>
      <p:bold r:id="rId29"/>
      <p:italic r:id="rId30"/>
      <p:boldItalic r:id="rId31"/>
    </p:embeddedFont>
    <p:embeddedFont>
      <p:font typeface="Lato" panose="020B060402020202020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8E389DC-1E35-40B6-9CB5-7F7BB1D5D047}">
  <a:tblStyle styleId="{48E389DC-1E35-40B6-9CB5-7F7BB1D5D04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822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87997393_0_7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87997393_0_7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f87997393_0_7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f87997393_0_7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f7f49b1a7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f7f49b1a7a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ff5c29871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ff5c29871d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ff5c29871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ff5c29871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ff5c29871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ff5c29871d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ff5c8090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1ff5c8090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ff5c29871d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ff5c29871d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ff5c80901e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ff5c80901e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ff5c80901e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ff5c80901e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ff4522174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ff45221741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ff4522174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ff4522174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ff5c80901e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ff5c80901e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ff5c80901e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ff5c80901e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ff5c80901e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ff5c80901e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ff5c80901e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ff5c80901e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ff5c80901e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ff5c80901e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ff5c80901e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1ff5c80901e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ff5c80901e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ff5c80901e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ff5c80901e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1ff5c80901e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ff5c80901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1ff5c80901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ff5c80901e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ff5c80901e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ff5c80901e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1ff5c80901e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ff5c80901e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1ff5c80901e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f7f49b1a7a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1f7f49b1a7a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offset_comp_406605.jpg"/>
          <p:cNvPicPr preferRelativeResize="0"/>
          <p:nvPr/>
        </p:nvPicPr>
        <p:blipFill rotWithShape="1">
          <a:blip r:embed="rId2">
            <a:alphaModFix amt="66000"/>
          </a:blip>
          <a:srcRect l="20991" t="2690" r="40112" b="39565"/>
          <a:stretch/>
        </p:blipFill>
        <p:spPr>
          <a:xfrm>
            <a:off x="0" y="0"/>
            <a:ext cx="5157900" cy="5143500"/>
          </a:xfrm>
          <a:prstGeom prst="rtTriangle">
            <a:avLst/>
          </a:prstGeom>
          <a:noFill/>
          <a:ln>
            <a:noFill/>
          </a:ln>
        </p:spPr>
      </p:pic>
      <p:pic>
        <p:nvPicPr>
          <p:cNvPr id="11" name="Google Shape;11;p2" descr="offset_comp_342327_edtied.jpg"/>
          <p:cNvPicPr preferRelativeResize="0"/>
          <p:nvPr/>
        </p:nvPicPr>
        <p:blipFill rotWithShape="1">
          <a:blip r:embed="rId3">
            <a:alphaModFix amt="31000"/>
          </a:blip>
          <a:srcRect l="14009" t="35833" r="43289" b="11297"/>
          <a:stretch/>
        </p:blipFill>
        <p:spPr>
          <a:xfrm rot="10800000">
            <a:off x="6976800" y="-25"/>
            <a:ext cx="2167200" cy="20127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5846" y="-4836"/>
            <a:ext cx="2291400" cy="2300100"/>
          </a:xfrm>
          <a:prstGeom prst="diagStrip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652821" y="576768"/>
            <a:ext cx="2300100" cy="2291400"/>
          </a:xfrm>
          <a:prstGeom prst="diagStrip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9" name="Google Shape;19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39" name="Google Shape;39;p3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3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C">
  <p:cSld name="SECTION_HEADER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45" name="Google Shape;45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Google Shape;6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" name="Google Shape;73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1">
  <p:cSld name="TITLE_AND_BODY_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>
            <a:spLocks noGrp="1"/>
          </p:cNvSpPr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6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6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5" name="Google Shape;85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6"/>
          <p:cNvSpPr txBox="1">
            <a:spLocks noGrp="1"/>
          </p:cNvSpPr>
          <p:nvPr>
            <p:ph type="title" idx="2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8" name="Google Shape;8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2">
  <p:cSld name="TITLE_AND_BODY_2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>
            <a:spLocks noGrp="1"/>
          </p:cNvSpPr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0" y="3486600"/>
            <a:ext cx="9144000" cy="165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7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7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7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7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7" name="Google Shape;97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" name="Google Shape;99;p7"/>
          <p:cNvSpPr txBox="1">
            <a:spLocks noGrp="1"/>
          </p:cNvSpPr>
          <p:nvPr>
            <p:ph type="title" idx="2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0" name="Google Shape;10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8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8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8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" name="Google Shape;107;p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8" name="Google Shape;108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1" name="Google Shape;111;p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2" name="Google Shape;112;p8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9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9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9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20" name="Google Shape;120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" name="Google Shape;122;p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3" name="Google Shape;12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0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0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0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" name="Google Shape;129;p10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0" name="Google Shape;130;p1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Google Shape;132;p1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3" name="Google Shape;133;p10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1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1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1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41" name="Google Shape;141;p1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" name="Google Shape;159;p11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2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2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6" name="Google Shape;166;p1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67" name="Google Shape;167;p1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0" name="Google Shape;170;p12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71" name="Google Shape;171;p12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3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75" name="Google Shape;175;p13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" name="Google Shape;177;p13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179" name="Google Shape;179;p13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3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3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5" name="Google Shape;185;p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" name="Google Shape;203;p14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4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206" name="Google Shape;206;p14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4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4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4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3">
  <p:cSld name="TITLE_AND_BODY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6" descr="offset_comp_343059.jpg"/>
          <p:cNvPicPr preferRelativeResize="0"/>
          <p:nvPr/>
        </p:nvPicPr>
        <p:blipFill rotWithShape="1">
          <a:blip r:embed="rId2">
            <a:alphaModFix amt="80000"/>
          </a:blip>
          <a:srcRect l="30474" t="11955" r="30474" b="25870"/>
          <a:stretch/>
        </p:blipFill>
        <p:spPr>
          <a:xfrm rot="-5400000">
            <a:off x="113630" y="-105700"/>
            <a:ext cx="5142300" cy="5364300"/>
          </a:xfrm>
          <a:prstGeom prst="diagStripe">
            <a:avLst>
              <a:gd name="adj" fmla="val 50343"/>
            </a:avLst>
          </a:prstGeom>
          <a:noFill/>
          <a:ln>
            <a:noFill/>
          </a:ln>
        </p:spPr>
      </p:pic>
      <p:sp>
        <p:nvSpPr>
          <p:cNvPr id="214" name="Google Shape;214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body" idx="1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217" name="Google Shape;217;p16">
            <a:hlinkClick r:id="rId3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6">
            <a:hlinkClick r:id="rId3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6">
            <a:hlinkClick r:id="rId3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6">
            <a:hlinkClick r:id="rId3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222" name="Google Shape;222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/>
        </p:nvSpPr>
        <p:spPr>
          <a:xfrm>
            <a:off x="3055800" y="1578400"/>
            <a:ext cx="5499000" cy="15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Sintaxis y Semántica del Lenguaje</a:t>
            </a:r>
            <a:endParaRPr sz="4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"/>
          <p:cNvSpPr txBox="1">
            <a:spLocks noGrp="1"/>
          </p:cNvSpPr>
          <p:nvPr>
            <p:ph type="title"/>
          </p:nvPr>
        </p:nvSpPr>
        <p:spPr>
          <a:xfrm>
            <a:off x="1297500" y="1132625"/>
            <a:ext cx="7038900" cy="4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Contenidos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1294300" y="2064600"/>
            <a:ext cx="6366600" cy="20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Diseñar AFN</a:t>
            </a: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Convertir AFN en AFD</a:t>
            </a: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Resolución de ejercicios TP 4</a:t>
            </a: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None/>
            </a:pP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Autómatas Finitos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1297500" y="1403525"/>
            <a:ext cx="70389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Ya hablamos de los </a:t>
            </a:r>
            <a:r>
              <a:rPr lang="es-419" sz="2000" b="1" i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Autómatas Finitos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en particular de aquellos que cumplen con determinadas características que los hacen </a:t>
            </a:r>
            <a:r>
              <a:rPr lang="es-419" sz="2000" b="1" i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determinísticos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 Pero estos no son sino, un caso particular de los </a:t>
            </a:r>
            <a:r>
              <a:rPr lang="es-419" sz="2000" b="1" i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Autómatas Finitos No Determinísticos (o AFN)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Autómatas Finitos no Determinísticos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1297500" y="1403525"/>
            <a:ext cx="70389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Los AFN permiten que de cada nodo salga un número de transiciones distinto del número de caracteres del alfabeto (ya sean más o menos). Esto permite que falten flechas, o salgan varias con una misma etiqueta. También nos permite transiciones con palabras o con la </a:t>
            </a:r>
            <a:r>
              <a:rPr lang="es-419" sz="2000" b="1" i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palabra vacía (𝞮)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1297500" y="3127325"/>
            <a:ext cx="70389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Los nodos dejan de ser mutuamente excluyentes ya que una misma entrada permite distintas salidas.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Autómatas Finitos No Determinísticos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1297500" y="1403525"/>
            <a:ext cx="70389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i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Ventaja: 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 perder las restricciones de los AFD el diseño resulta más simple. Por ejemplo, los nodos ya no deben tener n transiciones, pueden tener solo 1 de n (Siendo n el total de caracteres del alfabeto).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i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Desventaja: 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 simplificar tanto el diseño, el costo de operación es más grande.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"/>
          <p:cNvSpPr txBox="1">
            <a:spLocks noGrp="1"/>
          </p:cNvSpPr>
          <p:nvPr>
            <p:ph type="title"/>
          </p:nvPr>
        </p:nvSpPr>
        <p:spPr>
          <a:xfrm>
            <a:off x="823850" y="382475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823850" y="1786650"/>
            <a:ext cx="4825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Diseñar el AFD que acepte palabras en el alfabeto ∑={a,b} que empiecen con la letra ‘a’.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1018500" y="2894850"/>
            <a:ext cx="71070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K = </a:t>
            </a:r>
            <a:endParaRPr sz="2000" b="1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 =</a:t>
            </a:r>
            <a:endParaRPr sz="2000" b="1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 =</a:t>
            </a:r>
            <a:endParaRPr sz="2000" b="1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∑ =</a:t>
            </a:r>
            <a:endParaRPr sz="2000" b="1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δ =</a:t>
            </a:r>
            <a:endParaRPr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"/>
          <p:cNvSpPr txBox="1"/>
          <p:nvPr/>
        </p:nvSpPr>
        <p:spPr>
          <a:xfrm>
            <a:off x="785000" y="341500"/>
            <a:ext cx="7107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Diseñar el AFD que acepte palabras en el alfabeto ∑={a,b} que empiecen con la letra ‘a’.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991688" y="1934663"/>
            <a:ext cx="3146700" cy="2789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5005613" y="1934663"/>
            <a:ext cx="3146700" cy="2789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1612100" y="1442075"/>
            <a:ext cx="190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Determinístico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5435650" y="1442075"/>
            <a:ext cx="2286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 Determinístico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70" name="Google Shape;27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1175" y="2717159"/>
            <a:ext cx="2995550" cy="12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7601" y="2031763"/>
            <a:ext cx="2454900" cy="259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"/>
          <p:cNvSpPr txBox="1">
            <a:spLocks noGrp="1"/>
          </p:cNvSpPr>
          <p:nvPr>
            <p:ph type="title"/>
          </p:nvPr>
        </p:nvSpPr>
        <p:spPr>
          <a:xfrm>
            <a:off x="823850" y="382475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823850" y="1786650"/>
            <a:ext cx="4825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Diseñar el AFD que acepte palabras en el alfabeto ∑={a,b,c} que terminen con ‘bb’.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" name="Google Shape;278;p24"/>
          <p:cNvSpPr txBox="1"/>
          <p:nvPr/>
        </p:nvSpPr>
        <p:spPr>
          <a:xfrm>
            <a:off x="1018500" y="2894850"/>
            <a:ext cx="71070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K = </a:t>
            </a:r>
            <a:endParaRPr sz="2000" b="1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 =</a:t>
            </a:r>
            <a:endParaRPr sz="2000" b="1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 =</a:t>
            </a:r>
            <a:endParaRPr sz="2000" b="1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∑ =</a:t>
            </a:r>
            <a:endParaRPr sz="2000" b="1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δ =</a:t>
            </a:r>
            <a:endParaRPr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"/>
          <p:cNvSpPr txBox="1"/>
          <p:nvPr/>
        </p:nvSpPr>
        <p:spPr>
          <a:xfrm>
            <a:off x="785000" y="341500"/>
            <a:ext cx="7107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Diseñar el AFD que acepte palabras en el alfabeto ∑={a,b,c} que terminen con ‘bb’.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627961" y="1934663"/>
            <a:ext cx="3510427" cy="2789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4683237" y="1934663"/>
            <a:ext cx="3711616" cy="2789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>
            <a:off x="1612100" y="1442075"/>
            <a:ext cx="190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Determinístico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5435650" y="1442075"/>
            <a:ext cx="2286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 Determinístico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88" name="Google Shape;28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7275" y="2324946"/>
            <a:ext cx="2995550" cy="2008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4"/>
          <a:srcRect l="10720" r="9709"/>
          <a:stretch/>
        </p:blipFill>
        <p:spPr>
          <a:xfrm>
            <a:off x="4792337" y="2324946"/>
            <a:ext cx="3481329" cy="20086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9335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Conversión de AFN a AFD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Relación entre los AFN y los AFD</a:t>
            </a:r>
            <a:endParaRPr/>
          </a:p>
        </p:txBody>
      </p:sp>
      <p:sp>
        <p:nvSpPr>
          <p:cNvPr id="300" name="Google Shape;300;p27"/>
          <p:cNvSpPr txBox="1"/>
          <p:nvPr/>
        </p:nvSpPr>
        <p:spPr>
          <a:xfrm>
            <a:off x="1297500" y="1403525"/>
            <a:ext cx="70389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Por cada AFN existe un AFD equivalente (que acepta el mismo lenguaje). 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Para poder encontrar este autómata, existe el </a:t>
            </a:r>
            <a:r>
              <a:rPr lang="es-419" sz="2000" b="1" i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método de conversión por conjunto de estados</a:t>
            </a:r>
            <a:r>
              <a:rPr lang="es-419" sz="20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el cual nos permite partir del AFN y llegar al AFD que valide el mismo lenguaje.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Para poder entenderlo, veamos el método aplicado a un ejemplo: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443300" cy="5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Método de conversión por conjunto de estados</a:t>
            </a:r>
            <a:endParaRPr/>
          </a:p>
        </p:txBody>
      </p:sp>
      <p:sp>
        <p:nvSpPr>
          <p:cNvPr id="306" name="Google Shape;306;p28"/>
          <p:cNvSpPr txBox="1"/>
          <p:nvPr/>
        </p:nvSpPr>
        <p:spPr>
          <a:xfrm>
            <a:off x="1351875" y="1271050"/>
            <a:ext cx="70389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Hallar a raíz del siguiente AFN su AFD equivalente: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2998638" y="1880263"/>
            <a:ext cx="3146700" cy="2789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08" name="Google Shape;30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8475" y="2355650"/>
            <a:ext cx="3067050" cy="18383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443300" cy="5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Método de conversión por conjunto de estados</a:t>
            </a:r>
            <a:endParaRPr/>
          </a:p>
        </p:txBody>
      </p:sp>
      <p:sp>
        <p:nvSpPr>
          <p:cNvPr id="314" name="Google Shape;314;p29"/>
          <p:cNvSpPr/>
          <p:nvPr/>
        </p:nvSpPr>
        <p:spPr>
          <a:xfrm>
            <a:off x="6293697" y="1787023"/>
            <a:ext cx="2447100" cy="2241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4676" y="2169066"/>
            <a:ext cx="2385061" cy="147736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1367400" y="986850"/>
            <a:ext cx="70389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Paso 1. Crear una tabla con una columna vacía y luego tantas columnas como caracteres del alfabeto (encabezadas por los mismos)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17" name="Google Shape;317;p29"/>
          <p:cNvGraphicFramePr/>
          <p:nvPr/>
        </p:nvGraphicFramePr>
        <p:xfrm>
          <a:off x="1784050" y="2169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{48E389DC-1E35-40B6-9CB5-7F7BB1D5D047}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a</a:t>
                      </a:r>
                      <a:endParaRPr sz="18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b</a:t>
                      </a:r>
                      <a:endParaRPr sz="18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443300" cy="5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Método de conversión por conjunto de estados</a:t>
            </a:r>
            <a:endParaRPr/>
          </a:p>
        </p:txBody>
      </p:sp>
      <p:sp>
        <p:nvSpPr>
          <p:cNvPr id="323" name="Google Shape;323;p30"/>
          <p:cNvSpPr/>
          <p:nvPr/>
        </p:nvSpPr>
        <p:spPr>
          <a:xfrm>
            <a:off x="6293697" y="1787023"/>
            <a:ext cx="2447100" cy="2241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24" name="Google Shape;32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4676" y="2169066"/>
            <a:ext cx="2385061" cy="147736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25" name="Google Shape;325;p30"/>
          <p:cNvSpPr txBox="1"/>
          <p:nvPr/>
        </p:nvSpPr>
        <p:spPr>
          <a:xfrm>
            <a:off x="1367400" y="986850"/>
            <a:ext cx="7038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Paso 2. En una nueva fila colocar q0 y escribir en cada columna a donde llega con la transición indicada.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26" name="Google Shape;326;p30"/>
          <p:cNvGraphicFramePr/>
          <p:nvPr/>
        </p:nvGraphicFramePr>
        <p:xfrm>
          <a:off x="1714500" y="1889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{48E389DC-1E35-40B6-9CB5-7F7BB1D5D047}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2000" b="1"/>
                        <a:t>a</a:t>
                      </a:r>
                      <a:endParaRPr sz="20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2000" b="1"/>
                        <a:t>b</a:t>
                      </a:r>
                      <a:endParaRPr sz="20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2000" b="1">
                          <a:solidFill>
                            <a:srgbClr val="9900FF"/>
                          </a:solidFill>
                        </a:rPr>
                        <a:t>q</a:t>
                      </a:r>
                      <a:r>
                        <a:rPr lang="es-419" sz="2000" b="1" baseline="-25000">
                          <a:solidFill>
                            <a:srgbClr val="9900FF"/>
                          </a:solidFill>
                        </a:rPr>
                        <a:t>0</a:t>
                      </a:r>
                      <a:endParaRPr sz="2000" b="1" baseline="-25000">
                        <a:solidFill>
                          <a:srgbClr val="9900FF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2000" b="1">
                          <a:solidFill>
                            <a:srgbClr val="9900FF"/>
                          </a:solidFill>
                        </a:rPr>
                        <a:t>q</a:t>
                      </a:r>
                      <a:r>
                        <a:rPr lang="es-419" sz="2000" b="1" baseline="-25000">
                          <a:solidFill>
                            <a:srgbClr val="9900FF"/>
                          </a:solidFill>
                        </a:rPr>
                        <a:t>1</a:t>
                      </a:r>
                      <a:endParaRPr sz="2000" b="1" baseline="-25000">
                        <a:solidFill>
                          <a:srgbClr val="9900FF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2000" b="1">
                          <a:solidFill>
                            <a:srgbClr val="9900FF"/>
                          </a:solidFill>
                        </a:rPr>
                        <a:t>q</a:t>
                      </a:r>
                      <a:r>
                        <a:rPr lang="es-419" sz="2000" b="1" baseline="-25000">
                          <a:solidFill>
                            <a:srgbClr val="9900FF"/>
                          </a:solidFill>
                        </a:rPr>
                        <a:t>1</a:t>
                      </a:r>
                      <a:endParaRPr sz="2000" b="1" baseline="-25000">
                        <a:solidFill>
                          <a:srgbClr val="9900FF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443300" cy="5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Método de conversión por conjunto de estados</a:t>
            </a:r>
            <a:endParaRPr/>
          </a:p>
        </p:txBody>
      </p:sp>
      <p:sp>
        <p:nvSpPr>
          <p:cNvPr id="332" name="Google Shape;332;p31"/>
          <p:cNvSpPr/>
          <p:nvPr/>
        </p:nvSpPr>
        <p:spPr>
          <a:xfrm>
            <a:off x="6293697" y="1787023"/>
            <a:ext cx="2447100" cy="2241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33" name="Google Shape;33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4676" y="2169066"/>
            <a:ext cx="2385061" cy="147736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34" name="Google Shape;334;p31"/>
          <p:cNvSpPr txBox="1"/>
          <p:nvPr/>
        </p:nvSpPr>
        <p:spPr>
          <a:xfrm>
            <a:off x="1367400" y="986850"/>
            <a:ext cx="7038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Paso 3. Ahora, agregar los estados que aparecieron en filas nuevas.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35" name="Google Shape;335;p31"/>
          <p:cNvGraphicFramePr/>
          <p:nvPr/>
        </p:nvGraphicFramePr>
        <p:xfrm>
          <a:off x="1714500" y="1889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{48E389DC-1E35-40B6-9CB5-7F7BB1D5D047}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2000" b="1"/>
                        <a:t>a</a:t>
                      </a:r>
                      <a:endParaRPr sz="20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2000" b="1"/>
                        <a:t>b</a:t>
                      </a:r>
                      <a:endParaRPr sz="20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2000" b="1"/>
                        <a:t>q</a:t>
                      </a:r>
                      <a:r>
                        <a:rPr lang="es-419" sz="2000" b="1" baseline="-25000"/>
                        <a:t>0</a:t>
                      </a:r>
                      <a:endParaRPr sz="2000" b="1" baseline="-25000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2000" b="1"/>
                        <a:t>q</a:t>
                      </a:r>
                      <a:r>
                        <a:rPr lang="es-419" sz="2000" b="1" baseline="-25000"/>
                        <a:t>1</a:t>
                      </a:r>
                      <a:endParaRPr sz="2000" b="1" baseline="-25000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2000" b="1"/>
                        <a:t>q</a:t>
                      </a:r>
                      <a:r>
                        <a:rPr lang="es-419" sz="2000" b="1" baseline="-25000"/>
                        <a:t>1</a:t>
                      </a:r>
                      <a:endParaRPr sz="2000" b="1" baseline="-25000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2000" b="1">
                          <a:solidFill>
                            <a:srgbClr val="9900FF"/>
                          </a:solidFill>
                        </a:rPr>
                        <a:t>q</a:t>
                      </a:r>
                      <a:r>
                        <a:rPr lang="es-419" sz="2000" b="1" baseline="-25000">
                          <a:solidFill>
                            <a:srgbClr val="9900FF"/>
                          </a:solidFill>
                        </a:rPr>
                        <a:t>1</a:t>
                      </a:r>
                      <a:endParaRPr sz="2000" b="1">
                        <a:solidFill>
                          <a:srgbClr val="9900FF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baseline="-25000">
                        <a:solidFill>
                          <a:srgbClr val="9900FF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baseline="-25000">
                        <a:solidFill>
                          <a:srgbClr val="9900FF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443300" cy="5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Método de conversión por conjunto de estados</a:t>
            </a:r>
            <a:endParaRPr/>
          </a:p>
        </p:txBody>
      </p:sp>
      <p:sp>
        <p:nvSpPr>
          <p:cNvPr id="341" name="Google Shape;341;p32"/>
          <p:cNvSpPr/>
          <p:nvPr/>
        </p:nvSpPr>
        <p:spPr>
          <a:xfrm>
            <a:off x="6293697" y="1787023"/>
            <a:ext cx="2447100" cy="2241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4676" y="2169066"/>
            <a:ext cx="2385061" cy="147736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1367400" y="986850"/>
            <a:ext cx="7038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Paso 4. Completar las filas nuevas con los estados a los que puedo llegar con las transiciones que encabezan las columnas.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44" name="Google Shape;344;p32"/>
          <p:cNvGraphicFramePr/>
          <p:nvPr/>
        </p:nvGraphicFramePr>
        <p:xfrm>
          <a:off x="1714500" y="1889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{48E389DC-1E35-40B6-9CB5-7F7BB1D5D047}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2000" b="1"/>
                        <a:t>a</a:t>
                      </a:r>
                      <a:endParaRPr sz="20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2000" b="1"/>
                        <a:t>b</a:t>
                      </a:r>
                      <a:endParaRPr sz="20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2000" b="1"/>
                        <a:t>q</a:t>
                      </a:r>
                      <a:r>
                        <a:rPr lang="es-419" sz="2000" b="1" baseline="-25000"/>
                        <a:t>0</a:t>
                      </a:r>
                      <a:endParaRPr sz="2000" b="1" baseline="-25000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2000" b="1"/>
                        <a:t>q</a:t>
                      </a:r>
                      <a:r>
                        <a:rPr lang="es-419" sz="2000" b="1" baseline="-25000"/>
                        <a:t>1</a:t>
                      </a:r>
                      <a:endParaRPr sz="2000" b="1" baseline="-25000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2000" b="1"/>
                        <a:t>q</a:t>
                      </a:r>
                      <a:r>
                        <a:rPr lang="es-419" sz="2000" b="1" baseline="-25000"/>
                        <a:t>1</a:t>
                      </a:r>
                      <a:endParaRPr sz="2000" b="1" baseline="-25000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20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20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endParaRPr sz="20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2000" b="1">
                          <a:solidFill>
                            <a:srgbClr val="9900FF"/>
                          </a:solidFill>
                        </a:rPr>
                        <a:t>q</a:t>
                      </a:r>
                      <a:r>
                        <a:rPr lang="es-419" sz="2000" b="1" baseline="-25000">
                          <a:solidFill>
                            <a:srgbClr val="9900FF"/>
                          </a:solidFill>
                        </a:rPr>
                        <a:t>2</a:t>
                      </a:r>
                      <a:endParaRPr sz="2000" b="1" baseline="-25000">
                        <a:solidFill>
                          <a:srgbClr val="9900FF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2000" b="1">
                          <a:solidFill>
                            <a:srgbClr val="9900FF"/>
                          </a:solidFill>
                        </a:rPr>
                        <a:t>q</a:t>
                      </a:r>
                      <a:r>
                        <a:rPr lang="es-419" sz="2000" b="1" baseline="-25000">
                          <a:solidFill>
                            <a:srgbClr val="9900FF"/>
                          </a:solidFill>
                        </a:rPr>
                        <a:t>2</a:t>
                      </a:r>
                      <a:endParaRPr sz="2000" b="1" baseline="-25000">
                        <a:solidFill>
                          <a:srgbClr val="9900FF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443300" cy="5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Método de conversión por conjunto de estados</a:t>
            </a:r>
            <a:endParaRPr/>
          </a:p>
        </p:txBody>
      </p:sp>
      <p:sp>
        <p:nvSpPr>
          <p:cNvPr id="350" name="Google Shape;350;p33"/>
          <p:cNvSpPr/>
          <p:nvPr/>
        </p:nvSpPr>
        <p:spPr>
          <a:xfrm>
            <a:off x="5796447" y="2657623"/>
            <a:ext cx="2447100" cy="2241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51" name="Google Shape;35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7426" y="3039666"/>
            <a:ext cx="2385061" cy="147736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52" name="Google Shape;352;p33"/>
          <p:cNvSpPr txBox="1"/>
          <p:nvPr/>
        </p:nvSpPr>
        <p:spPr>
          <a:xfrm>
            <a:off x="5187525" y="916925"/>
            <a:ext cx="32034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Paso 5. Continuar repitiendo los pasos 3 y 4 hasta que ya no quedan más filas por rellenar (no surjan nuevos estados).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53" name="Google Shape;353;p33"/>
          <p:cNvGraphicFramePr/>
          <p:nvPr/>
        </p:nvGraphicFramePr>
        <p:xfrm>
          <a:off x="1512475" y="110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{48E389DC-1E35-40B6-9CB5-7F7BB1D5D047}</a:tableStyleId>
              </a:tblPr>
              <a:tblGrid>
                <a:gridCol w="106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a</a:t>
                      </a:r>
                      <a:endParaRPr sz="18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b</a:t>
                      </a:r>
                      <a:endParaRPr sz="18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q</a:t>
                      </a:r>
                      <a:r>
                        <a:rPr lang="es-419" sz="1800" b="1" baseline="-25000"/>
                        <a:t>0</a:t>
                      </a:r>
                      <a:endParaRPr sz="1800" b="1" baseline="-25000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q</a:t>
                      </a:r>
                      <a:r>
                        <a:rPr lang="es-419" sz="1800" b="1" baseline="-25000"/>
                        <a:t>1</a:t>
                      </a:r>
                      <a:endParaRPr sz="1800" b="1" baseline="-25000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q</a:t>
                      </a:r>
                      <a:r>
                        <a:rPr lang="es-419" sz="1800" b="1" baseline="-25000"/>
                        <a:t>1</a:t>
                      </a:r>
                      <a:endParaRPr sz="1800" b="1" baseline="-25000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rgbClr val="9900FF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rgbClr val="9900FF"/>
                          </a:solidFill>
                        </a:rPr>
                        <a:t>2</a:t>
                      </a:r>
                      <a:endParaRPr sz="1800" b="1">
                        <a:solidFill>
                          <a:srgbClr val="9900FF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rgbClr val="9900FF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rgbClr val="9900FF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rgbClr val="9900FF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rgbClr val="9900FF"/>
                          </a:solidFill>
                        </a:rPr>
                        <a:t>2</a:t>
                      </a:r>
                      <a:endParaRPr sz="1800" b="1">
                        <a:solidFill>
                          <a:srgbClr val="9900FF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rgbClr val="9900FF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rgbClr val="9900FF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rgbClr val="9900FF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443300" cy="5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Método de conversión por conjunto de estados</a:t>
            </a:r>
            <a:endParaRPr/>
          </a:p>
        </p:txBody>
      </p:sp>
      <p:sp>
        <p:nvSpPr>
          <p:cNvPr id="359" name="Google Shape;359;p34"/>
          <p:cNvSpPr/>
          <p:nvPr/>
        </p:nvSpPr>
        <p:spPr>
          <a:xfrm>
            <a:off x="5796447" y="2657623"/>
            <a:ext cx="2447100" cy="2241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60" name="Google Shape;36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7426" y="3039666"/>
            <a:ext cx="2385061" cy="147736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61" name="Google Shape;361;p34"/>
          <p:cNvSpPr txBox="1"/>
          <p:nvPr/>
        </p:nvSpPr>
        <p:spPr>
          <a:xfrm>
            <a:off x="5187525" y="916925"/>
            <a:ext cx="32034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Paso 5. Continuar repitiendo los pasos 3 y 4 hasta que ya no quedan más filas por rellenar (no surjan nuevos estados).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62" name="Google Shape;362;p34"/>
          <p:cNvGraphicFramePr/>
          <p:nvPr/>
        </p:nvGraphicFramePr>
        <p:xfrm>
          <a:off x="1512475" y="110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{48E389DC-1E35-40B6-9CB5-7F7BB1D5D047}</a:tableStyleId>
              </a:tblPr>
              <a:tblGrid>
                <a:gridCol w="106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a</a:t>
                      </a:r>
                      <a:endParaRPr sz="18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b</a:t>
                      </a:r>
                      <a:endParaRPr sz="18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q</a:t>
                      </a:r>
                      <a:r>
                        <a:rPr lang="es-419" sz="1800" b="1" baseline="-25000"/>
                        <a:t>0</a:t>
                      </a:r>
                      <a:endParaRPr sz="1800" b="1" baseline="-25000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q</a:t>
                      </a:r>
                      <a:r>
                        <a:rPr lang="es-419" sz="1800" b="1" baseline="-25000"/>
                        <a:t>1</a:t>
                      </a:r>
                      <a:endParaRPr sz="1800" b="1" baseline="-25000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q</a:t>
                      </a:r>
                      <a:r>
                        <a:rPr lang="es-419" sz="1800" b="1" baseline="-25000"/>
                        <a:t>1</a:t>
                      </a:r>
                      <a:endParaRPr sz="1800" b="1" baseline="-25000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rgbClr val="9900FF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rgbClr val="9900FF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rgbClr val="9900FF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rgbClr val="9900FF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rgbClr val="9900FF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rgbClr val="9900FF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rgbClr val="9900FF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rgbClr val="9900FF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rgbClr val="9900FF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rgbClr val="9900FF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rgbClr val="9900FF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rgbClr val="9900FF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rgbClr val="9900FF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rgbClr val="9900FF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rgbClr val="9900FF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rgbClr val="9900FF"/>
                          </a:solidFill>
                        </a:rPr>
                        <a:t>2</a:t>
                      </a:r>
                      <a:endParaRPr sz="1800" b="1">
                        <a:solidFill>
                          <a:srgbClr val="9900FF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443300" cy="5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Método de conversión por conjunto de estados</a:t>
            </a:r>
            <a:endParaRPr/>
          </a:p>
        </p:txBody>
      </p:sp>
      <p:sp>
        <p:nvSpPr>
          <p:cNvPr id="368" name="Google Shape;368;p35"/>
          <p:cNvSpPr/>
          <p:nvPr/>
        </p:nvSpPr>
        <p:spPr>
          <a:xfrm>
            <a:off x="5796447" y="2657623"/>
            <a:ext cx="2447100" cy="2241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69" name="Google Shape;36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7426" y="3039666"/>
            <a:ext cx="2385061" cy="147736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70" name="Google Shape;370;p35"/>
          <p:cNvSpPr txBox="1"/>
          <p:nvPr/>
        </p:nvSpPr>
        <p:spPr>
          <a:xfrm>
            <a:off x="5187525" y="916925"/>
            <a:ext cx="32034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Paso 5. Continuar repitiendo los pasos 3 y 4 hasta que ya no quedan más filas por rellenar (no surjan nuevos estados).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71" name="Google Shape;371;p35"/>
          <p:cNvGraphicFramePr/>
          <p:nvPr/>
        </p:nvGraphicFramePr>
        <p:xfrm>
          <a:off x="1512475" y="110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{48E389DC-1E35-40B6-9CB5-7F7BB1D5D047}</a:tableStyleId>
              </a:tblPr>
              <a:tblGrid>
                <a:gridCol w="106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a</a:t>
                      </a:r>
                      <a:endParaRPr sz="18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b</a:t>
                      </a:r>
                      <a:endParaRPr sz="18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q</a:t>
                      </a:r>
                      <a:r>
                        <a:rPr lang="es-419" sz="1800" b="1" baseline="-25000"/>
                        <a:t>0</a:t>
                      </a:r>
                      <a:endParaRPr sz="1800" b="1" baseline="-25000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q</a:t>
                      </a:r>
                      <a:r>
                        <a:rPr lang="es-419" sz="1800" b="1" baseline="-25000"/>
                        <a:t>1</a:t>
                      </a:r>
                      <a:endParaRPr sz="1800" b="1" baseline="-25000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q</a:t>
                      </a:r>
                      <a:r>
                        <a:rPr lang="es-419" sz="1800" b="1" baseline="-25000"/>
                        <a:t>1</a:t>
                      </a:r>
                      <a:endParaRPr sz="1800" b="1" baseline="-25000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rgbClr val="9900FF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rgbClr val="9900FF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rgbClr val="9900FF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rgbClr val="9900FF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rgbClr val="9900FF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rgbClr val="9900FF"/>
                          </a:solidFill>
                        </a:rPr>
                        <a:t>2</a:t>
                      </a:r>
                      <a:endParaRPr sz="1800" b="1">
                        <a:solidFill>
                          <a:srgbClr val="9900FF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rgbClr val="9900FF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rgbClr val="9900FF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rgbClr val="9900FF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rgbClr val="9900FF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rgbClr val="9900FF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rgbClr val="9900FF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rgbClr val="9900FF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rgbClr val="9900FF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rgbClr val="9900FF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rgbClr val="9900FF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rgbClr val="9900FF"/>
                          </a:solidFill>
                        </a:rPr>
                        <a:t>2</a:t>
                      </a:r>
                      <a:endParaRPr sz="1800" b="1">
                        <a:solidFill>
                          <a:srgbClr val="9900FF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443300" cy="5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Método de conversión por conjunto de estados</a:t>
            </a:r>
            <a:endParaRPr/>
          </a:p>
        </p:txBody>
      </p:sp>
      <p:sp>
        <p:nvSpPr>
          <p:cNvPr id="377" name="Google Shape;377;p36"/>
          <p:cNvSpPr/>
          <p:nvPr/>
        </p:nvSpPr>
        <p:spPr>
          <a:xfrm>
            <a:off x="5796447" y="2657623"/>
            <a:ext cx="2447100" cy="2241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78" name="Google Shape;37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7426" y="3039666"/>
            <a:ext cx="2385061" cy="147736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79" name="Google Shape;379;p36"/>
          <p:cNvSpPr txBox="1"/>
          <p:nvPr/>
        </p:nvSpPr>
        <p:spPr>
          <a:xfrm>
            <a:off x="5187525" y="916925"/>
            <a:ext cx="32034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Paso 5. Continuar repitiendo los pasos 3 y 4 hasta que ya no quedan más filas por rellenar (no surjan nuevos estados).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80" name="Google Shape;380;p36"/>
          <p:cNvGraphicFramePr/>
          <p:nvPr/>
        </p:nvGraphicFramePr>
        <p:xfrm>
          <a:off x="1512475" y="110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{48E389DC-1E35-40B6-9CB5-7F7BB1D5D047}</a:tableStyleId>
              </a:tblPr>
              <a:tblGrid>
                <a:gridCol w="106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a</a:t>
                      </a:r>
                      <a:endParaRPr sz="18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b</a:t>
                      </a:r>
                      <a:endParaRPr sz="18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q</a:t>
                      </a:r>
                      <a:r>
                        <a:rPr lang="es-419" sz="1800" b="1" baseline="-25000"/>
                        <a:t>0</a:t>
                      </a:r>
                      <a:endParaRPr sz="1800" b="1" baseline="-25000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q</a:t>
                      </a:r>
                      <a:r>
                        <a:rPr lang="es-419" sz="1800" b="1" baseline="-25000"/>
                        <a:t>1</a:t>
                      </a:r>
                      <a:endParaRPr sz="1800" b="1" baseline="-25000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q</a:t>
                      </a:r>
                      <a:r>
                        <a:rPr lang="es-419" sz="1800" b="1" baseline="-25000"/>
                        <a:t>1</a:t>
                      </a:r>
                      <a:endParaRPr sz="1800" b="1" baseline="-25000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rgbClr val="9900FF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rgbClr val="9900FF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rgbClr val="9900FF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rgbClr val="9900FF"/>
                          </a:solidFill>
                        </a:rPr>
                        <a:t>2</a:t>
                      </a:r>
                      <a:endParaRPr sz="1800" b="1">
                        <a:solidFill>
                          <a:srgbClr val="9900FF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rgbClr val="9900FF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rgbClr val="9900FF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rgbClr val="9900FF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rgbClr val="9900FF"/>
                          </a:solidFill>
                        </a:rPr>
                        <a:t>2</a:t>
                      </a:r>
                      <a:endParaRPr sz="1800" b="1">
                        <a:solidFill>
                          <a:srgbClr val="9900FF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rgbClr val="9900FF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rgbClr val="9900FF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rgbClr val="9900FF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443300" cy="5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Método de conversión por conjunto de estados</a:t>
            </a:r>
            <a:endParaRPr/>
          </a:p>
        </p:txBody>
      </p:sp>
      <p:sp>
        <p:nvSpPr>
          <p:cNvPr id="386" name="Google Shape;386;p37"/>
          <p:cNvSpPr txBox="1"/>
          <p:nvPr/>
        </p:nvSpPr>
        <p:spPr>
          <a:xfrm>
            <a:off x="5210825" y="1828013"/>
            <a:ext cx="32034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Ahora se dibuja el nuevo autómata cada cabecera de fila como un estado nuevo y las columnas serán las transiciones.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87" name="Google Shape;387;p37"/>
          <p:cNvGraphicFramePr/>
          <p:nvPr/>
        </p:nvGraphicFramePr>
        <p:xfrm>
          <a:off x="1512475" y="110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{48E389DC-1E35-40B6-9CB5-7F7BB1D5D047}</a:tableStyleId>
              </a:tblPr>
              <a:tblGrid>
                <a:gridCol w="106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a</a:t>
                      </a:r>
                      <a:endParaRPr sz="18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b</a:t>
                      </a:r>
                      <a:endParaRPr sz="18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q</a:t>
                      </a:r>
                      <a:r>
                        <a:rPr lang="es-419" sz="1800" b="1" baseline="-25000"/>
                        <a:t>0</a:t>
                      </a:r>
                      <a:endParaRPr sz="1800" b="1" baseline="-25000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q</a:t>
                      </a:r>
                      <a:r>
                        <a:rPr lang="es-419" sz="1800" b="1" baseline="-25000"/>
                        <a:t>1</a:t>
                      </a:r>
                      <a:endParaRPr sz="1800" b="1" baseline="-25000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q</a:t>
                      </a:r>
                      <a:r>
                        <a:rPr lang="es-419" sz="1800" b="1" baseline="-25000"/>
                        <a:t>1</a:t>
                      </a:r>
                      <a:endParaRPr sz="1800" b="1" baseline="-25000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88" name="Google Shape;388;p37"/>
          <p:cNvSpPr/>
          <p:nvPr/>
        </p:nvSpPr>
        <p:spPr>
          <a:xfrm>
            <a:off x="1126600" y="1585000"/>
            <a:ext cx="334200" cy="29991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9" name="Google Shape;389;p37"/>
          <p:cNvSpPr txBox="1"/>
          <p:nvPr/>
        </p:nvSpPr>
        <p:spPr>
          <a:xfrm>
            <a:off x="103300" y="2820775"/>
            <a:ext cx="1077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Estados</a:t>
            </a:r>
            <a:endParaRPr sz="2000" b="1" i="1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" name="Google Shape;390;p37"/>
          <p:cNvSpPr/>
          <p:nvPr/>
        </p:nvSpPr>
        <p:spPr>
          <a:xfrm rot="-5400000">
            <a:off x="3566175" y="3645200"/>
            <a:ext cx="140700" cy="2112600"/>
          </a:xfrm>
          <a:prstGeom prst="leftBrace">
            <a:avLst>
              <a:gd name="adj1" fmla="val 50000"/>
              <a:gd name="adj2" fmla="val 50719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1" name="Google Shape;391;p37"/>
          <p:cNvSpPr txBox="1"/>
          <p:nvPr/>
        </p:nvSpPr>
        <p:spPr>
          <a:xfrm>
            <a:off x="2911225" y="4701075"/>
            <a:ext cx="1548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Transiciones</a:t>
            </a:r>
            <a:endParaRPr sz="2000" b="1" i="1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443300" cy="5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Método de conversión por conjunto de estados</a:t>
            </a:r>
            <a:endParaRPr/>
          </a:p>
        </p:txBody>
      </p:sp>
      <p:graphicFrame>
        <p:nvGraphicFramePr>
          <p:cNvPr id="397" name="Google Shape;397;p38"/>
          <p:cNvGraphicFramePr/>
          <p:nvPr/>
        </p:nvGraphicFramePr>
        <p:xfrm>
          <a:off x="1297500" y="106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{48E389DC-1E35-40B6-9CB5-7F7BB1D5D047}</a:tableStyleId>
              </a:tblPr>
              <a:tblGrid>
                <a:gridCol w="106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a</a:t>
                      </a:r>
                      <a:endParaRPr sz="18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b</a:t>
                      </a:r>
                      <a:endParaRPr sz="18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q</a:t>
                      </a:r>
                      <a:r>
                        <a:rPr lang="es-419" sz="1800" b="1" baseline="-25000"/>
                        <a:t>0</a:t>
                      </a:r>
                      <a:endParaRPr sz="1800" b="1" baseline="-25000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q</a:t>
                      </a:r>
                      <a:r>
                        <a:rPr lang="es-419" sz="1800" b="1" baseline="-25000"/>
                        <a:t>1</a:t>
                      </a:r>
                      <a:endParaRPr sz="1800" b="1" baseline="-25000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/>
                        <a:t>q</a:t>
                      </a:r>
                      <a:r>
                        <a:rPr lang="es-419" sz="1800" b="1" baseline="-25000"/>
                        <a:t>1</a:t>
                      </a:r>
                      <a:endParaRPr sz="1800" b="1" baseline="-25000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,q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 b="1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es-419" sz="1800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98" name="Google Shape;398;p38"/>
          <p:cNvSpPr/>
          <p:nvPr/>
        </p:nvSpPr>
        <p:spPr>
          <a:xfrm>
            <a:off x="4649127" y="1065001"/>
            <a:ext cx="3907800" cy="3480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99" name="Google Shape;39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9925" y="1641512"/>
            <a:ext cx="3746200" cy="232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Ejercicios:</a:t>
            </a:r>
            <a:endParaRPr/>
          </a:p>
        </p:txBody>
      </p:sp>
      <p:sp>
        <p:nvSpPr>
          <p:cNvPr id="405" name="Google Shape;405;p39"/>
          <p:cNvSpPr/>
          <p:nvPr/>
        </p:nvSpPr>
        <p:spPr>
          <a:xfrm>
            <a:off x="1257300" y="1307850"/>
            <a:ext cx="3314700" cy="29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06" name="Google Shape;40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0925" y="2121100"/>
            <a:ext cx="2858475" cy="131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0"/>
          <p:cNvSpPr/>
          <p:nvPr/>
        </p:nvSpPr>
        <p:spPr>
          <a:xfrm>
            <a:off x="1257300" y="1307850"/>
            <a:ext cx="3314700" cy="29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12" name="Google Shape;41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3013" y="2109025"/>
            <a:ext cx="2925425" cy="134965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4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Ejercicios: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1"/>
          <p:cNvSpPr txBox="1">
            <a:spLocks noGrp="1"/>
          </p:cNvSpPr>
          <p:nvPr>
            <p:ph type="title"/>
          </p:nvPr>
        </p:nvSpPr>
        <p:spPr>
          <a:xfrm>
            <a:off x="1141650" y="211470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Resolver ejercicios del TP4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798</Words>
  <Application>Microsoft Office PowerPoint</Application>
  <PresentationFormat>Presentación en pantalla (16:9)</PresentationFormat>
  <Paragraphs>193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Montserrat</vt:lpstr>
      <vt:lpstr>Lato</vt:lpstr>
      <vt:lpstr>Arial</vt:lpstr>
      <vt:lpstr>Focus</vt:lpstr>
      <vt:lpstr>Presentación de PowerPoint</vt:lpstr>
      <vt:lpstr>Contenidos</vt:lpstr>
      <vt:lpstr>Autómatas Finitos</vt:lpstr>
      <vt:lpstr>Autómatas Finitos no Determinísticos</vt:lpstr>
      <vt:lpstr>Autómatas Finitos No Determinísticos</vt:lpstr>
      <vt:lpstr>Ejercicio</vt:lpstr>
      <vt:lpstr>Presentación de PowerPoint</vt:lpstr>
      <vt:lpstr>Ejercicio</vt:lpstr>
      <vt:lpstr>Presentación de PowerPoint</vt:lpstr>
      <vt:lpstr>Conversión de AFN a AFD</vt:lpstr>
      <vt:lpstr>Relación entre los AFN y los AFD</vt:lpstr>
      <vt:lpstr>Método de conversión por conjunto de estados</vt:lpstr>
      <vt:lpstr>Método de conversión por conjunto de estados</vt:lpstr>
      <vt:lpstr>Método de conversión por conjunto de estados</vt:lpstr>
      <vt:lpstr>Método de conversión por conjunto de estados</vt:lpstr>
      <vt:lpstr>Método de conversión por conjunto de estados</vt:lpstr>
      <vt:lpstr>Método de conversión por conjunto de estados</vt:lpstr>
      <vt:lpstr>Método de conversión por conjunto de estados</vt:lpstr>
      <vt:lpstr>Método de conversión por conjunto de estados</vt:lpstr>
      <vt:lpstr>Método de conversión por conjunto de estados</vt:lpstr>
      <vt:lpstr>Método de conversión por conjunto de estados</vt:lpstr>
      <vt:lpstr>Método de conversión por conjunto de estados</vt:lpstr>
      <vt:lpstr>Ejercicios:</vt:lpstr>
      <vt:lpstr>Ejercicios:</vt:lpstr>
      <vt:lpstr>Resolver ejercicios del TP4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Paternoster, Felix</cp:lastModifiedBy>
  <cp:revision>1</cp:revision>
  <dcterms:modified xsi:type="dcterms:W3CDTF">2025-05-30T18:07:17Z</dcterms:modified>
</cp:coreProperties>
</file>