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Lato" panose="020B0604020202020204" charset="0"/>
      <p:regular r:id="rId16"/>
      <p:bold r:id="rId17"/>
      <p:italic r:id="rId18"/>
      <p:boldItalic r:id="rId19"/>
    </p:embeddedFont>
    <p:embeddedFont>
      <p:font typeface="Montserra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2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579164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f5791642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6333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f520112ae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f520112ae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f578d6a62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f578d6a62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578d6a62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f578d6a62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579164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f5791642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f57916426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f57916426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Hablamos de curso porque sino la profesora me caga a pedos por poner facultad (apreciaría especial énfasis en esto, graciass)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f57916426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f57916426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f57916426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f57916426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57916426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f57916426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f57916426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f57916426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57916426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f57916426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f57916426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f57916426b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1" t="2690" r="40112" b="39565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09" t="35833" r="43289" b="11297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39" name="Google Shape;39;p3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_AND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2">
  <p:cSld name="TITLE_AND_BODY_2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7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79" name="Google Shape;179;p13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06" name="Google Shape;206;p14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3">
  <p:cSld name="TITLE_AND_BODY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 descr="offset_comp_343059.jpg"/>
          <p:cNvPicPr preferRelativeResize="0"/>
          <p:nvPr/>
        </p:nvPicPr>
        <p:blipFill rotWithShape="1">
          <a:blip r:embed="rId2">
            <a:alphaModFix amt="80000"/>
          </a:blip>
          <a:srcRect l="30474" t="11955" r="30474" b="25870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name="adj" fmla="val 50343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17" name="Google Shape;217;p16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ctrTitle"/>
          </p:nvPr>
        </p:nvSpPr>
        <p:spPr>
          <a:xfrm>
            <a:off x="3055800" y="1578400"/>
            <a:ext cx="54990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Sintaxis y Semántica del Lenguaje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AR" dirty="0"/>
              <a:t>Desarrollo de la clase 2</a:t>
            </a:r>
          </a:p>
        </p:txBody>
      </p:sp>
      <p:sp>
        <p:nvSpPr>
          <p:cNvPr id="257" name="Google Shape;257;p21"/>
          <p:cNvSpPr txBox="1">
            <a:spLocks noGrp="1"/>
          </p:cNvSpPr>
          <p:nvPr>
            <p:ph type="body" idx="1"/>
          </p:nvPr>
        </p:nvSpPr>
        <p:spPr>
          <a:xfrm>
            <a:off x="1083900" y="1307849"/>
            <a:ext cx="6976200" cy="2867543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s-AR" sz="1700" dirty="0"/>
              <a:t># TAD Simple: Implementación</a:t>
            </a:r>
          </a:p>
          <a:p>
            <a:pPr marL="0" lvl="0" indent="0" algn="just">
              <a:buNone/>
            </a:pPr>
            <a:r>
              <a:rPr lang="es-AR" sz="1700" dirty="0" smtClean="0"/>
              <a:t># </a:t>
            </a:r>
            <a:r>
              <a:rPr lang="es-AR" sz="1700" dirty="0"/>
              <a:t>TAD compuesto</a:t>
            </a:r>
          </a:p>
          <a:p>
            <a:pPr marL="0" lvl="0" indent="0" algn="just">
              <a:buNone/>
            </a:pPr>
            <a:r>
              <a:rPr lang="es-AR" sz="1700" dirty="0" smtClean="0"/>
              <a:t># </a:t>
            </a:r>
            <a:r>
              <a:rPr lang="es-AR" sz="1700" dirty="0"/>
              <a:t>Ejemplo de Especificación de TAD compuesto</a:t>
            </a:r>
          </a:p>
          <a:p>
            <a:pPr marL="0" lvl="0" indent="0" algn="just">
              <a:buNone/>
            </a:pPr>
            <a:r>
              <a:rPr lang="es-AR" sz="1700" dirty="0" smtClean="0"/>
              <a:t># </a:t>
            </a:r>
            <a:r>
              <a:rPr lang="es-AR" sz="1700" dirty="0"/>
              <a:t>Ejemplo de aplicación utilizando TAD compuesto</a:t>
            </a:r>
          </a:p>
          <a:p>
            <a:pPr marL="0" lvl="0" indent="0" algn="just">
              <a:buNone/>
            </a:pPr>
            <a:r>
              <a:rPr lang="es-AR" sz="1700" dirty="0" smtClean="0"/>
              <a:t># </a:t>
            </a:r>
            <a:r>
              <a:rPr lang="es-AR" sz="1700" dirty="0"/>
              <a:t>TAD Pila</a:t>
            </a:r>
          </a:p>
          <a:p>
            <a:pPr marL="0" lvl="0" indent="0" algn="just">
              <a:buNone/>
            </a:pPr>
            <a:r>
              <a:rPr lang="es-AR" sz="1700" dirty="0" smtClean="0"/>
              <a:t># </a:t>
            </a:r>
            <a:r>
              <a:rPr lang="es-AR" sz="1700" dirty="0"/>
              <a:t>TAD Cola</a:t>
            </a:r>
          </a:p>
          <a:p>
            <a:pPr marL="0" lvl="0" indent="0" algn="just">
              <a:buNone/>
            </a:pPr>
            <a:r>
              <a:rPr lang="es-AR" sz="1700" dirty="0" smtClean="0"/>
              <a:t># </a:t>
            </a:r>
            <a:r>
              <a:rPr lang="es-AR" sz="1700" dirty="0"/>
              <a:t>Repaso Sintaxis </a:t>
            </a:r>
            <a:r>
              <a:rPr lang="es-AR" sz="1700" dirty="0" smtClean="0"/>
              <a:t>Python</a:t>
            </a:r>
            <a:endParaRPr lang="es-AR" sz="1700" dirty="0"/>
          </a:p>
        </p:txBody>
      </p:sp>
    </p:spTree>
    <p:extLst>
      <p:ext uri="{BB962C8B-B14F-4D97-AF65-F5344CB8AC3E}">
        <p14:creationId xmlns:p14="http://schemas.microsoft.com/office/powerpoint/2010/main" val="222132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TAD Simple implementación</a:t>
            </a:r>
            <a:endParaRPr dirty="0"/>
          </a:p>
        </p:txBody>
      </p:sp>
      <p:sp>
        <p:nvSpPr>
          <p:cNvPr id="234" name="Google Shape;234;p18"/>
          <p:cNvSpPr txBox="1">
            <a:spLocks noGrp="1"/>
          </p:cNvSpPr>
          <p:nvPr>
            <p:ph type="body" idx="1"/>
          </p:nvPr>
        </p:nvSpPr>
        <p:spPr>
          <a:xfrm>
            <a:off x="992250" y="1028525"/>
            <a:ext cx="2796000" cy="16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700" i="1" dirty="0" err="1">
                <a:solidFill>
                  <a:schemeClr val="lt2"/>
                </a:solidFill>
              </a:rPr>
              <a:t>def</a:t>
            </a:r>
            <a:r>
              <a:rPr lang="es-419" sz="1700" dirty="0">
                <a:solidFill>
                  <a:schemeClr val="lt2"/>
                </a:solidFill>
              </a:rPr>
              <a:t> </a:t>
            </a:r>
            <a:r>
              <a:rPr lang="es-419" sz="1700" dirty="0" err="1"/>
              <a:t>crearEstudiante</a:t>
            </a:r>
            <a:r>
              <a:rPr lang="es-419" sz="1700" dirty="0"/>
              <a:t>():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dirty="0" err="1"/>
              <a:t>est</a:t>
            </a:r>
            <a:r>
              <a:rPr lang="es-419" sz="1700" dirty="0"/>
              <a:t>=[“”, ””, 0, 0]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i="1" dirty="0" err="1">
                <a:solidFill>
                  <a:schemeClr val="lt2"/>
                </a:solidFill>
              </a:rPr>
              <a:t>return</a:t>
            </a:r>
            <a:r>
              <a:rPr lang="es-419" sz="1700" i="1" dirty="0">
                <a:solidFill>
                  <a:schemeClr val="lt2"/>
                </a:solidFill>
              </a:rPr>
              <a:t> </a:t>
            </a:r>
            <a:r>
              <a:rPr lang="es-419" sz="1700" dirty="0" err="1"/>
              <a:t>est</a:t>
            </a:r>
            <a:r>
              <a:rPr lang="es-419" sz="1700" dirty="0"/>
              <a:t/>
            </a:r>
            <a:br>
              <a:rPr lang="es-419" sz="1700" dirty="0"/>
            </a:br>
            <a:r>
              <a:rPr lang="es-419" sz="1700" dirty="0"/>
              <a:t/>
            </a:r>
            <a:br>
              <a:rPr lang="es-419" sz="1700" dirty="0"/>
            </a:br>
            <a:endParaRPr sz="1700" dirty="0"/>
          </a:p>
        </p:txBody>
      </p:sp>
      <p:sp>
        <p:nvSpPr>
          <p:cNvPr id="235" name="Google Shape;235;p18"/>
          <p:cNvSpPr txBox="1">
            <a:spLocks noGrp="1"/>
          </p:cNvSpPr>
          <p:nvPr>
            <p:ph type="body" idx="1"/>
          </p:nvPr>
        </p:nvSpPr>
        <p:spPr>
          <a:xfrm>
            <a:off x="4645450" y="1028525"/>
            <a:ext cx="3690900" cy="16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700" i="1" dirty="0" err="1">
                <a:solidFill>
                  <a:schemeClr val="lt2"/>
                </a:solidFill>
              </a:rPr>
              <a:t>def</a:t>
            </a:r>
            <a:r>
              <a:rPr lang="es-419" sz="1700" dirty="0">
                <a:solidFill>
                  <a:schemeClr val="lt2"/>
                </a:solidFill>
              </a:rPr>
              <a:t> </a:t>
            </a:r>
            <a:r>
              <a:rPr lang="es-419" sz="1700" dirty="0" err="1"/>
              <a:t>cargarEstudiante</a:t>
            </a:r>
            <a:r>
              <a:rPr lang="es-419" sz="1700" dirty="0"/>
              <a:t>(</a:t>
            </a:r>
            <a:r>
              <a:rPr lang="es-419" sz="1700" dirty="0" err="1"/>
              <a:t>est</a:t>
            </a:r>
            <a:r>
              <a:rPr lang="es-419" sz="1700" dirty="0"/>
              <a:t>, n, a, l, p):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dirty="0" err="1"/>
              <a:t>est</a:t>
            </a:r>
            <a:r>
              <a:rPr lang="es-419" sz="1700" dirty="0"/>
              <a:t>[0]=n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dirty="0" err="1"/>
              <a:t>est</a:t>
            </a:r>
            <a:r>
              <a:rPr lang="es-419" sz="1700" dirty="0"/>
              <a:t>[1]=a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dirty="0" err="1"/>
              <a:t>est</a:t>
            </a:r>
            <a:r>
              <a:rPr lang="es-419" sz="1700" dirty="0"/>
              <a:t>[2]=l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dirty="0" err="1"/>
              <a:t>est</a:t>
            </a:r>
            <a:r>
              <a:rPr lang="es-419" sz="1700" dirty="0"/>
              <a:t>[3]=p</a:t>
            </a:r>
            <a:br>
              <a:rPr lang="es-419" sz="1700" dirty="0"/>
            </a:br>
            <a:r>
              <a:rPr lang="es-419" sz="1700" dirty="0"/>
              <a:t/>
            </a:r>
            <a:br>
              <a:rPr lang="es-419" sz="1700" dirty="0"/>
            </a:br>
            <a:endParaRPr sz="1700" dirty="0"/>
          </a:p>
        </p:txBody>
      </p:sp>
      <p:sp>
        <p:nvSpPr>
          <p:cNvPr id="236" name="Google Shape;236;p18"/>
          <p:cNvSpPr txBox="1">
            <a:spLocks noGrp="1"/>
          </p:cNvSpPr>
          <p:nvPr>
            <p:ph type="body" idx="1"/>
          </p:nvPr>
        </p:nvSpPr>
        <p:spPr>
          <a:xfrm>
            <a:off x="902150" y="3353050"/>
            <a:ext cx="76494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700"/>
              <a:t>Si se fijan bien, al cargar el estudiante, se está asociando cada posición a un atributo particular. Esto debe tenerse en cuenta a la hora de crear los ver y los modificar.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Simple implementación</a:t>
            </a:r>
            <a:endParaRPr/>
          </a:p>
        </p:txBody>
      </p:sp>
      <p:sp>
        <p:nvSpPr>
          <p:cNvPr id="242" name="Google Shape;242;p19"/>
          <p:cNvSpPr txBox="1">
            <a:spLocks noGrp="1"/>
          </p:cNvSpPr>
          <p:nvPr>
            <p:ph type="body" idx="1"/>
          </p:nvPr>
        </p:nvSpPr>
        <p:spPr>
          <a:xfrm>
            <a:off x="992250" y="1028525"/>
            <a:ext cx="2796000" cy="31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verNombre(est):</a:t>
            </a:r>
            <a:br>
              <a:rPr lang="es-419" sz="1700"/>
            </a:br>
            <a:r>
              <a:rPr lang="es-419" sz="1700"/>
              <a:t>	</a:t>
            </a:r>
            <a:r>
              <a:rPr lang="es-419" sz="1700" i="1">
                <a:solidFill>
                  <a:schemeClr val="lt2"/>
                </a:solidFill>
              </a:rPr>
              <a:t>return </a:t>
            </a:r>
            <a:r>
              <a:rPr lang="es-419" sz="1700"/>
              <a:t>est[0]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verApellido(est):</a:t>
            </a:r>
            <a:br>
              <a:rPr lang="es-419" sz="1700"/>
            </a:br>
            <a:r>
              <a:rPr lang="es-419" sz="1700"/>
              <a:t>	</a:t>
            </a:r>
            <a:r>
              <a:rPr lang="es-419" sz="1700" i="1">
                <a:solidFill>
                  <a:schemeClr val="lt2"/>
                </a:solidFill>
              </a:rPr>
              <a:t>return </a:t>
            </a:r>
            <a:r>
              <a:rPr lang="es-419" sz="1700"/>
              <a:t>est[1]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verLegajo(est):</a:t>
            </a:r>
            <a:br>
              <a:rPr lang="es-419" sz="1700"/>
            </a:br>
            <a:r>
              <a:rPr lang="es-419" sz="1700"/>
              <a:t>	</a:t>
            </a:r>
            <a:r>
              <a:rPr lang="es-419" sz="1700" i="1">
                <a:solidFill>
                  <a:schemeClr val="lt2"/>
                </a:solidFill>
              </a:rPr>
              <a:t>return </a:t>
            </a:r>
            <a:r>
              <a:rPr lang="es-419" sz="1700"/>
              <a:t>est[2]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verPromedio(est):</a:t>
            </a:r>
            <a:br>
              <a:rPr lang="es-419" sz="1700"/>
            </a:br>
            <a:r>
              <a:rPr lang="es-419" sz="1700"/>
              <a:t>	</a:t>
            </a:r>
            <a:r>
              <a:rPr lang="es-419" sz="1700" i="1">
                <a:solidFill>
                  <a:schemeClr val="lt2"/>
                </a:solidFill>
              </a:rPr>
              <a:t>return </a:t>
            </a:r>
            <a:r>
              <a:rPr lang="es-419" sz="1700"/>
              <a:t>est[3]</a:t>
            </a:r>
            <a:endParaRPr sz="1700"/>
          </a:p>
        </p:txBody>
      </p:sp>
      <p:sp>
        <p:nvSpPr>
          <p:cNvPr id="243" name="Google Shape;243;p19"/>
          <p:cNvSpPr txBox="1">
            <a:spLocks noGrp="1"/>
          </p:cNvSpPr>
          <p:nvPr>
            <p:ph type="body" idx="1"/>
          </p:nvPr>
        </p:nvSpPr>
        <p:spPr>
          <a:xfrm>
            <a:off x="0" y="4381197"/>
            <a:ext cx="9044848" cy="4882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Recordando </a:t>
            </a:r>
            <a:r>
              <a:rPr lang="es-419" sz="1700" smtClean="0"/>
              <a:t>que: 0 </a:t>
            </a:r>
            <a:r>
              <a:rPr lang="es-419" sz="1700"/>
              <a:t>→ </a:t>
            </a:r>
            <a:r>
              <a:rPr lang="es-419" sz="1700" smtClean="0"/>
              <a:t>Nombre	1 </a:t>
            </a:r>
            <a:r>
              <a:rPr lang="es-419" sz="1700"/>
              <a:t>→ </a:t>
            </a:r>
            <a:r>
              <a:rPr lang="es-419" sz="1700" smtClean="0"/>
              <a:t>Apellido	2 </a:t>
            </a:r>
            <a:r>
              <a:rPr lang="es-419" sz="1700"/>
              <a:t>→ </a:t>
            </a:r>
            <a:r>
              <a:rPr lang="es-419" sz="1700" smtClean="0"/>
              <a:t>Legajo	3 </a:t>
            </a:r>
            <a:r>
              <a:rPr lang="es-419" sz="1700"/>
              <a:t>→ Promedio</a:t>
            </a:r>
            <a:br>
              <a:rPr lang="es-419" sz="1700"/>
            </a:br>
            <a:r>
              <a:rPr lang="es-419" sz="1700"/>
              <a:t/>
            </a:r>
            <a:br>
              <a:rPr lang="es-419" sz="1700"/>
            </a:br>
            <a:endParaRPr sz="1700"/>
          </a:p>
        </p:txBody>
      </p:sp>
      <p:sp>
        <p:nvSpPr>
          <p:cNvPr id="244" name="Google Shape;244;p19"/>
          <p:cNvSpPr txBox="1">
            <a:spLocks noGrp="1"/>
          </p:cNvSpPr>
          <p:nvPr>
            <p:ph type="body" idx="1"/>
          </p:nvPr>
        </p:nvSpPr>
        <p:spPr>
          <a:xfrm>
            <a:off x="5284463" y="1028525"/>
            <a:ext cx="3156600" cy="31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modNombre(est, nNom):</a:t>
            </a:r>
            <a:br>
              <a:rPr lang="es-419" sz="1700"/>
            </a:br>
            <a:r>
              <a:rPr lang="es-419" sz="1700"/>
              <a:t>	est[0] = nNom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modApellido(est, nApe):</a:t>
            </a:r>
            <a:br>
              <a:rPr lang="es-419" sz="1700"/>
            </a:br>
            <a:r>
              <a:rPr lang="es-419" sz="1700"/>
              <a:t>	est[1] = nApe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modLegajo(est, nLeg):</a:t>
            </a:r>
            <a:br>
              <a:rPr lang="es-419" sz="1700"/>
            </a:br>
            <a:r>
              <a:rPr lang="es-419" sz="1700"/>
              <a:t>	est[2] = nLeg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modPromedio(est, nProm):</a:t>
            </a:r>
            <a:br>
              <a:rPr lang="es-419" sz="1700"/>
            </a:br>
            <a:r>
              <a:rPr lang="es-419" sz="1700"/>
              <a:t>	est[3] = nProm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Simple implementación</a:t>
            </a:r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body" idx="1"/>
          </p:nvPr>
        </p:nvSpPr>
        <p:spPr>
          <a:xfrm>
            <a:off x="2693400" y="1188975"/>
            <a:ext cx="3757200" cy="17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asignarEstudiante(est1, est2):</a:t>
            </a:r>
            <a:br>
              <a:rPr lang="es-419" sz="1700"/>
            </a:br>
            <a:r>
              <a:rPr lang="es-419" sz="1700"/>
              <a:t>	est2[0] = est1[0]</a:t>
            </a:r>
            <a:br>
              <a:rPr lang="es-419" sz="1700"/>
            </a:br>
            <a:r>
              <a:rPr lang="es-419" sz="1700"/>
              <a:t>	est2[1] = est1[1]</a:t>
            </a:r>
            <a:br>
              <a:rPr lang="es-419" sz="1700"/>
            </a:br>
            <a:r>
              <a:rPr lang="es-419" sz="1700"/>
              <a:t>	est2[2] = est1[2]</a:t>
            </a:r>
            <a:br>
              <a:rPr lang="es-419" sz="1700"/>
            </a:br>
            <a:r>
              <a:rPr lang="es-419" sz="1700"/>
              <a:t>	est2[3] = est1[3]</a:t>
            </a:r>
            <a:endParaRPr sz="1700"/>
          </a:p>
        </p:txBody>
      </p:sp>
      <p:sp>
        <p:nvSpPr>
          <p:cNvPr id="251" name="Google Shape;251;p20"/>
          <p:cNvSpPr txBox="1"/>
          <p:nvPr/>
        </p:nvSpPr>
        <p:spPr>
          <a:xfrm>
            <a:off x="764850" y="3639475"/>
            <a:ext cx="7614300" cy="7389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Al entregar el TAD, este debe estar completo, ninguno de los métodos implementados en esta filmina puede faltar </a:t>
            </a:r>
            <a:endParaRPr sz="1800" b="1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Compuesto</a:t>
            </a:r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body" idx="1"/>
          </p:nvPr>
        </p:nvSpPr>
        <p:spPr>
          <a:xfrm>
            <a:off x="1083900" y="1307850"/>
            <a:ext cx="6976200" cy="242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En muchas ocasiones, al desarrollar aplicaciones, tendremos que guardar los tad simples en algún contenedor que los agrupe. Los alumnos se anotan a cursos, los autos se venden en concesionarias, una clínica tiene pacientes…</a:t>
            </a:r>
            <a:endParaRPr sz="170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/>
              <a:t>Ante esta necesidad, utilizamos </a:t>
            </a:r>
            <a:r>
              <a:rPr lang="es-419" sz="1700" b="1" i="1">
                <a:solidFill>
                  <a:schemeClr val="accent2"/>
                </a:solidFill>
              </a:rPr>
              <a:t>TAD Compuesto</a:t>
            </a:r>
            <a:r>
              <a:rPr lang="es-419" sz="1700"/>
              <a:t>. Estos TAD son del tipo </a:t>
            </a:r>
            <a:r>
              <a:rPr lang="es-419" sz="1700" b="1" i="1">
                <a:solidFill>
                  <a:schemeClr val="accent2"/>
                </a:solidFill>
              </a:rPr>
              <a:t>conjunto de datos</a:t>
            </a:r>
            <a:r>
              <a:rPr lang="es-419" sz="1700"/>
              <a:t>.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Compuesto - Métodos</a:t>
            </a:r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body" idx="1"/>
          </p:nvPr>
        </p:nvSpPr>
        <p:spPr>
          <a:xfrm>
            <a:off x="1083900" y="1043325"/>
            <a:ext cx="6976200" cy="392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#crearCurso():</a:t>
            </a:r>
            <a:br>
              <a:rPr lang="es-419" sz="1700"/>
            </a:br>
            <a:r>
              <a:rPr lang="es-419" sz="1700"/>
              <a:t>	#crea y retorna un curso </a:t>
            </a:r>
            <a:r>
              <a:rPr lang="es-419" sz="1700" smtClean="0"/>
              <a:t>vacío</a:t>
            </a:r>
            <a:endParaRPr sz="1700" smtClean="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 smtClean="0"/>
              <a:t>#agregarEstudiante(cur,est):</a:t>
            </a:r>
            <a:br>
              <a:rPr lang="es-419" sz="1700" smtClean="0"/>
            </a:br>
            <a:r>
              <a:rPr lang="es-419" sz="1700" smtClean="0"/>
              <a:t>	#agrega un estudiante al curso</a:t>
            </a:r>
            <a:endParaRPr sz="1700" smtClean="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 smtClean="0"/>
              <a:t>#</a:t>
            </a:r>
            <a:r>
              <a:rPr lang="es-419" sz="1700"/>
              <a:t>eliminarEstudiante(cur, est):</a:t>
            </a:r>
            <a:br>
              <a:rPr lang="es-419" sz="1700"/>
            </a:br>
            <a:r>
              <a:rPr lang="es-419" sz="1700"/>
              <a:t>	#elimina un estudiante del curso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/>
              <a:t>#recuperarEstudiante(cur, i):</a:t>
            </a:r>
            <a:br>
              <a:rPr lang="es-419" sz="1700"/>
            </a:br>
            <a:r>
              <a:rPr lang="es-419" sz="1700"/>
              <a:t>	#recupera el iesimo estudiante del curso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/>
              <a:t>#tamanio(cur):</a:t>
            </a:r>
            <a:br>
              <a:rPr lang="es-419" sz="1700"/>
            </a:br>
            <a:r>
              <a:rPr lang="es-419" sz="1700"/>
              <a:t>	#retorna la cantidad de estudiantes del curso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Compuesto - Ejercicio</a:t>
            </a:r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body" idx="1"/>
          </p:nvPr>
        </p:nvSpPr>
        <p:spPr>
          <a:xfrm>
            <a:off x="1083900" y="1307850"/>
            <a:ext cx="69762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 sz="1800"/>
              <a:t>Crear un curso. Crear y agregar cuatro estudiantes.</a:t>
            </a:r>
            <a:endParaRPr sz="180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/>
              <a:t>Una vez cargados, listar los datos de los cuatro </a:t>
            </a:r>
            <a:r>
              <a:rPr lang="es-419" sz="1800" smtClean="0"/>
              <a:t>estudiantes.</a:t>
            </a: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endParaRPr lang="es-419" sz="180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endParaRPr lang="es-419" sz="1800" smtClean="0"/>
          </a:p>
          <a:p>
            <a:pPr indent="-342900" algn="just">
              <a:buSzPts val="1800"/>
              <a:buAutoNum type="arabicPeriod"/>
            </a:pPr>
            <a:r>
              <a:rPr lang="es-AR" sz="2000" smtClean="0"/>
              <a:t>Crear otro curso, y cargarle todos los estudiantes</a:t>
            </a:r>
            <a:endParaRPr lang="es-AR" sz="2000"/>
          </a:p>
          <a:p>
            <a:pPr lvl="1" indent="-342900" algn="just">
              <a:spcBef>
                <a:spcPts val="0"/>
              </a:spcBef>
              <a:buSzPts val="1800"/>
              <a:buAutoNum type="alphaLcPeriod"/>
            </a:pPr>
            <a:r>
              <a:rPr lang="es-AR" sz="1800"/>
              <a:t>Recuperar el alumno con un legajo determinado, </a:t>
            </a:r>
            <a:r>
              <a:rPr lang="es-AR" sz="1800" smtClean="0"/>
              <a:t>modificar el promedio, e </a:t>
            </a:r>
            <a:r>
              <a:rPr lang="es-AR" sz="1800"/>
              <a:t>imprimir su nombre y apellido.</a:t>
            </a:r>
          </a:p>
          <a:p>
            <a:pPr lvl="1" indent="-342900" algn="just">
              <a:spcBef>
                <a:spcPts val="0"/>
              </a:spcBef>
              <a:buSzPts val="1800"/>
              <a:buAutoNum type="alphaLcPeriod"/>
            </a:pPr>
            <a:r>
              <a:rPr lang="es-AR" sz="1800"/>
              <a:t>Eliminar el alumno con un legajo determinado. Mostrar sus datos antes de elimnar.</a:t>
            </a:r>
          </a:p>
          <a:p>
            <a:pPr lvl="1" indent="-342900" algn="just">
              <a:spcBef>
                <a:spcPts val="0"/>
              </a:spcBef>
              <a:buSzPts val="1800"/>
              <a:buAutoNum type="alphaLcPeriod"/>
            </a:pPr>
            <a:r>
              <a:rPr lang="es-AR" sz="1800"/>
              <a:t>Eliminar todos los alumnos con legajo mayor a 34000</a:t>
            </a:r>
          </a:p>
          <a:p>
            <a:pPr indent="-342900" algn="just">
              <a:buSzPts val="1800"/>
              <a:buAutoNum type="arabicPeriod"/>
            </a:pPr>
            <a:endParaRPr lang="es-419" sz="2000" smtClean="0"/>
          </a:p>
          <a:p>
            <a:pPr marL="571500" lvl="1" indent="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114300" lvl="0" indent="0" algn="just" rtl="0"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-419" sz="1800" smtClean="0"/>
              <a:t>2.  Asumir </a:t>
            </a:r>
            <a:r>
              <a:rPr lang="es-419" sz="1800"/>
              <a:t>cargado un curso completo</a:t>
            </a:r>
            <a:endParaRPr sz="180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/>
              <a:t>Recuperar el alumno con </a:t>
            </a:r>
            <a:r>
              <a:rPr lang="es-419" sz="1800" smtClean="0"/>
              <a:t>un legajo determinado, </a:t>
            </a:r>
            <a:r>
              <a:rPr lang="es-419" sz="1800"/>
              <a:t>e imprimir su nombre y apellido.</a:t>
            </a:r>
            <a:endParaRPr sz="180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/>
              <a:t>Eliminar </a:t>
            </a:r>
            <a:r>
              <a:rPr lang="es-419" sz="1800" smtClean="0"/>
              <a:t>el </a:t>
            </a:r>
            <a:r>
              <a:rPr lang="es-419" sz="1800"/>
              <a:t>alumno </a:t>
            </a:r>
            <a:r>
              <a:rPr lang="es-419" sz="1800" smtClean="0"/>
              <a:t>con un legajo determinado. Mostrar sus datos antes de elimnar.</a:t>
            </a: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 smtClean="0"/>
              <a:t>Eliminar todos los alumnos con legajo mayor a 34000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Conjuntos de datos - Pila y Cola</a:t>
            </a:r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body" idx="1"/>
          </p:nvPr>
        </p:nvSpPr>
        <p:spPr>
          <a:xfrm>
            <a:off x="1083900" y="1307850"/>
            <a:ext cx="69762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De entre los conjuntos de datos, tenemos dos estructuras con un comportamiento particular.</a:t>
            </a:r>
            <a:endParaRPr sz="1800"/>
          </a:p>
          <a:p>
            <a:pPr marL="457200" lvl="0" indent="-342900" algn="just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 sz="1800"/>
              <a:t>Pila</a:t>
            </a:r>
            <a:endParaRPr sz="1800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1800"/>
              <a:t>Cola</a:t>
            </a:r>
            <a:endParaRPr sz="18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800"/>
              <a:t>¿Que recuerdan de estas estructuras?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 txBox="1">
            <a:spLocks noGrp="1"/>
          </p:cNvSpPr>
          <p:nvPr>
            <p:ph type="title"/>
          </p:nvPr>
        </p:nvSpPr>
        <p:spPr>
          <a:xfrm>
            <a:off x="1233900" y="3755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Pila</a:t>
            </a:r>
            <a:endParaRPr/>
          </a:p>
        </p:txBody>
      </p:sp>
      <p:sp>
        <p:nvSpPr>
          <p:cNvPr id="281" name="Google Shape;281;p25"/>
          <p:cNvSpPr txBox="1">
            <a:spLocks noGrp="1"/>
          </p:cNvSpPr>
          <p:nvPr>
            <p:ph type="body" idx="1"/>
          </p:nvPr>
        </p:nvSpPr>
        <p:spPr>
          <a:xfrm>
            <a:off x="1052550" y="11161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800"/>
              <a:t>Las pilas son tipos de datos genéricos, es decir, pueden almacenar cualquier tipo de dato. Estas son una estructura de tipo “LIFO” (</a:t>
            </a:r>
            <a:r>
              <a:rPr lang="es-419" sz="1800" i="1"/>
              <a:t>Last Input, First Output</a:t>
            </a:r>
            <a:r>
              <a:rPr lang="es-419" sz="1800"/>
              <a:t>), el último elemento colocado es el primero en sacarse.</a:t>
            </a:r>
            <a:br>
              <a:rPr lang="es-419" sz="1800"/>
            </a:br>
            <a:r>
              <a:rPr lang="es-419" sz="1800"/>
              <a:t>Sus operaciones básicas implican apilar (push) y desapilar (pop).</a:t>
            </a:r>
            <a:br>
              <a:rPr lang="es-419" sz="1800"/>
            </a:br>
            <a:r>
              <a:rPr lang="es-419" sz="1800"/>
              <a:t>Un ejemplo cotidiano de este tipo de estructura es la pila de platos.</a:t>
            </a:r>
            <a:endParaRPr sz="1800"/>
          </a:p>
        </p:txBody>
      </p:sp>
      <p:pic>
        <p:nvPicPr>
          <p:cNvPr id="282" name="Google Shape;2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050" y="3253325"/>
            <a:ext cx="2371901" cy="150747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 txBox="1">
            <a:spLocks noGrp="1"/>
          </p:cNvSpPr>
          <p:nvPr>
            <p:ph type="title"/>
          </p:nvPr>
        </p:nvSpPr>
        <p:spPr>
          <a:xfrm>
            <a:off x="1297500" y="332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Pila - Especificación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1070299" y="1366364"/>
            <a:ext cx="7908447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crearPila():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#Crea una pila vacia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esVacia(pila):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#Retorna Verdadero si la pila no tiene elementos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apilar(pila,elem):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#Agrega un elemento al final de la pila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desapilar(pila):</a:t>
            </a: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#Retorna y elimina el ultimo elemento de la pila</a:t>
            </a: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tamanio(pila):</a:t>
            </a: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#Retorna la cantidad de elementos de la pila</a:t>
            </a: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copiarPila(pila1,pila2):</a:t>
            </a: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#Copia los datos de una pila a </a:t>
            </a:r>
            <a:r>
              <a:rPr lang="es-AR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otra</a:t>
            </a:r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"/>
          <p:cNvSpPr txBox="1">
            <a:spLocks noGrp="1"/>
          </p:cNvSpPr>
          <p:nvPr>
            <p:ph type="title"/>
          </p:nvPr>
        </p:nvSpPr>
        <p:spPr>
          <a:xfrm>
            <a:off x="1233900" y="3755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Cola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1390375" y="929575"/>
            <a:ext cx="6790500" cy="25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 igual que las pilas, son tipos de datos genéricos. Sin embargo, estas estructuras son del tipo “FIFO” (</a:t>
            </a:r>
            <a:r>
              <a:rPr lang="es-419" sz="1800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First Input, First Output</a:t>
            </a:r>
            <a:r>
              <a:rPr lang="es-419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), el primer elemento colocado es el primero en sacarse.</a:t>
            </a:r>
            <a:br>
              <a:rPr lang="es-419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s-419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Sus operaciones básicas son encolar (push o enqueue) y desencolar (pop o dequeue).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 ejemplo cotidiano podrían ser las personas que esperan para ingresar al banco.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6" name="Google Shape;2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725" y="3508375"/>
            <a:ext cx="3166548" cy="13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 txBox="1">
            <a:spLocks noGrp="1"/>
          </p:cNvSpPr>
          <p:nvPr>
            <p:ph type="title"/>
          </p:nvPr>
        </p:nvSpPr>
        <p:spPr>
          <a:xfrm>
            <a:off x="1297500" y="332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Cola - Especificación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871994" y="1390864"/>
            <a:ext cx="7886416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crearCola():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#Crea una cola vacia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esVacia(cola):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#Retorna Verdadero si la cola no tiene elementos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encolar(cola, elem):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#Agrega un elemento al final de la cola       </a:t>
            </a:r>
            <a:endParaRPr lang="es-419" smtClean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419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just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desencolar(cola):</a:t>
            </a:r>
          </a:p>
          <a:p>
            <a:pPr lvl="0" algn="just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#Retorna y elimina el primer elemento de la cola</a:t>
            </a:r>
          </a:p>
          <a:p>
            <a:pPr lvl="0" algn="just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</a:p>
          <a:p>
            <a:pPr lvl="0" algn="just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tamanio(cola):</a:t>
            </a:r>
          </a:p>
          <a:p>
            <a:pPr lvl="0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#Retorna la cantidad de elementos de la cola</a:t>
            </a:r>
          </a:p>
          <a:p>
            <a:pPr lvl="0" algn="just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</a:p>
          <a:p>
            <a:pPr lvl="0" algn="just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 copiarCola(cola1,cola2):</a:t>
            </a:r>
          </a:p>
          <a:p>
            <a:pPr lvl="0" algn="just"/>
            <a:r>
              <a:rPr lang="es-A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#Copia los datos de una cola a </a:t>
            </a:r>
            <a:r>
              <a:rPr lang="es-AR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otra</a:t>
            </a:r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9664</TotalTime>
  <Words>641</Words>
  <Application>Microsoft Office PowerPoint</Application>
  <PresentationFormat>Presentación en pantalla (16:9)</PresentationFormat>
  <Paragraphs>99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Lato</vt:lpstr>
      <vt:lpstr>Montserrat</vt:lpstr>
      <vt:lpstr>Focus</vt:lpstr>
      <vt:lpstr>Sintaxis y Semántica del Lenguaje</vt:lpstr>
      <vt:lpstr>Desarrollo de la clase 2</vt:lpstr>
      <vt:lpstr>TAD Simple implementación</vt:lpstr>
      <vt:lpstr>TAD Simple implementación</vt:lpstr>
      <vt:lpstr>TAD Simple implementación</vt:lpstr>
      <vt:lpstr>TAD Compuesto</vt:lpstr>
      <vt:lpstr>TAD Compuesto - Métodos</vt:lpstr>
      <vt:lpstr>TAD Compuesto - Ejercicio</vt:lpstr>
      <vt:lpstr>Conjuntos de datos - Pila y Cola</vt:lpstr>
      <vt:lpstr>TAD Pila</vt:lpstr>
      <vt:lpstr>TAD Pila - Especificación</vt:lpstr>
      <vt:lpstr>TAD Cola</vt:lpstr>
      <vt:lpstr>TAD Cola - Especificación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Sintaxis y Semántica del Lenguaje</dc:title>
  <cp:lastModifiedBy>Paternoster, Felix</cp:lastModifiedBy>
  <cp:revision>4</cp:revision>
  <dcterms:modified xsi:type="dcterms:W3CDTF">2025-04-11T14:13:23Z</dcterms:modified>
</cp:coreProperties>
</file>