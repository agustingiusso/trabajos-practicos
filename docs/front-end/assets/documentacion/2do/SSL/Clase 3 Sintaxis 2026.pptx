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16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4" r:id="rId12"/>
    <p:sldId id="269" r:id="rId13"/>
    <p:sldId id="270" r:id="rId14"/>
    <p:sldId id="271" r:id="rId15"/>
  </p:sldIdLst>
  <p:sldSz cx="9144000" cy="5143500" type="screen16x9"/>
  <p:notesSz cx="6858000" cy="9144000"/>
  <p:embeddedFontLst>
    <p:embeddedFont>
      <p:font typeface="Montserrat" panose="020B0604020202020204" charset="0"/>
      <p:regular r:id="rId17"/>
      <p:bold r:id="rId18"/>
      <p:italic r:id="rId19"/>
      <p:boldItalic r:id="rId20"/>
    </p:embeddedFont>
    <p:embeddedFont>
      <p:font typeface="Lato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822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f87997393_0_7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f87997393_0_7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f87997393_0_7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f87997393_0_7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f57916426b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f57916426b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62853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cd04e02eb0_0_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cd04e02eb0_0_4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Hablamos de curso porque sino la profesora me caga a pedos por poner facultad (apreciaría especial énfasis en esto, graciass)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cd04e02eb0_0_6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cd04e02eb0_0_6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cd04e02eb0_0_6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cd04e02eb0_0_6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cd04e02eb0_0_9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cd04e02eb0_0_9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cd04e02eb0_0_6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cd04e02eb0_0_6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cd04e02eb0_0_9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cd04e02eb0_0_9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cd04e02eb0_0_9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cd04e02eb0_0_9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40119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f7b8092e2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f7b8092e2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f7b8092e2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f7b8092e2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32581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f7b8092e2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f7b8092e2e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39720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f7b8092e2e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f7b8092e2e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2960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descr="offset_comp_406605.jpg"/>
          <p:cNvPicPr preferRelativeResize="0"/>
          <p:nvPr/>
        </p:nvPicPr>
        <p:blipFill rotWithShape="1">
          <a:blip r:embed="rId2">
            <a:alphaModFix amt="66000"/>
          </a:blip>
          <a:srcRect l="20991" t="2690" r="40112" b="39565"/>
          <a:stretch/>
        </p:blipFill>
        <p:spPr>
          <a:xfrm>
            <a:off x="0" y="0"/>
            <a:ext cx="5157900" cy="5143500"/>
          </a:xfrm>
          <a:prstGeom prst="rtTriangle">
            <a:avLst/>
          </a:prstGeom>
          <a:noFill/>
          <a:ln>
            <a:noFill/>
          </a:ln>
        </p:spPr>
      </p:pic>
      <p:pic>
        <p:nvPicPr>
          <p:cNvPr id="11" name="Google Shape;11;p2" descr="offset_comp_342327_edtied.jpg"/>
          <p:cNvPicPr preferRelativeResize="0"/>
          <p:nvPr/>
        </p:nvPicPr>
        <p:blipFill rotWithShape="1">
          <a:blip r:embed="rId3">
            <a:alphaModFix amt="31000"/>
          </a:blip>
          <a:srcRect l="14009" t="35833" r="43289" b="11297"/>
          <a:stretch/>
        </p:blipFill>
        <p:spPr>
          <a:xfrm rot="10800000">
            <a:off x="6976800" y="-25"/>
            <a:ext cx="2167200" cy="2012700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 rot="-5400000">
            <a:off x="5846" y="-4836"/>
            <a:ext cx="2291400" cy="2300100"/>
          </a:xfrm>
          <a:prstGeom prst="diagStrip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 flipH="1">
            <a:off x="652821" y="576768"/>
            <a:ext cx="2300100" cy="2291400"/>
          </a:xfrm>
          <a:prstGeom prst="diagStrip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9" name="Google Shape;19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39" name="Google Shape;39;p3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3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C">
  <p:cSld name="SECTION_HEADER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45" name="Google Shape;45;p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" name="Google Shape;6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64" name="Google Shape;64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71" name="Google Shape;71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" name="Google Shape;73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_alt1">
  <p:cSld name="TITLE_AND_BODY_2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>
            <a:spLocks noGrp="1"/>
          </p:cNvSpPr>
          <p:nvPr>
            <p:ph type="title"/>
          </p:nvPr>
        </p:nvSpPr>
        <p:spPr>
          <a:xfrm>
            <a:off x="361071" y="1924852"/>
            <a:ext cx="2304900" cy="17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4564200" y="0"/>
            <a:ext cx="45798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6451271" y="1924850"/>
            <a:ext cx="2304900" cy="17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6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6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6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" name="Google Shape;84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85" name="Google Shape;85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6"/>
          <p:cNvSpPr txBox="1">
            <a:spLocks noGrp="1"/>
          </p:cNvSpPr>
          <p:nvPr>
            <p:ph type="title" idx="2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8" name="Google Shape;8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_alt2">
  <p:cSld name="TITLE_AND_BODY_2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>
            <a:spLocks noGrp="1"/>
          </p:cNvSpPr>
          <p:nvPr>
            <p:ph type="title"/>
          </p:nvPr>
        </p:nvSpPr>
        <p:spPr>
          <a:xfrm>
            <a:off x="702850" y="1708619"/>
            <a:ext cx="3333300" cy="14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0" y="3486600"/>
            <a:ext cx="9144000" cy="165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7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7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7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7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7" name="Google Shape;97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" name="Google Shape;99;p7"/>
          <p:cNvSpPr txBox="1">
            <a:spLocks noGrp="1"/>
          </p:cNvSpPr>
          <p:nvPr>
            <p:ph type="title" idx="2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0" name="Google Shape;10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702850" y="3625275"/>
            <a:ext cx="3333300" cy="7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8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8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8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" name="Google Shape;107;p8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8" name="Google Shape;108;p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" name="Google Shape;110;p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1" name="Google Shape;111;p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2" name="Google Shape;112;p8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3" name="Google Shape;11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9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9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9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20" name="Google Shape;120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" name="Google Shape;122;p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3" name="Google Shape;12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0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0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0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" name="Google Shape;129;p10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30" name="Google Shape;130;p1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" name="Google Shape;132;p1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3" name="Google Shape;133;p10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1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1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1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0" name="Google Shape;140;p11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41" name="Google Shape;141;p11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1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9" name="Google Shape;159;p11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2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2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2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6" name="Google Shape;166;p12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67" name="Google Shape;167;p1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" name="Google Shape;169;p12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0" name="Google Shape;170;p12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71" name="Google Shape;171;p12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3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75" name="Google Shape;175;p13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3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" name="Google Shape;177;p13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179" name="Google Shape;179;p13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3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3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85" name="Google Shape;185;p1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" name="Google Shape;203;p14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4" name="Google Shape;204;p14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05" name="Google Shape;20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206" name="Google Shape;206;p14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4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4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4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_alt3">
  <p:cSld name="TITLE_AND_BODY_1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16" descr="offset_comp_343059.jpg"/>
          <p:cNvPicPr preferRelativeResize="0"/>
          <p:nvPr/>
        </p:nvPicPr>
        <p:blipFill rotWithShape="1">
          <a:blip r:embed="rId2">
            <a:alphaModFix amt="80000"/>
          </a:blip>
          <a:srcRect l="30474" t="11955" r="30474" b="25870"/>
          <a:stretch/>
        </p:blipFill>
        <p:spPr>
          <a:xfrm rot="-5400000">
            <a:off x="113630" y="-105700"/>
            <a:ext cx="5142300" cy="5364300"/>
          </a:xfrm>
          <a:prstGeom prst="diagStripe">
            <a:avLst>
              <a:gd name="adj" fmla="val 50343"/>
            </a:avLst>
          </a:prstGeom>
          <a:noFill/>
          <a:ln>
            <a:noFill/>
          </a:ln>
        </p:spPr>
      </p:pic>
      <p:sp>
        <p:nvSpPr>
          <p:cNvPr id="214" name="Google Shape;214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body" idx="1"/>
          </p:nvPr>
        </p:nvSpPr>
        <p:spPr>
          <a:xfrm>
            <a:off x="4018025" y="1567550"/>
            <a:ext cx="4318500" cy="17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>
                <a:solidFill>
                  <a:schemeClr val="dk2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217" name="Google Shape;217;p16">
            <a:hlinkClick r:id="rId3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6">
            <a:hlinkClick r:id="rId3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6">
            <a:hlinkClick r:id="rId3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6">
            <a:hlinkClick r:id="rId3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1" name="Google Shape;221;p1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222" name="Google Shape;222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/>
          <p:nvPr/>
        </p:nvSpPr>
        <p:spPr>
          <a:xfrm>
            <a:off x="3055800" y="1578400"/>
            <a:ext cx="5499000" cy="15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Sintaxis y Semántica del Lenguaje</a:t>
            </a:r>
            <a:endParaRPr sz="4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"/>
          <p:cNvSpPr txBox="1">
            <a:spLocks noGrp="1"/>
          </p:cNvSpPr>
          <p:nvPr>
            <p:ph type="title"/>
          </p:nvPr>
        </p:nvSpPr>
        <p:spPr>
          <a:xfrm>
            <a:off x="1297500" y="1132625"/>
            <a:ext cx="7038900" cy="4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Contenidos</a:t>
            </a:r>
            <a:endParaRPr/>
          </a:p>
        </p:txBody>
      </p:sp>
      <p:sp>
        <p:nvSpPr>
          <p:cNvPr id="234" name="Google Shape;234;p18"/>
          <p:cNvSpPr txBox="1"/>
          <p:nvPr/>
        </p:nvSpPr>
        <p:spPr>
          <a:xfrm>
            <a:off x="1294299" y="1767141"/>
            <a:ext cx="6902249" cy="2892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Mostrar y debatir Solución del ejercicio planteado la clase anterior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419" dirty="0" smtClean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TAD </a:t>
            </a:r>
            <a:r>
              <a:rPr lang="es-4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Compuesto - Implementación.</a:t>
            </a:r>
            <a:endParaRPr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TAD Pila y Cola - Implementación</a:t>
            </a:r>
            <a:r>
              <a:rPr lang="es-419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endParaRPr lang="es-41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s-419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Armado de grupos para trabajo de TAD</a:t>
            </a:r>
            <a:endParaRPr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s-419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Ejercicio: Desarrollar aplicación (implementando </a:t>
            </a:r>
            <a:r>
              <a:rPr lang="es-419" dirty="0" err="1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TADs</a:t>
            </a:r>
            <a:r>
              <a:rPr lang="es-419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simple y compuesto</a:t>
            </a:r>
            <a:endParaRPr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TAD Compuesto - Ejercicio</a:t>
            </a:r>
            <a:endParaRPr/>
          </a:p>
        </p:txBody>
      </p:sp>
      <p:sp>
        <p:nvSpPr>
          <p:cNvPr id="269" name="Google Shape;269;p23"/>
          <p:cNvSpPr txBox="1">
            <a:spLocks noGrp="1"/>
          </p:cNvSpPr>
          <p:nvPr>
            <p:ph type="body" idx="1"/>
          </p:nvPr>
        </p:nvSpPr>
        <p:spPr>
          <a:xfrm>
            <a:off x="1083900" y="1307850"/>
            <a:ext cx="6976200" cy="365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 sz="1800" dirty="0"/>
              <a:t>Crear un curso. Crear y </a:t>
            </a:r>
            <a:r>
              <a:rPr lang="es-419" sz="1800" dirty="0" smtClean="0"/>
              <a:t>agregar </a:t>
            </a:r>
            <a:r>
              <a:rPr lang="es-419" sz="1800" dirty="0"/>
              <a:t>estudiantes.</a:t>
            </a:r>
            <a:endParaRPr sz="1800" dirty="0"/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s-419" sz="1800" dirty="0"/>
              <a:t>Una vez cargados, listar los datos de </a:t>
            </a:r>
            <a:r>
              <a:rPr lang="es-419" sz="1800" dirty="0" smtClean="0"/>
              <a:t>los </a:t>
            </a:r>
            <a:r>
              <a:rPr lang="es-419" sz="1800" dirty="0" smtClean="0"/>
              <a:t>estudiantes.</a:t>
            </a: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endParaRPr lang="es-419" sz="1800" dirty="0"/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endParaRPr lang="es-419" sz="1800" dirty="0" smtClean="0"/>
          </a:p>
          <a:p>
            <a:pPr indent="-342900" algn="just">
              <a:buSzPts val="1800"/>
              <a:buAutoNum type="arabicPeriod"/>
            </a:pPr>
            <a:r>
              <a:rPr lang="es-AR" sz="2000" dirty="0" smtClean="0"/>
              <a:t>Crear otro curso, y cargarle todos los estudiantes</a:t>
            </a:r>
            <a:endParaRPr lang="es-AR" sz="2000" dirty="0"/>
          </a:p>
          <a:p>
            <a:pPr lvl="1" indent="-342900" algn="just">
              <a:spcBef>
                <a:spcPts val="0"/>
              </a:spcBef>
              <a:buSzPts val="1800"/>
              <a:buAutoNum type="alphaLcPeriod"/>
            </a:pPr>
            <a:r>
              <a:rPr lang="es-AR" sz="1800" dirty="0"/>
              <a:t>Recuperar el alumno con un legajo determinado, </a:t>
            </a:r>
            <a:r>
              <a:rPr lang="es-AR" sz="1800" dirty="0" smtClean="0"/>
              <a:t>modificar el promedio, e </a:t>
            </a:r>
            <a:r>
              <a:rPr lang="es-AR" sz="1800" dirty="0"/>
              <a:t>imprimir su nombre y apellido.</a:t>
            </a:r>
          </a:p>
          <a:p>
            <a:pPr lvl="1" indent="-342900" algn="just">
              <a:spcBef>
                <a:spcPts val="0"/>
              </a:spcBef>
              <a:buSzPts val="1800"/>
              <a:buAutoNum type="alphaLcPeriod"/>
            </a:pPr>
            <a:r>
              <a:rPr lang="es-AR" sz="1800" dirty="0"/>
              <a:t>Eliminar el alumno con un legajo determinado. Mostrar sus datos antes de </a:t>
            </a:r>
            <a:r>
              <a:rPr lang="es-AR" sz="1800" dirty="0" err="1"/>
              <a:t>elimnar</a:t>
            </a:r>
            <a:r>
              <a:rPr lang="es-AR" sz="1800" dirty="0"/>
              <a:t>.</a:t>
            </a:r>
          </a:p>
          <a:p>
            <a:pPr lvl="1" indent="-342900" algn="just">
              <a:spcBef>
                <a:spcPts val="0"/>
              </a:spcBef>
              <a:buSzPts val="1800"/>
              <a:buAutoNum type="alphaLcPeriod"/>
            </a:pPr>
            <a:r>
              <a:rPr lang="es-AR" sz="1800" dirty="0"/>
              <a:t>Eliminar todos los alumnos con legajo mayor a 34000</a:t>
            </a:r>
          </a:p>
          <a:p>
            <a:pPr indent="-342900" algn="just">
              <a:buSzPts val="1800"/>
              <a:buAutoNum type="arabicPeriod"/>
            </a:pPr>
            <a:endParaRPr lang="es-419" sz="2000" dirty="0" smtClean="0"/>
          </a:p>
          <a:p>
            <a:pPr marL="571500" lvl="1" indent="0" algn="just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dirty="0"/>
          </a:p>
          <a:p>
            <a:pPr marL="0" lvl="0" indent="0" algn="just" rtl="0">
              <a:spcBef>
                <a:spcPts val="1600"/>
              </a:spcBef>
              <a:spcAft>
                <a:spcPts val="0"/>
              </a:spcAft>
              <a:buNone/>
            </a:pPr>
            <a:endParaRPr sz="1800" dirty="0"/>
          </a:p>
          <a:p>
            <a:pPr marL="114300" lvl="0" indent="0" algn="just" rtl="0"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s-419" sz="1800" dirty="0" smtClean="0"/>
              <a:t>2.  Asumir </a:t>
            </a:r>
            <a:r>
              <a:rPr lang="es-419" sz="1800" dirty="0"/>
              <a:t>cargado un curso completo</a:t>
            </a:r>
            <a:endParaRPr sz="1800" dirty="0"/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s-419" sz="1800" dirty="0"/>
              <a:t>Recuperar el alumno con </a:t>
            </a:r>
            <a:r>
              <a:rPr lang="es-419" sz="1800" dirty="0" smtClean="0"/>
              <a:t>un legajo determinado, </a:t>
            </a:r>
            <a:r>
              <a:rPr lang="es-419" sz="1800" dirty="0"/>
              <a:t>e imprimir su nombre y apellido.</a:t>
            </a:r>
            <a:endParaRPr sz="1800" dirty="0"/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s-419" sz="1800" dirty="0"/>
              <a:t>Eliminar </a:t>
            </a:r>
            <a:r>
              <a:rPr lang="es-419" sz="1800" dirty="0" smtClean="0"/>
              <a:t>el </a:t>
            </a:r>
            <a:r>
              <a:rPr lang="es-419" sz="1800" dirty="0"/>
              <a:t>alumno </a:t>
            </a:r>
            <a:r>
              <a:rPr lang="es-419" sz="1800" dirty="0" smtClean="0"/>
              <a:t>con un legajo determinado. Mostrar sus datos antes de </a:t>
            </a:r>
            <a:r>
              <a:rPr lang="es-419" sz="1800" dirty="0" err="1" smtClean="0"/>
              <a:t>elimnar</a:t>
            </a:r>
            <a:r>
              <a:rPr lang="es-419" sz="1800" dirty="0" smtClean="0"/>
              <a:t>.</a:t>
            </a: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s-419" sz="1800" dirty="0" smtClean="0"/>
              <a:t>Eliminar todos los alumnos con legajo mayor a 34000</a:t>
            </a:r>
            <a:endParaRPr sz="1800" dirty="0"/>
          </a:p>
        </p:txBody>
      </p:sp>
      <p:sp>
        <p:nvSpPr>
          <p:cNvPr id="4" name="CuadroTexto 3"/>
          <p:cNvSpPr txBox="1"/>
          <p:nvPr/>
        </p:nvSpPr>
        <p:spPr>
          <a:xfrm>
            <a:off x="6431541" y="0"/>
            <a:ext cx="2712459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vert="horz" wrap="square" rtlCol="0">
            <a:spAutoFit/>
          </a:bodyPr>
          <a:lstStyle/>
          <a:p>
            <a:r>
              <a:rPr lang="es-AR" sz="2400" dirty="0" smtClean="0">
                <a:solidFill>
                  <a:schemeClr val="bg1"/>
                </a:solidFill>
              </a:rPr>
              <a:t>Revisión</a:t>
            </a:r>
            <a:endParaRPr lang="es-E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8144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TAD Compuesto - Implementación</a:t>
            </a:r>
            <a:endParaRPr/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1083900" y="1043325"/>
            <a:ext cx="6976200" cy="392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i="1" dirty="0" err="1">
                <a:solidFill>
                  <a:schemeClr val="lt2"/>
                </a:solidFill>
              </a:rPr>
              <a:t>def</a:t>
            </a:r>
            <a:r>
              <a:rPr lang="es-419" sz="1700" dirty="0">
                <a:solidFill>
                  <a:schemeClr val="lt2"/>
                </a:solidFill>
              </a:rPr>
              <a:t> </a:t>
            </a:r>
            <a:r>
              <a:rPr lang="es-419" sz="1700" dirty="0" err="1"/>
              <a:t>crearCurso</a:t>
            </a:r>
            <a:r>
              <a:rPr lang="es-419" sz="1700" dirty="0"/>
              <a:t>():</a:t>
            </a:r>
            <a:br>
              <a:rPr lang="es-419" sz="1700" dirty="0"/>
            </a:br>
            <a:r>
              <a:rPr lang="es-419" sz="1700" dirty="0"/>
              <a:t>	#crea y retorna un curso vacío</a:t>
            </a:r>
            <a:br>
              <a:rPr lang="es-419" sz="1700" dirty="0"/>
            </a:br>
            <a:r>
              <a:rPr lang="es-419" sz="1700" dirty="0"/>
              <a:t>	curso=[]</a:t>
            </a:r>
            <a:br>
              <a:rPr lang="es-419" sz="1700" dirty="0"/>
            </a:br>
            <a:r>
              <a:rPr lang="es-419" sz="1700" dirty="0"/>
              <a:t>	</a:t>
            </a:r>
            <a:r>
              <a:rPr lang="es-419" sz="1700" i="1" dirty="0" err="1">
                <a:solidFill>
                  <a:schemeClr val="lt2"/>
                </a:solidFill>
              </a:rPr>
              <a:t>return</a:t>
            </a:r>
            <a:r>
              <a:rPr lang="es-419" sz="1700" dirty="0"/>
              <a:t> curso</a:t>
            </a:r>
            <a:endParaRPr sz="1700" dirty="0"/>
          </a:p>
          <a:p>
            <a:pPr marL="0" lvl="0" indent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700" i="1" dirty="0" err="1">
                <a:solidFill>
                  <a:schemeClr val="lt2"/>
                </a:solidFill>
              </a:rPr>
              <a:t>def</a:t>
            </a:r>
            <a:r>
              <a:rPr lang="es-419" sz="1700" i="1" dirty="0">
                <a:solidFill>
                  <a:schemeClr val="lt2"/>
                </a:solidFill>
              </a:rPr>
              <a:t> </a:t>
            </a:r>
            <a:r>
              <a:rPr lang="es-419" sz="1700" dirty="0" err="1"/>
              <a:t>agregarEstudiante</a:t>
            </a:r>
            <a:r>
              <a:rPr lang="es-419" sz="1700" dirty="0"/>
              <a:t>(curso, </a:t>
            </a:r>
            <a:r>
              <a:rPr lang="es-419" sz="1700" dirty="0" err="1"/>
              <a:t>est</a:t>
            </a:r>
            <a:r>
              <a:rPr lang="es-419" sz="1700" dirty="0"/>
              <a:t>):</a:t>
            </a:r>
            <a:br>
              <a:rPr lang="es-419" sz="1700" dirty="0"/>
            </a:br>
            <a:r>
              <a:rPr lang="es-419" sz="1700" dirty="0"/>
              <a:t>	#agrega un estudiante al curso</a:t>
            </a:r>
            <a:br>
              <a:rPr lang="es-419" sz="1700" dirty="0"/>
            </a:br>
            <a:r>
              <a:rPr lang="es-419" sz="1700" dirty="0"/>
              <a:t>	</a:t>
            </a:r>
            <a:r>
              <a:rPr lang="es-419" sz="1700" dirty="0" err="1"/>
              <a:t>curso.append</a:t>
            </a:r>
            <a:r>
              <a:rPr lang="es-419" sz="1700" dirty="0"/>
              <a:t>(</a:t>
            </a:r>
            <a:r>
              <a:rPr lang="es-419" sz="1700" dirty="0" err="1"/>
              <a:t>est</a:t>
            </a:r>
            <a:r>
              <a:rPr lang="es-419" sz="1700" dirty="0"/>
              <a:t>)</a:t>
            </a:r>
            <a:endParaRPr sz="1700" dirty="0"/>
          </a:p>
          <a:p>
            <a:pPr marL="0" lvl="0" indent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1700" i="1" dirty="0" err="1">
                <a:solidFill>
                  <a:schemeClr val="lt2"/>
                </a:solidFill>
              </a:rPr>
              <a:t>def</a:t>
            </a:r>
            <a:r>
              <a:rPr lang="es-419" sz="1700" i="1" dirty="0">
                <a:solidFill>
                  <a:schemeClr val="lt2"/>
                </a:solidFill>
              </a:rPr>
              <a:t> </a:t>
            </a:r>
            <a:r>
              <a:rPr lang="es-419" sz="1700" dirty="0" err="1"/>
              <a:t>eliminarEstudiante</a:t>
            </a:r>
            <a:r>
              <a:rPr lang="es-419" sz="1700" dirty="0"/>
              <a:t>(curso, </a:t>
            </a:r>
            <a:r>
              <a:rPr lang="es-419" sz="1700" dirty="0" err="1"/>
              <a:t>est</a:t>
            </a:r>
            <a:r>
              <a:rPr lang="es-419" sz="1700" dirty="0"/>
              <a:t>):</a:t>
            </a:r>
            <a:br>
              <a:rPr lang="es-419" sz="1700" dirty="0"/>
            </a:br>
            <a:r>
              <a:rPr lang="es-419" sz="1700" dirty="0"/>
              <a:t>	#elimina un estudiante del curso</a:t>
            </a:r>
            <a:br>
              <a:rPr lang="es-419" sz="1700" dirty="0"/>
            </a:br>
            <a:r>
              <a:rPr lang="es-419" sz="1700" dirty="0"/>
              <a:t>	</a:t>
            </a:r>
            <a:r>
              <a:rPr lang="es-419" sz="1700" dirty="0" err="1"/>
              <a:t>curso.remove</a:t>
            </a:r>
            <a:r>
              <a:rPr lang="es-419" sz="1700" dirty="0"/>
              <a:t>(</a:t>
            </a:r>
            <a:r>
              <a:rPr lang="es-419" sz="1700" dirty="0" err="1"/>
              <a:t>est</a:t>
            </a:r>
            <a:r>
              <a:rPr lang="es-419" sz="1700" dirty="0"/>
              <a:t>)</a:t>
            </a:r>
            <a:endParaRPr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TAD Compuesto - Métodos</a:t>
            </a:r>
            <a:endParaRPr/>
          </a:p>
        </p:txBody>
      </p:sp>
      <p:sp>
        <p:nvSpPr>
          <p:cNvPr id="246" name="Google Shape;246;p20"/>
          <p:cNvSpPr txBox="1">
            <a:spLocks noGrp="1"/>
          </p:cNvSpPr>
          <p:nvPr>
            <p:ph type="body" idx="1"/>
          </p:nvPr>
        </p:nvSpPr>
        <p:spPr>
          <a:xfrm>
            <a:off x="1083900" y="1043325"/>
            <a:ext cx="6976200" cy="219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i="1">
                <a:solidFill>
                  <a:schemeClr val="lt2"/>
                </a:solidFill>
              </a:rPr>
              <a:t>def </a:t>
            </a:r>
            <a:r>
              <a:rPr lang="es-419" sz="1700"/>
              <a:t>recuperarEstudiante(curso, i):</a:t>
            </a:r>
            <a:br>
              <a:rPr lang="es-419" sz="1700"/>
            </a:br>
            <a:r>
              <a:rPr lang="es-419" sz="1700"/>
              <a:t>	#recupera el iesimo estudiante del curso</a:t>
            </a:r>
            <a:br>
              <a:rPr lang="es-419" sz="1700"/>
            </a:br>
            <a:r>
              <a:rPr lang="es-419" sz="1700"/>
              <a:t>	</a:t>
            </a:r>
            <a:r>
              <a:rPr lang="es-419" sz="1700" i="1">
                <a:solidFill>
                  <a:schemeClr val="lt2"/>
                </a:solidFill>
              </a:rPr>
              <a:t>return </a:t>
            </a:r>
            <a:r>
              <a:rPr lang="es-419" sz="1700"/>
              <a:t>curso[i-1]</a:t>
            </a:r>
            <a:endParaRPr sz="1700"/>
          </a:p>
          <a:p>
            <a:pPr marL="0" lvl="0" indent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1700" i="1">
                <a:solidFill>
                  <a:schemeClr val="lt2"/>
                </a:solidFill>
              </a:rPr>
              <a:t>def </a:t>
            </a:r>
            <a:r>
              <a:rPr lang="es-419" sz="1700"/>
              <a:t>tamanio(curso):</a:t>
            </a:r>
            <a:br>
              <a:rPr lang="es-419" sz="1700"/>
            </a:br>
            <a:r>
              <a:rPr lang="es-419" sz="1700"/>
              <a:t>	#retorna la cantidad de estudiantes del curso</a:t>
            </a:r>
            <a:br>
              <a:rPr lang="es-419" sz="1700"/>
            </a:br>
            <a:r>
              <a:rPr lang="es-419" sz="1700"/>
              <a:t>	</a:t>
            </a:r>
            <a:r>
              <a:rPr lang="es-419" sz="1700" i="1">
                <a:solidFill>
                  <a:schemeClr val="lt2"/>
                </a:solidFill>
              </a:rPr>
              <a:t>return </a:t>
            </a:r>
            <a:r>
              <a:rPr lang="es-419" sz="1700"/>
              <a:t>len(curso)</a:t>
            </a:r>
            <a:endParaRPr sz="1700"/>
          </a:p>
        </p:txBody>
      </p:sp>
      <p:sp>
        <p:nvSpPr>
          <p:cNvPr id="247" name="Google Shape;247;p20"/>
          <p:cNvSpPr txBox="1">
            <a:spLocks noGrp="1"/>
          </p:cNvSpPr>
          <p:nvPr>
            <p:ph type="body" idx="1"/>
          </p:nvPr>
        </p:nvSpPr>
        <p:spPr>
          <a:xfrm>
            <a:off x="2135250" y="4036700"/>
            <a:ext cx="4873500" cy="390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700" i="1">
                <a:solidFill>
                  <a:schemeClr val="accent2"/>
                </a:solidFill>
              </a:rPr>
              <a:t>Al recuperar un estudiante ¿Por qué usamos i-1?</a:t>
            </a:r>
            <a:endParaRPr sz="17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"/>
          <p:cNvSpPr txBox="1">
            <a:spLocks noGrp="1"/>
          </p:cNvSpPr>
          <p:nvPr>
            <p:ph type="title"/>
          </p:nvPr>
        </p:nvSpPr>
        <p:spPr>
          <a:xfrm>
            <a:off x="1297500" y="3321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TAD Pila - Implementación</a:t>
            </a:r>
            <a:endParaRPr dirty="0"/>
          </a:p>
        </p:txBody>
      </p:sp>
      <p:sp>
        <p:nvSpPr>
          <p:cNvPr id="253" name="Google Shape;253;p21"/>
          <p:cNvSpPr txBox="1"/>
          <p:nvPr/>
        </p:nvSpPr>
        <p:spPr>
          <a:xfrm>
            <a:off x="4734499" y="1232700"/>
            <a:ext cx="4222213" cy="2554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def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desapilar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(pila):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#Retorna y elimina el último elemento </a:t>
            </a:r>
            <a:endParaRPr lang="es-419" dirty="0" smtClean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#</a:t>
            </a:r>
            <a:r>
              <a:rPr lang="es-419" dirty="0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 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 pila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 indent="457200"/>
            <a:r>
              <a:rPr lang="es-419" dirty="0" err="1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return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pila.pop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def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tamanio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(pila):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#Retorna la cantidad de elementos </a:t>
            </a:r>
            <a:endParaRPr lang="es-419" dirty="0" smtClean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#</a:t>
            </a:r>
            <a:r>
              <a:rPr lang="es-419" dirty="0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 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 </a:t>
            </a:r>
            <a:r>
              <a:rPr lang="es-419" dirty="0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pila</a:t>
            </a: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return</a:t>
            </a:r>
            <a:r>
              <a:rPr lang="es-419" dirty="0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len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(pila)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4" name="Google Shape;254;p21"/>
          <p:cNvSpPr txBox="1"/>
          <p:nvPr/>
        </p:nvSpPr>
        <p:spPr>
          <a:xfrm>
            <a:off x="1070299" y="1233155"/>
            <a:ext cx="5319483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def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crearPila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():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#Crea una pila </a:t>
            </a: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vacia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b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	pila=[]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return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pila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def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esVacia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(pila):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#Retorna Verdadero si la pila </a:t>
            </a:r>
            <a:endParaRPr lang="es-419" dirty="0" smtClean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#</a:t>
            </a:r>
            <a:r>
              <a:rPr lang="es-419" dirty="0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 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tiene elementos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return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len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(pila)==0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def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apilar(</a:t>
            </a: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pila,elem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):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#Agrega un elemento al final </a:t>
            </a:r>
            <a:endParaRPr lang="es-419" dirty="0" smtClean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#</a:t>
            </a:r>
            <a:r>
              <a:rPr lang="es-419" dirty="0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 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 </a:t>
            </a:r>
            <a:r>
              <a:rPr lang="es-419" dirty="0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pila</a:t>
            </a: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pila.append</a:t>
            </a:r>
            <a:r>
              <a:rPr lang="es-419" dirty="0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s-419" dirty="0" err="1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elem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   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def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copiarPila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(pila1,pila2):</a:t>
            </a:r>
            <a:endParaRPr sz="14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#Copia los datos de </a:t>
            </a:r>
            <a:r>
              <a:rPr lang="es-419" sz="1400" dirty="0" smtClean="0">
                <a:latin typeface="Montserrat"/>
                <a:ea typeface="Montserrat"/>
                <a:cs typeface="Montserrat"/>
                <a:sym typeface="Montserrat"/>
              </a:rPr>
              <a:t>la pila2 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lang="es-419" sz="1400" dirty="0" smtClean="0">
                <a:latin typeface="Montserrat"/>
                <a:ea typeface="Montserrat"/>
                <a:cs typeface="Montserrat"/>
                <a:sym typeface="Montserrat"/>
              </a:rPr>
              <a:t>la pila1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/>
            </a:r>
            <a:b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aux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=</a:t>
            </a: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crearPila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()</a:t>
            </a:r>
            <a:endParaRPr sz="14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while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not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esVacia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(pila2):</a:t>
            </a:r>
            <a:endParaRPr sz="14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elem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=</a:t>
            </a: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desapilar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(pila2)</a:t>
            </a:r>
            <a:endParaRPr sz="14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	apilar(</a:t>
            </a: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aux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elem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4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while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not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esVacia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aux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):</a:t>
            </a:r>
            <a:endParaRPr sz="14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elem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=</a:t>
            </a: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desapilar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aux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4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	apilar(pila1,elem)</a:t>
            </a:r>
            <a:endParaRPr sz="14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	apilar(pila2,elem)</a:t>
            </a:r>
            <a:endParaRPr sz="14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22"/>
          <p:cNvSpPr txBox="1">
            <a:spLocks noGrp="1"/>
          </p:cNvSpPr>
          <p:nvPr>
            <p:ph type="title"/>
          </p:nvPr>
        </p:nvSpPr>
        <p:spPr>
          <a:xfrm>
            <a:off x="1297500" y="3321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TAD Pila - Implementación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3"/>
          <p:cNvSpPr txBox="1">
            <a:spLocks noGrp="1"/>
          </p:cNvSpPr>
          <p:nvPr>
            <p:ph type="title"/>
          </p:nvPr>
        </p:nvSpPr>
        <p:spPr>
          <a:xfrm>
            <a:off x="1297500" y="3321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TAD Cola - Implementación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121186" y="1340748"/>
            <a:ext cx="4613314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def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crearCola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():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#Crea una cola </a:t>
            </a:r>
            <a:r>
              <a:rPr lang="es-419" dirty="0" err="1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vacia</a:t>
            </a:r>
            <a:endParaRPr lang="es-419" dirty="0" smtClean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cola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=[]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return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cola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def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esVacia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(cola):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#Retorna Verdadero si la cola </a:t>
            </a:r>
            <a:endParaRPr lang="es-419" dirty="0" smtClean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#</a:t>
            </a:r>
            <a:r>
              <a:rPr lang="es-419" dirty="0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 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tiene elementos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return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len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(cola)==0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def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encolar(cola, </a:t>
            </a: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elem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):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#Agrega un elemento al final de la cola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cola.append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elem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23"/>
          <p:cNvSpPr txBox="1"/>
          <p:nvPr/>
        </p:nvSpPr>
        <p:spPr>
          <a:xfrm>
            <a:off x="4492126" y="1246250"/>
            <a:ext cx="4850171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def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desencolar(cola):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45720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#Retorna y elimina el primer elemento </a:t>
            </a:r>
            <a:endParaRPr lang="es-419" dirty="0" smtClean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45720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#</a:t>
            </a:r>
            <a:r>
              <a:rPr lang="es-419" dirty="0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 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 cola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/>
            <a:r>
              <a:rPr lang="es-419" dirty="0" err="1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return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cola.pop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(0</a:t>
            </a:r>
            <a:r>
              <a:rPr lang="es-419" dirty="0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def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tamanio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(cola):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45720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#Retorna la cantidad de </a:t>
            </a:r>
            <a:r>
              <a:rPr lang="es-419" dirty="0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elementos</a:t>
            </a:r>
          </a:p>
          <a:p>
            <a:pPr marL="0" lvl="0" indent="45720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#de 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 cola</a:t>
            </a:r>
            <a:endParaRPr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45720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return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len</a:t>
            </a:r>
            <a:r>
              <a:rPr lang="es-419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(cola)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def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copiarCola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(cola1,cola2):</a:t>
            </a:r>
            <a:endParaRPr sz="14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#Copia los datos </a:t>
            </a:r>
            <a:r>
              <a:rPr lang="es-419" sz="1400" dirty="0" smtClean="0">
                <a:latin typeface="Montserrat"/>
                <a:ea typeface="Montserrat"/>
                <a:cs typeface="Montserrat"/>
                <a:sym typeface="Montserrat"/>
              </a:rPr>
              <a:t>de la cola2 a la cola1</a:t>
            </a:r>
            <a:endParaRPr sz="14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aux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=</a:t>
            </a: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crearCola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() </a:t>
            </a:r>
            <a:endParaRPr sz="14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while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not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esVacia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(cola2):</a:t>
            </a:r>
            <a:endParaRPr sz="14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elem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=desencolar(cola2)</a:t>
            </a:r>
            <a:endParaRPr sz="14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encolar(</a:t>
            </a: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aux,elem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) </a:t>
            </a:r>
            <a:endParaRPr sz="14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while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not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esVacia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aux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):</a:t>
            </a:r>
            <a:endParaRPr sz="14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elem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=desencolar(</a:t>
            </a:r>
            <a:r>
              <a:rPr lang="es-419" sz="1400" dirty="0" err="1">
                <a:latin typeface="Montserrat"/>
                <a:ea typeface="Montserrat"/>
                <a:cs typeface="Montserrat"/>
                <a:sym typeface="Montserrat"/>
              </a:rPr>
              <a:t>aux</a:t>
            </a: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4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encolar(cola1,elem)</a:t>
            </a:r>
            <a:endParaRPr sz="14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latin typeface="Montserrat"/>
                <a:ea typeface="Montserrat"/>
                <a:cs typeface="Montserrat"/>
                <a:sym typeface="Montserrat"/>
              </a:rPr>
              <a:t>encolar(cola2,elem) </a:t>
            </a:r>
            <a:endParaRPr sz="14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24"/>
          <p:cNvSpPr txBox="1">
            <a:spLocks noGrp="1"/>
          </p:cNvSpPr>
          <p:nvPr>
            <p:ph type="title"/>
          </p:nvPr>
        </p:nvSpPr>
        <p:spPr>
          <a:xfrm>
            <a:off x="1297500" y="3321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TAD Cola - Implementación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10214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 smtClean="0">
                <a:latin typeface="Montserrat"/>
                <a:ea typeface="Montserrat"/>
                <a:cs typeface="Montserrat"/>
                <a:sym typeface="Montserrat"/>
              </a:rPr>
              <a:t>#Armado de grupos</a:t>
            </a:r>
            <a:endParaRPr sz="28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24"/>
          <p:cNvSpPr txBox="1">
            <a:spLocks noGrp="1"/>
          </p:cNvSpPr>
          <p:nvPr>
            <p:ph type="title"/>
          </p:nvPr>
        </p:nvSpPr>
        <p:spPr>
          <a:xfrm>
            <a:off x="1297500" y="3321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smtClean="0"/>
              <a:t>Trabajo Practico de TAD Grupal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8341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smtClean="0"/>
              <a:t>Practicando – Ejercicio 1</a:t>
            </a:r>
            <a:endParaRPr dirty="0"/>
          </a:p>
        </p:txBody>
      </p:sp>
      <p:sp>
        <p:nvSpPr>
          <p:cNvPr id="279" name="Google Shape;279;p25"/>
          <p:cNvSpPr txBox="1">
            <a:spLocks noGrp="1"/>
          </p:cNvSpPr>
          <p:nvPr>
            <p:ph type="body" idx="1"/>
          </p:nvPr>
        </p:nvSpPr>
        <p:spPr>
          <a:xfrm>
            <a:off x="892372" y="1038734"/>
            <a:ext cx="838383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>
              <a:buNone/>
            </a:pPr>
            <a:r>
              <a:rPr lang="es-AR" sz="1800" dirty="0"/>
              <a:t>Desarrollar una aplicación para una Librería, que permita tener las siguientes funcionalidades</a:t>
            </a:r>
            <a:r>
              <a:rPr lang="es-AR" sz="1800" dirty="0" smtClean="0"/>
              <a:t>:</a:t>
            </a:r>
          </a:p>
          <a:p>
            <a:pPr marL="146050" indent="0">
              <a:buNone/>
            </a:pPr>
            <a:endParaRPr lang="es-AR" sz="1800" dirty="0"/>
          </a:p>
          <a:p>
            <a:pPr lvl="0"/>
            <a:r>
              <a:rPr lang="es-AR" sz="1800" dirty="0"/>
              <a:t>Cargar libros a la librería</a:t>
            </a:r>
          </a:p>
          <a:p>
            <a:pPr lvl="0"/>
            <a:r>
              <a:rPr lang="es-AR" sz="1800" dirty="0"/>
              <a:t>Imprimir Nombre y autor de los libros de una editorial dada.</a:t>
            </a:r>
          </a:p>
          <a:p>
            <a:pPr lvl="0"/>
            <a:r>
              <a:rPr lang="es-AR" sz="1800" dirty="0"/>
              <a:t>Eliminar el libro “Calculo </a:t>
            </a:r>
            <a:r>
              <a:rPr lang="es-AR" sz="1800" dirty="0" err="1"/>
              <a:t>Numerico</a:t>
            </a:r>
            <a:r>
              <a:rPr lang="es-AR" sz="1800" dirty="0"/>
              <a:t>”, y mostrar los que quedan en la librería</a:t>
            </a:r>
          </a:p>
          <a:p>
            <a:pPr lvl="0"/>
            <a:r>
              <a:rPr lang="es-AR" sz="1800" dirty="0"/>
              <a:t>Modificar el precio del libro “El principito”, mostrar todos los datos del mismo</a:t>
            </a:r>
          </a:p>
          <a:p>
            <a:pPr lvl="0"/>
            <a:r>
              <a:rPr lang="es-AR" sz="1800" dirty="0"/>
              <a:t>Incrementar el precio en un 15 % de los libros de una editorial dada</a:t>
            </a:r>
          </a:p>
          <a:p>
            <a:pPr marL="146050" indent="0">
              <a:buNone/>
            </a:pPr>
            <a:endParaRPr lang="es-AR" sz="1800" dirty="0" smtClean="0"/>
          </a:p>
          <a:p>
            <a:pPr marL="146050" indent="0">
              <a:buNone/>
            </a:pPr>
            <a:r>
              <a:rPr lang="es-AR" sz="1800" dirty="0" smtClean="0"/>
              <a:t>Los </a:t>
            </a:r>
            <a:r>
              <a:rPr lang="es-AR" sz="1800" dirty="0"/>
              <a:t>libros cuentan con los siguientes datos: </a:t>
            </a:r>
            <a:r>
              <a:rPr lang="es-AR" sz="1800" i="1" dirty="0"/>
              <a:t>nombre, autor, editorial, precio</a:t>
            </a:r>
          </a:p>
          <a:p>
            <a:pPr marL="146050" indent="0">
              <a:buNone/>
            </a:pPr>
            <a:endParaRPr lang="es-AR" sz="1800" dirty="0" smtClean="0"/>
          </a:p>
          <a:p>
            <a:pPr marL="146050" indent="0">
              <a:buNone/>
            </a:pPr>
            <a:r>
              <a:rPr lang="es-AR" sz="1800" dirty="0" smtClean="0"/>
              <a:t>Desarrollar </a:t>
            </a:r>
            <a:r>
              <a:rPr lang="es-AR" sz="1800" dirty="0"/>
              <a:t>(especificación/implementación) de los </a:t>
            </a:r>
            <a:r>
              <a:rPr lang="es-AR" sz="1800" dirty="0" err="1"/>
              <a:t>TADs</a:t>
            </a:r>
            <a:r>
              <a:rPr lang="es-AR" sz="1800" dirty="0"/>
              <a:t> necesarios</a:t>
            </a:r>
          </a:p>
          <a:p>
            <a:pPr marL="0" lvl="0" indent="0" algn="just" rtl="0">
              <a:spcBef>
                <a:spcPts val="160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just" rtl="0">
              <a:spcBef>
                <a:spcPts val="1600"/>
              </a:spcBef>
              <a:spcAft>
                <a:spcPts val="1600"/>
              </a:spcAft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smtClean="0"/>
              <a:t>Practicando – Ejercicio 2</a:t>
            </a:r>
            <a:endParaRPr dirty="0"/>
          </a:p>
        </p:txBody>
      </p:sp>
      <p:sp>
        <p:nvSpPr>
          <p:cNvPr id="279" name="Google Shape;279;p2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/>
              <a:t># Los docentes del curso de Sintaxis y Semántica del Lenguaje requieren de un software que permita gestionar sus estudiantes. De los mismos se conoce nombre, apellido, legajo, correo y nota final. También se debe poder registrar los examenes de los cuales se conoce el tipo (teórico/práctico), el legajo de la persona que lo rindió y la calificación. El software debe permitir:</a:t>
            </a:r>
            <a:endParaRPr sz="2000"/>
          </a:p>
          <a:p>
            <a:pPr marL="0" lvl="0" indent="0" algn="just" rtl="0">
              <a:spcBef>
                <a:spcPts val="160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just" rtl="0">
              <a:spcBef>
                <a:spcPts val="1600"/>
              </a:spcBef>
              <a:spcAft>
                <a:spcPts val="1600"/>
              </a:spcAft>
              <a:buNone/>
            </a:pP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2961807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419" dirty="0"/>
              <a:t>Practicando – Ejercicio 2</a:t>
            </a:r>
            <a:endParaRPr dirty="0"/>
          </a:p>
        </p:txBody>
      </p:sp>
      <p:sp>
        <p:nvSpPr>
          <p:cNvPr id="285" name="Google Shape;285;p26"/>
          <p:cNvSpPr txBox="1">
            <a:spLocks noGrp="1"/>
          </p:cNvSpPr>
          <p:nvPr>
            <p:ph type="body" idx="1"/>
          </p:nvPr>
        </p:nvSpPr>
        <p:spPr>
          <a:xfrm>
            <a:off x="1297500" y="11161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/>
              <a:t># a) Dar de alta estudiantes y matricularlos al curso. (-- La nota final no debe ser cargada al crear el estudiante)</a:t>
            </a:r>
            <a:endParaRPr sz="2000"/>
          </a:p>
          <a:p>
            <a:pPr marL="0" lvl="0" indent="0" algn="just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2000"/>
              <a:t># b) Modificar un estudiante.</a:t>
            </a:r>
            <a:endParaRPr sz="2000"/>
          </a:p>
          <a:p>
            <a:pPr marL="0" lvl="0" indent="0" algn="just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2000"/>
              <a:t># c) Eliminar un estudiante.</a:t>
            </a:r>
            <a:endParaRPr sz="2000"/>
          </a:p>
          <a:p>
            <a:pPr marL="0" lvl="0" indent="0" algn="just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2000"/>
              <a:t># d) Cambiar la nota de todos los estudiantes a 0.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4011439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419" dirty="0"/>
              <a:t>Practicando – Ejercicio 2</a:t>
            </a:r>
            <a:endParaRPr dirty="0"/>
          </a:p>
        </p:txBody>
      </p:sp>
      <p:sp>
        <p:nvSpPr>
          <p:cNvPr id="291" name="Google Shape;291;p27"/>
          <p:cNvSpPr txBox="1">
            <a:spLocks noGrp="1"/>
          </p:cNvSpPr>
          <p:nvPr>
            <p:ph type="body" idx="1"/>
          </p:nvPr>
        </p:nvSpPr>
        <p:spPr>
          <a:xfrm>
            <a:off x="1297500" y="11161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/>
              <a:t> # e) Generar una cola de estudiantes para rendir coloquio TEÓRICO. A medida que vayan rindiendo se debe registrar la nota alcanzada.</a:t>
            </a:r>
            <a:endParaRPr sz="2000"/>
          </a:p>
          <a:p>
            <a:pPr marL="0" lvl="0" indent="0" algn="just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2000"/>
              <a:t># f) Generar una pila de exámenes PRÁCTICOS que el docente (usuario del software) corregirá. A medida que los corrija, quedará registrada la nota del examen y se desapilará.</a:t>
            </a:r>
            <a:endParaRPr sz="2000"/>
          </a:p>
          <a:p>
            <a:pPr marL="0" lvl="0" indent="0" algn="just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2000"/>
              <a:t># g) Calcular la nota final de todos los estudiantes promediando la calificación alcanzada en ambos exámenes (Teórico y práctico).</a:t>
            </a:r>
            <a:endParaRPr sz="20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2116587566"/>
      </p:ext>
    </p:extLst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25692</TotalTime>
  <Words>733</Words>
  <Application>Microsoft Office PowerPoint</Application>
  <PresentationFormat>Presentación en pantalla (16:9)</PresentationFormat>
  <Paragraphs>132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Montserrat</vt:lpstr>
      <vt:lpstr>Lato</vt:lpstr>
      <vt:lpstr>Focus</vt:lpstr>
      <vt:lpstr>Presentación de PowerPoint</vt:lpstr>
      <vt:lpstr>Contenidos</vt:lpstr>
      <vt:lpstr>TAD Compuesto - Ejercicio</vt:lpstr>
      <vt:lpstr>TAD Compuesto - Implementación</vt:lpstr>
      <vt:lpstr>TAD Compuesto - Métodos</vt:lpstr>
      <vt:lpstr>TAD Pila - Implementación</vt:lpstr>
      <vt:lpstr>TAD Pila - Implementación</vt:lpstr>
      <vt:lpstr>TAD Cola - Implementación</vt:lpstr>
      <vt:lpstr>TAD Cola - Implementación</vt:lpstr>
      <vt:lpstr>Trabajo Practico de TAD Grupal</vt:lpstr>
      <vt:lpstr>Practicando – Ejercicio 1</vt:lpstr>
      <vt:lpstr>Practicando – Ejercicio 2</vt:lpstr>
      <vt:lpstr>Practicando – Ejercicio 2</vt:lpstr>
      <vt:lpstr>Practicando – Ejercicio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Paternoster, Felix</cp:lastModifiedBy>
  <cp:revision>6</cp:revision>
  <dcterms:modified xsi:type="dcterms:W3CDTF">2026-04-24T15:01:51Z</dcterms:modified>
</cp:coreProperties>
</file>