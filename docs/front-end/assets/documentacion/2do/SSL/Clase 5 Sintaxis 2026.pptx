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Montserrat"/>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043321-C9A5-49E0-96BC-C57357251794}">
  <a:tblStyle styleId="{19043321-C9A5-49E0-96BC-C5735725179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Montserrat-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Lato-regular.fntdata"/><Relationship Id="rId27" Type="http://schemas.openxmlformats.org/officeDocument/2006/relationships/font" Target="fonts/Montserrat-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4QrmtyLLQGk7iHtUE9yq1a7R1bRUzaLNi5h0e5PtePg/edit#gid=561351730"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4QrmtyLLQGk7iHtUE9yq1a7R1bRUzaLNi5h0e5PtePg/edit#gid=561351730"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f87997393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f87997393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f7f49b1a7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f7f49b1a7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ff4522174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ff4522174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ff4522174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ff4522174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ff4522174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ff4522174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ff45221741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ff45221741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ff45221741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ff45221741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ff45221741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ff4522174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ff45221741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ff45221741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ff45221741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ff45221741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ff45221741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ff45221741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ff4522174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ff4522174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ff45221741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ff45221741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ff45221741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ff45221741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Solución en: </a:t>
            </a:r>
            <a:r>
              <a:rPr lang="es-419" u="sng">
                <a:solidFill>
                  <a:schemeClr val="hlink"/>
                </a:solidFill>
                <a:hlinkClick r:id="rId2"/>
              </a:rPr>
              <a:t>https://docs.google.com/spreadsheets/d/14QrmtyLLQGk7iHtUE9yq1a7R1bRUzaLNi5h0e5PtePg/edit#gid=561351730</a:t>
            </a:r>
            <a:r>
              <a:rPr lang="es-419"/>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ff45221741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ff45221741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Solución en: </a:t>
            </a:r>
            <a:r>
              <a:rPr lang="es-419" u="sng">
                <a:solidFill>
                  <a:schemeClr val="hlink"/>
                </a:solidFill>
                <a:hlinkClick r:id="rId2"/>
              </a:rPr>
              <a:t>https://docs.google.com/spreadsheets/d/14QrmtyLLQGk7iHtUE9yq1a7R1bRUzaLNi5h0e5PtePg/edit#gid=561351730</a:t>
            </a:r>
            <a:r>
              <a:rPr lang="es-419"/>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f7f49b1a7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f7f49b1a7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descr="offset_comp_406605.jpg" id="10" name="Google Shape;10;p2"/>
          <p:cNvPicPr preferRelativeResize="0"/>
          <p:nvPr/>
        </p:nvPicPr>
        <p:blipFill rotWithShape="1">
          <a:blip r:embed="rId2">
            <a:alphaModFix amt="66000"/>
          </a:blip>
          <a:srcRect b="39565" l="20991" r="40112" t="2690"/>
          <a:stretch/>
        </p:blipFill>
        <p:spPr>
          <a:xfrm>
            <a:off x="0" y="0"/>
            <a:ext cx="5157900" cy="5143500"/>
          </a:xfrm>
          <a:prstGeom prst="rtTriangle">
            <a:avLst/>
          </a:prstGeom>
          <a:noFill/>
          <a:ln>
            <a:noFill/>
          </a:ln>
        </p:spPr>
      </p:pic>
      <p:pic>
        <p:nvPicPr>
          <p:cNvPr descr="offset_comp_342327_edtied.jpg" id="11" name="Google Shape;11;p2"/>
          <p:cNvPicPr preferRelativeResize="0"/>
          <p:nvPr/>
        </p:nvPicPr>
        <p:blipFill rotWithShape="1">
          <a:blip r:embed="rId3">
            <a:alphaModFix amt="31000"/>
          </a:blip>
          <a:srcRect b="11297" l="14009" r="43289" t="35833"/>
          <a:stretch/>
        </p:blipFill>
        <p:spPr>
          <a:xfrm rot="10800000">
            <a:off x="6976800" y="-25"/>
            <a:ext cx="2167200" cy="2012700"/>
          </a:xfrm>
          <a:prstGeom prst="rtTriangle">
            <a:avLst/>
          </a:prstGeom>
          <a:noFill/>
          <a:ln>
            <a:noFill/>
          </a:ln>
        </p:spPr>
      </p:pic>
      <p:sp>
        <p:nvSpPr>
          <p:cNvPr id="12" name="Google Shape;12;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15" name="Google Shape;15;p2"/>
          <p:cNvSpPr/>
          <p:nvPr/>
        </p:nvSpPr>
        <p:spPr>
          <a:xfrm rot="-5400000">
            <a:off x="5846" y="-4836"/>
            <a:ext cx="22914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a:off x="652821" y="576768"/>
            <a:ext cx="2300100" cy="22914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39" name="Google Shape;39;p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43"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
        <p:nvSpPr>
          <p:cNvPr id="64" name="Google Shape;64;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5">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5" name="Google Shape;7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76" name="Shape 76"/>
        <p:cNvGrpSpPr/>
        <p:nvPr/>
      </p:nvGrpSpPr>
      <p:grpSpPr>
        <a:xfrm>
          <a:off x="0" y="0"/>
          <a:ext cx="0" cy="0"/>
          <a:chOff x="0" y="0"/>
          <a:chExt cx="0" cy="0"/>
        </a:xfrm>
      </p:grpSpPr>
      <p:sp>
        <p:nvSpPr>
          <p:cNvPr id="77" name="Google Shape;77;p6"/>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8" name="Google Shape;78;p6"/>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
        <p:nvSpPr>
          <p:cNvPr id="80" name="Google Shape;80;p6">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6"/>
          <p:cNvGrpSpPr/>
          <p:nvPr/>
        </p:nvGrpSpPr>
        <p:grpSpPr>
          <a:xfrm>
            <a:off x="0" y="381001"/>
            <a:ext cx="1037850" cy="1016287"/>
            <a:chOff x="0" y="381001"/>
            <a:chExt cx="1037850" cy="1016287"/>
          </a:xfrm>
        </p:grpSpPr>
        <p:sp>
          <p:nvSpPr>
            <p:cNvPr id="85" name="Google Shape;85;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6"/>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88" name="Google Shape;8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89" name="Shape 89"/>
        <p:cNvGrpSpPr/>
        <p:nvPr/>
      </p:nvGrpSpPr>
      <p:grpSpPr>
        <a:xfrm>
          <a:off x="0" y="0"/>
          <a:ext cx="0" cy="0"/>
          <a:chOff x="0" y="0"/>
          <a:chExt cx="0" cy="0"/>
        </a:xfrm>
      </p:grpSpPr>
      <p:sp>
        <p:nvSpPr>
          <p:cNvPr id="90" name="Google Shape;90;p7"/>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1" name="Google Shape;91;p7"/>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7"/>
          <p:cNvGrpSpPr/>
          <p:nvPr/>
        </p:nvGrpSpPr>
        <p:grpSpPr>
          <a:xfrm>
            <a:off x="0" y="381001"/>
            <a:ext cx="1037850" cy="1016287"/>
            <a:chOff x="0" y="381001"/>
            <a:chExt cx="1037850" cy="1016287"/>
          </a:xfrm>
        </p:grpSpPr>
        <p:sp>
          <p:nvSpPr>
            <p:cNvPr id="97" name="Google Shape;97;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7"/>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100" name="Google Shape;10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
        <p:nvSpPr>
          <p:cNvPr id="101" name="Google Shape;101;p7"/>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 name="Shape 102"/>
        <p:cNvGrpSpPr/>
        <p:nvPr/>
      </p:nvGrpSpPr>
      <p:grpSpPr>
        <a:xfrm>
          <a:off x="0" y="0"/>
          <a:ext cx="0" cy="0"/>
          <a:chOff x="0" y="0"/>
          <a:chExt cx="0" cy="0"/>
        </a:xfrm>
      </p:grpSpPr>
      <p:sp>
        <p:nvSpPr>
          <p:cNvPr id="103" name="Google Shape;103;p8">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1" name="Google Shape;111;p8"/>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2" name="Google Shape;112;p8"/>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3" name="Google Shape;11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9">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9"/>
          <p:cNvGrpSpPr/>
          <p:nvPr/>
        </p:nvGrpSpPr>
        <p:grpSpPr>
          <a:xfrm>
            <a:off x="0" y="381001"/>
            <a:ext cx="1037850" cy="1016287"/>
            <a:chOff x="0" y="381001"/>
            <a:chExt cx="1037850" cy="1016287"/>
          </a:xfrm>
        </p:grpSpPr>
        <p:sp>
          <p:nvSpPr>
            <p:cNvPr id="120" name="Google Shape;120;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3" name="Google Shape;12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0">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10"/>
          <p:cNvGrpSpPr/>
          <p:nvPr/>
        </p:nvGrpSpPr>
        <p:grpSpPr>
          <a:xfrm>
            <a:off x="0" y="381001"/>
            <a:ext cx="1037850" cy="1016287"/>
            <a:chOff x="0" y="381001"/>
            <a:chExt cx="1037850" cy="1016287"/>
          </a:xfrm>
        </p:grpSpPr>
        <p:sp>
          <p:nvSpPr>
            <p:cNvPr id="130" name="Google Shape;130;p1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0"/>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3" name="Google Shape;133;p10"/>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5" name="Shape 135"/>
        <p:cNvGrpSpPr/>
        <p:nvPr/>
      </p:nvGrpSpPr>
      <p:grpSpPr>
        <a:xfrm>
          <a:off x="0" y="0"/>
          <a:ext cx="0" cy="0"/>
          <a:chOff x="0" y="0"/>
          <a:chExt cx="0" cy="0"/>
        </a:xfrm>
      </p:grpSpPr>
      <p:sp>
        <p:nvSpPr>
          <p:cNvPr id="136" name="Google Shape;136;p11">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11"/>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0" name="Google Shape;16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1" name="Shape 161"/>
        <p:cNvGrpSpPr/>
        <p:nvPr/>
      </p:nvGrpSpPr>
      <p:grpSpPr>
        <a:xfrm>
          <a:off x="0" y="0"/>
          <a:ext cx="0" cy="0"/>
          <a:chOff x="0" y="0"/>
          <a:chExt cx="0" cy="0"/>
        </a:xfrm>
      </p:grpSpPr>
      <p:sp>
        <p:nvSpPr>
          <p:cNvPr id="162" name="Google Shape;162;p12">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2">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12"/>
          <p:cNvGrpSpPr/>
          <p:nvPr/>
        </p:nvGrpSpPr>
        <p:grpSpPr>
          <a:xfrm>
            <a:off x="0" y="381001"/>
            <a:ext cx="1037850" cy="1016287"/>
            <a:chOff x="0" y="381001"/>
            <a:chExt cx="1037850" cy="1016287"/>
          </a:xfrm>
        </p:grpSpPr>
        <p:sp>
          <p:nvSpPr>
            <p:cNvPr id="167" name="Google Shape;167;p1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12"/>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0" name="Google Shape;170;p12"/>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71" name="Google Shape;171;p12"/>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2" name="Google Shape;17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13"/>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78" name="Google Shape;17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179" name="Google Shape;179;p1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14"/>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5" name="Google Shape;20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206" name="Google Shape;206;p14">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0" name="Shape 210"/>
        <p:cNvGrpSpPr/>
        <p:nvPr/>
      </p:nvGrpSpPr>
      <p:grpSpPr>
        <a:xfrm>
          <a:off x="0" y="0"/>
          <a:ext cx="0" cy="0"/>
          <a:chOff x="0" y="0"/>
          <a:chExt cx="0" cy="0"/>
        </a:xfrm>
      </p:grpSpPr>
      <p:sp>
        <p:nvSpPr>
          <p:cNvPr id="211" name="Google Shape;21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212" name="Shape 212"/>
        <p:cNvGrpSpPr/>
        <p:nvPr/>
      </p:nvGrpSpPr>
      <p:grpSpPr>
        <a:xfrm>
          <a:off x="0" y="0"/>
          <a:ext cx="0" cy="0"/>
          <a:chOff x="0" y="0"/>
          <a:chExt cx="0" cy="0"/>
        </a:xfrm>
      </p:grpSpPr>
      <p:pic>
        <p:nvPicPr>
          <p:cNvPr descr="offset_comp_343059.jpg" id="213" name="Google Shape;213;p16"/>
          <p:cNvPicPr preferRelativeResize="0"/>
          <p:nvPr/>
        </p:nvPicPr>
        <p:blipFill rotWithShape="1">
          <a:blip r:embed="rId2">
            <a:alphaModFix amt="80000"/>
          </a:blip>
          <a:srcRect b="25870" l="30474" r="30474" t="11955"/>
          <a:stretch/>
        </p:blipFill>
        <p:spPr>
          <a:xfrm rot="-5400000">
            <a:off x="113630" y="-105700"/>
            <a:ext cx="5142300" cy="5364300"/>
          </a:xfrm>
          <a:prstGeom prst="diagStripe">
            <a:avLst>
              <a:gd fmla="val 50343" name="adj"/>
            </a:avLst>
          </a:prstGeom>
          <a:noFill/>
          <a:ln>
            <a:noFill/>
          </a:ln>
        </p:spPr>
      </p:pic>
      <p:sp>
        <p:nvSpPr>
          <p:cNvPr id="214" name="Google Shape;214;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5" name="Google Shape;215;p16"/>
          <p:cNvSpPr txBox="1"/>
          <p:nvPr>
            <p:ph idx="1" type="body"/>
          </p:nvPr>
        </p:nvSpPr>
        <p:spPr>
          <a:xfrm>
            <a:off x="4018025" y="1567550"/>
            <a:ext cx="4318500" cy="17667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dk2"/>
              </a:buClr>
              <a:buSzPts val="1300"/>
              <a:buChar char="●"/>
              <a:defRPr>
                <a:solidFill>
                  <a:schemeClr val="dk2"/>
                </a:solidFill>
              </a:defRPr>
            </a:lvl1pPr>
            <a:lvl2pPr indent="-298450" lvl="1" marL="914400" rtl="0">
              <a:spcBef>
                <a:spcPts val="1600"/>
              </a:spcBef>
              <a:spcAft>
                <a:spcPts val="0"/>
              </a:spcAft>
              <a:buClr>
                <a:schemeClr val="dk2"/>
              </a:buClr>
              <a:buSzPts val="1100"/>
              <a:buChar char="○"/>
              <a:defRPr>
                <a:solidFill>
                  <a:schemeClr val="dk2"/>
                </a:solidFill>
              </a:defRPr>
            </a:lvl2pPr>
            <a:lvl3pPr indent="-298450" lvl="2" marL="1371600" rtl="0">
              <a:spcBef>
                <a:spcPts val="1600"/>
              </a:spcBef>
              <a:spcAft>
                <a:spcPts val="0"/>
              </a:spcAft>
              <a:buClr>
                <a:schemeClr val="dk2"/>
              </a:buClr>
              <a:buSzPts val="1100"/>
              <a:buChar char="■"/>
              <a:defRPr>
                <a:solidFill>
                  <a:schemeClr val="dk2"/>
                </a:solidFill>
              </a:defRPr>
            </a:lvl3pPr>
            <a:lvl4pPr indent="-298450" lvl="3" marL="1828800" rtl="0">
              <a:spcBef>
                <a:spcPts val="1600"/>
              </a:spcBef>
              <a:spcAft>
                <a:spcPts val="0"/>
              </a:spcAft>
              <a:buClr>
                <a:schemeClr val="dk2"/>
              </a:buClr>
              <a:buSzPts val="1100"/>
              <a:buChar char="●"/>
              <a:defRPr>
                <a:solidFill>
                  <a:schemeClr val="dk2"/>
                </a:solidFill>
              </a:defRPr>
            </a:lvl4pPr>
            <a:lvl5pPr indent="-298450" lvl="4" marL="2286000" rtl="0">
              <a:spcBef>
                <a:spcPts val="1600"/>
              </a:spcBef>
              <a:spcAft>
                <a:spcPts val="0"/>
              </a:spcAft>
              <a:buClr>
                <a:schemeClr val="dk2"/>
              </a:buClr>
              <a:buSzPts val="1100"/>
              <a:buChar char="○"/>
              <a:defRPr>
                <a:solidFill>
                  <a:schemeClr val="dk2"/>
                </a:solidFill>
              </a:defRPr>
            </a:lvl5pPr>
            <a:lvl6pPr indent="-298450" lvl="5" marL="2743200" rtl="0">
              <a:spcBef>
                <a:spcPts val="1600"/>
              </a:spcBef>
              <a:spcAft>
                <a:spcPts val="0"/>
              </a:spcAft>
              <a:buClr>
                <a:schemeClr val="dk2"/>
              </a:buClr>
              <a:buSzPts val="1100"/>
              <a:buChar char="■"/>
              <a:defRPr>
                <a:solidFill>
                  <a:schemeClr val="dk2"/>
                </a:solidFill>
              </a:defRPr>
            </a:lvl6pPr>
            <a:lvl7pPr indent="-298450" lvl="6" marL="3200400" rtl="0">
              <a:spcBef>
                <a:spcPts val="1600"/>
              </a:spcBef>
              <a:spcAft>
                <a:spcPts val="0"/>
              </a:spcAft>
              <a:buClr>
                <a:schemeClr val="dk2"/>
              </a:buClr>
              <a:buSzPts val="1100"/>
              <a:buChar char="●"/>
              <a:defRPr>
                <a:solidFill>
                  <a:schemeClr val="dk2"/>
                </a:solidFill>
              </a:defRPr>
            </a:lvl7pPr>
            <a:lvl8pPr indent="-298450" lvl="7" marL="3657600" rtl="0">
              <a:spcBef>
                <a:spcPts val="1600"/>
              </a:spcBef>
              <a:spcAft>
                <a:spcPts val="0"/>
              </a:spcAft>
              <a:buClr>
                <a:schemeClr val="dk2"/>
              </a:buClr>
              <a:buSzPts val="1100"/>
              <a:buChar char="○"/>
              <a:defRPr>
                <a:solidFill>
                  <a:schemeClr val="dk2"/>
                </a:solidFill>
              </a:defRPr>
            </a:lvl8pPr>
            <a:lvl9pPr indent="-298450" lvl="8" marL="4114800" rtl="0">
              <a:spcBef>
                <a:spcPts val="1600"/>
              </a:spcBef>
              <a:spcAft>
                <a:spcPts val="1600"/>
              </a:spcAft>
              <a:buClr>
                <a:schemeClr val="dk2"/>
              </a:buClr>
              <a:buSzPts val="1100"/>
              <a:buChar char="■"/>
              <a:defRPr>
                <a:solidFill>
                  <a:schemeClr val="dk2"/>
                </a:solidFill>
              </a:defRPr>
            </a:lvl9pPr>
          </a:lstStyle>
          <a:p/>
        </p:txBody>
      </p:sp>
      <p:sp>
        <p:nvSpPr>
          <p:cNvPr id="216" name="Google Shape;21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
        <p:nvSpPr>
          <p:cNvPr id="217" name="Google Shape;217;p16">
            <a:hlinkClick action="ppaction://hlinksldjump" r:id="rId3"/>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a:hlinkClick action="ppaction://hlinksldjump" r:id="rId4"/>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a:hlinkClick action="ppaction://hlinksldjump" r:id="rId5"/>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a:hlinkClick action="ppaction://hlinksldjump" r:id="rId6"/>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16"/>
          <p:cNvGrpSpPr/>
          <p:nvPr/>
        </p:nvGrpSpPr>
        <p:grpSpPr>
          <a:xfrm>
            <a:off x="0" y="381001"/>
            <a:ext cx="1037850" cy="1016287"/>
            <a:chOff x="0" y="381001"/>
            <a:chExt cx="1037850" cy="1016287"/>
          </a:xfrm>
        </p:grpSpPr>
        <p:sp>
          <p:nvSpPr>
            <p:cNvPr id="222" name="Google Shape;222;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0.jpg"/><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nvSpPr>
        <p:spPr>
          <a:xfrm>
            <a:off x="3055800" y="1578400"/>
            <a:ext cx="5499000" cy="15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4000">
                <a:solidFill>
                  <a:srgbClr val="FFFFFF"/>
                </a:solidFill>
                <a:latin typeface="Montserrat"/>
                <a:ea typeface="Montserrat"/>
                <a:cs typeface="Montserrat"/>
                <a:sym typeface="Montserrat"/>
              </a:rPr>
              <a:t>Sintaxis y Semántica del Lenguaje</a:t>
            </a:r>
            <a:endParaRPr sz="400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8"/>
          <p:cNvSpPr txBox="1"/>
          <p:nvPr>
            <p:ph type="title"/>
          </p:nvPr>
        </p:nvSpPr>
        <p:spPr>
          <a:xfrm>
            <a:off x="1297500" y="1132625"/>
            <a:ext cx="7038900" cy="4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Contenidos</a:t>
            </a:r>
            <a:endParaRPr/>
          </a:p>
        </p:txBody>
      </p:sp>
      <p:sp>
        <p:nvSpPr>
          <p:cNvPr id="234" name="Google Shape;234;p18"/>
          <p:cNvSpPr txBox="1"/>
          <p:nvPr/>
        </p:nvSpPr>
        <p:spPr>
          <a:xfrm>
            <a:off x="1294300" y="2064600"/>
            <a:ext cx="6366600" cy="20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rgbClr val="FFFFFF"/>
                </a:solidFill>
                <a:latin typeface="Montserrat"/>
                <a:ea typeface="Montserrat"/>
                <a:cs typeface="Montserrat"/>
                <a:sym typeface="Montserrat"/>
              </a:rPr>
              <a:t>Resolución de AFD.</a:t>
            </a:r>
            <a:endParaRPr sz="1800">
              <a:solidFill>
                <a:srgbClr val="FFFFFF"/>
              </a:solidFill>
              <a:latin typeface="Montserrat"/>
              <a:ea typeface="Montserrat"/>
              <a:cs typeface="Montserrat"/>
              <a:sym typeface="Montserrat"/>
            </a:endParaRPr>
          </a:p>
          <a:p>
            <a:pPr indent="0" lvl="0" marL="0" rtl="0" algn="l">
              <a:spcBef>
                <a:spcPts val="900"/>
              </a:spcBef>
              <a:spcAft>
                <a:spcPts val="0"/>
              </a:spcAft>
              <a:buNone/>
            </a:pPr>
            <a:r>
              <a:rPr lang="es-419" sz="1800">
                <a:solidFill>
                  <a:srgbClr val="FFFFFF"/>
                </a:solidFill>
                <a:latin typeface="Montserrat"/>
                <a:ea typeface="Montserrat"/>
                <a:cs typeface="Montserrat"/>
                <a:sym typeface="Montserrat"/>
              </a:rPr>
              <a:t>Métodos aplicables a AFD.</a:t>
            </a:r>
            <a:endParaRPr sz="1800">
              <a:solidFill>
                <a:srgbClr val="FFFFFF"/>
              </a:solidFill>
              <a:latin typeface="Montserrat"/>
              <a:ea typeface="Montserrat"/>
              <a:cs typeface="Montserrat"/>
              <a:sym typeface="Montserrat"/>
            </a:endParaRPr>
          </a:p>
          <a:p>
            <a:pPr indent="0" lvl="0" marL="0" rtl="0" algn="l">
              <a:spcBef>
                <a:spcPts val="900"/>
              </a:spcBef>
              <a:spcAft>
                <a:spcPts val="0"/>
              </a:spcAft>
              <a:buNone/>
            </a:pPr>
            <a:r>
              <a:rPr lang="es-419" sz="1800">
                <a:solidFill>
                  <a:schemeClr val="lt1"/>
                </a:solidFill>
                <a:latin typeface="Montserrat"/>
                <a:ea typeface="Montserrat"/>
                <a:cs typeface="Montserrat"/>
                <a:sym typeface="Montserrat"/>
              </a:rPr>
              <a:t>→ Equivalencia.</a:t>
            </a:r>
            <a:endParaRPr sz="1800">
              <a:solidFill>
                <a:srgbClr val="FFFFFF"/>
              </a:solidFill>
              <a:latin typeface="Montserrat"/>
              <a:ea typeface="Montserrat"/>
              <a:cs typeface="Montserrat"/>
              <a:sym typeface="Montserrat"/>
            </a:endParaRPr>
          </a:p>
          <a:p>
            <a:pPr indent="0" lvl="0" marL="0" rtl="0" algn="l">
              <a:spcBef>
                <a:spcPts val="900"/>
              </a:spcBef>
              <a:spcAft>
                <a:spcPts val="0"/>
              </a:spcAft>
              <a:buNone/>
            </a:pPr>
            <a:r>
              <a:rPr lang="es-419" sz="1800">
                <a:solidFill>
                  <a:srgbClr val="FFFFFF"/>
                </a:solidFill>
                <a:latin typeface="Montserrat"/>
                <a:ea typeface="Montserrat"/>
                <a:cs typeface="Montserrat"/>
                <a:sym typeface="Montserrat"/>
              </a:rPr>
              <a:t>→ Minimización.</a:t>
            </a:r>
            <a:endParaRPr sz="1800">
              <a:solidFill>
                <a:srgbClr val="FFFFFF"/>
              </a:solidFill>
              <a:latin typeface="Montserrat"/>
              <a:ea typeface="Montserrat"/>
              <a:cs typeface="Montserrat"/>
              <a:sym typeface="Montserrat"/>
            </a:endParaRPr>
          </a:p>
          <a:p>
            <a:pPr indent="0" lvl="0" marL="0" rtl="0" algn="l">
              <a:spcBef>
                <a:spcPts val="900"/>
              </a:spcBef>
              <a:spcAft>
                <a:spcPts val="0"/>
              </a:spcAft>
              <a:buNone/>
            </a:pPr>
            <a:r>
              <a:rPr lang="es-419" sz="1800">
                <a:solidFill>
                  <a:srgbClr val="FFFFFF"/>
                </a:solidFill>
                <a:latin typeface="Montserrat"/>
                <a:ea typeface="Montserrat"/>
                <a:cs typeface="Montserrat"/>
                <a:sym typeface="Montserrat"/>
              </a:rPr>
              <a:t>Ejercicios.</a:t>
            </a:r>
            <a:endParaRPr sz="1800">
              <a:solidFill>
                <a:srgbClr val="FFFFFF"/>
              </a:solidFill>
              <a:latin typeface="Montserrat"/>
              <a:ea typeface="Montserrat"/>
              <a:cs typeface="Montserrat"/>
              <a:sym typeface="Montserrat"/>
            </a:endParaRPr>
          </a:p>
          <a:p>
            <a:pPr indent="0" lvl="0" marL="0" rtl="0" algn="l">
              <a:spcBef>
                <a:spcPts val="900"/>
              </a:spcBef>
              <a:spcAft>
                <a:spcPts val="0"/>
              </a:spcAft>
              <a:buNone/>
            </a:pPr>
            <a:r>
              <a:t/>
            </a:r>
            <a:endParaRPr sz="1800">
              <a:solidFill>
                <a:srgbClr val="FFFFFF"/>
              </a:solidFill>
              <a:latin typeface="Montserrat"/>
              <a:ea typeface="Montserrat"/>
              <a:cs typeface="Montserrat"/>
              <a:sym typeface="Montserrat"/>
            </a:endParaRPr>
          </a:p>
          <a:p>
            <a:pPr indent="0" lvl="0" marL="0" rtl="0" algn="l">
              <a:spcBef>
                <a:spcPts val="900"/>
              </a:spcBef>
              <a:spcAft>
                <a:spcPts val="0"/>
              </a:spcAft>
              <a:buNone/>
            </a:pPr>
            <a:r>
              <a:t/>
            </a:r>
            <a:endParaRPr sz="1800">
              <a:solidFill>
                <a:srgbClr val="FFFFFF"/>
              </a:solidFill>
              <a:latin typeface="Montserrat"/>
              <a:ea typeface="Montserrat"/>
              <a:cs typeface="Montserrat"/>
              <a:sym typeface="Montserrat"/>
            </a:endParaRPr>
          </a:p>
          <a:p>
            <a:pPr indent="0" lvl="0" marL="0" rtl="0" algn="l">
              <a:lnSpc>
                <a:spcPct val="100000"/>
              </a:lnSpc>
              <a:spcBef>
                <a:spcPts val="900"/>
              </a:spcBef>
              <a:spcAft>
                <a:spcPts val="900"/>
              </a:spcAft>
              <a:buNone/>
            </a:pPr>
            <a:r>
              <a:t/>
            </a:r>
            <a:endParaRPr sz="1800">
              <a:solidFill>
                <a:srgbClr val="FFFFFF"/>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Métodos aplicables sobre AFD</a:t>
            </a:r>
            <a:endParaRPr/>
          </a:p>
        </p:txBody>
      </p:sp>
      <p:sp>
        <p:nvSpPr>
          <p:cNvPr id="240" name="Google Shape;240;p19"/>
          <p:cNvSpPr txBox="1"/>
          <p:nvPr/>
        </p:nvSpPr>
        <p:spPr>
          <a:xfrm>
            <a:off x="1297500" y="1403525"/>
            <a:ext cx="70389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419" sz="2000">
                <a:solidFill>
                  <a:schemeClr val="lt1"/>
                </a:solidFill>
                <a:latin typeface="Lato"/>
                <a:ea typeface="Lato"/>
                <a:cs typeface="Lato"/>
                <a:sym typeface="Lato"/>
              </a:rPr>
              <a:t>Ya vimos como los autómatas finitos nos ayudaban a validar y generar palabras con un lenguaje dado. Sin embargo… ¿Existe un único autómata para cada lenguaje?</a:t>
            </a:r>
            <a:endParaRPr sz="2000">
              <a:solidFill>
                <a:schemeClr val="lt1"/>
              </a:solidFill>
              <a:latin typeface="Lato"/>
              <a:ea typeface="Lato"/>
              <a:cs typeface="Lato"/>
              <a:sym typeface="Lato"/>
            </a:endParaRPr>
          </a:p>
          <a:p>
            <a:pPr indent="0" lvl="0" marL="0" rtl="0" algn="just">
              <a:spcBef>
                <a:spcPts val="0"/>
              </a:spcBef>
              <a:spcAft>
                <a:spcPts val="0"/>
              </a:spcAft>
              <a:buNone/>
            </a:pPr>
            <a:r>
              <a:t/>
            </a:r>
            <a:endParaRPr sz="2000">
              <a:solidFill>
                <a:schemeClr val="lt1"/>
              </a:solidFill>
              <a:latin typeface="Lato"/>
              <a:ea typeface="Lato"/>
              <a:cs typeface="Lato"/>
              <a:sym typeface="Lato"/>
            </a:endParaRPr>
          </a:p>
        </p:txBody>
      </p:sp>
      <p:sp>
        <p:nvSpPr>
          <p:cNvPr id="241" name="Google Shape;241;p19"/>
          <p:cNvSpPr txBox="1"/>
          <p:nvPr/>
        </p:nvSpPr>
        <p:spPr>
          <a:xfrm>
            <a:off x="1297500" y="2451325"/>
            <a:ext cx="70389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419" sz="2000">
                <a:solidFill>
                  <a:schemeClr val="lt1"/>
                </a:solidFill>
                <a:latin typeface="Lato"/>
                <a:ea typeface="Lato"/>
                <a:cs typeface="Lato"/>
                <a:sym typeface="Lato"/>
              </a:rPr>
              <a:t>La respuesta es no. Puede haber más de una </a:t>
            </a:r>
            <a:r>
              <a:rPr b="1" i="1" lang="es-419" sz="2000">
                <a:solidFill>
                  <a:schemeClr val="accent2"/>
                </a:solidFill>
                <a:latin typeface="Lato"/>
                <a:ea typeface="Lato"/>
                <a:cs typeface="Lato"/>
                <a:sym typeface="Lato"/>
              </a:rPr>
              <a:t>solución factible</a:t>
            </a:r>
            <a:r>
              <a:rPr lang="es-419" sz="2000">
                <a:solidFill>
                  <a:schemeClr val="lt1"/>
                </a:solidFill>
                <a:latin typeface="Lato"/>
                <a:ea typeface="Lato"/>
                <a:cs typeface="Lato"/>
                <a:sym typeface="Lato"/>
              </a:rPr>
              <a:t> para un mismo autómata, pero tan solo existirá una solución </a:t>
            </a:r>
            <a:r>
              <a:rPr b="1" i="1" lang="es-419" sz="2000">
                <a:solidFill>
                  <a:schemeClr val="accent2"/>
                </a:solidFill>
                <a:latin typeface="Lato"/>
                <a:ea typeface="Lato"/>
                <a:cs typeface="Lato"/>
                <a:sym typeface="Lato"/>
              </a:rPr>
              <a:t>óptima</a:t>
            </a:r>
            <a:r>
              <a:rPr lang="es-419" sz="2000">
                <a:solidFill>
                  <a:schemeClr val="lt1"/>
                </a:solidFill>
                <a:latin typeface="Lato"/>
                <a:ea typeface="Lato"/>
                <a:cs typeface="Lato"/>
                <a:sym typeface="Lato"/>
              </a:rPr>
              <a:t>.</a:t>
            </a:r>
            <a:endParaRPr sz="1200">
              <a:solidFill>
                <a:schemeClr val="lt1"/>
              </a:solidFill>
              <a:latin typeface="Lato"/>
              <a:ea typeface="Lato"/>
              <a:cs typeface="Lato"/>
              <a:sym typeface="Lato"/>
            </a:endParaRPr>
          </a:p>
        </p:txBody>
      </p:sp>
      <p:sp>
        <p:nvSpPr>
          <p:cNvPr id="242" name="Google Shape;242;p19"/>
          <p:cNvSpPr txBox="1"/>
          <p:nvPr/>
        </p:nvSpPr>
        <p:spPr>
          <a:xfrm>
            <a:off x="1297500" y="3524025"/>
            <a:ext cx="70389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419" sz="2000">
                <a:solidFill>
                  <a:schemeClr val="lt1"/>
                </a:solidFill>
                <a:latin typeface="Lato"/>
                <a:ea typeface="Lato"/>
                <a:cs typeface="Lato"/>
                <a:sym typeface="Lato"/>
              </a:rPr>
              <a:t>Existen dos métodos aplicables sobre AFD: </a:t>
            </a:r>
            <a:endParaRPr sz="2000">
              <a:solidFill>
                <a:schemeClr val="lt1"/>
              </a:solidFill>
              <a:latin typeface="Lato"/>
              <a:ea typeface="Lato"/>
              <a:cs typeface="Lato"/>
              <a:sym typeface="Lato"/>
            </a:endParaRPr>
          </a:p>
          <a:p>
            <a:pPr indent="0" lvl="0" marL="0" rtl="0" algn="just">
              <a:spcBef>
                <a:spcPts val="0"/>
              </a:spcBef>
              <a:spcAft>
                <a:spcPts val="0"/>
              </a:spcAft>
              <a:buNone/>
            </a:pPr>
            <a:r>
              <a:rPr lang="es-419" sz="2000">
                <a:solidFill>
                  <a:schemeClr val="lt1"/>
                </a:solidFill>
                <a:latin typeface="Lato"/>
                <a:ea typeface="Lato"/>
                <a:cs typeface="Lato"/>
                <a:sym typeface="Lato"/>
              </a:rPr>
              <a:t>→El </a:t>
            </a:r>
            <a:r>
              <a:rPr b="1" i="1" lang="es-419" sz="2000">
                <a:solidFill>
                  <a:schemeClr val="accent2"/>
                </a:solidFill>
                <a:latin typeface="Lato"/>
                <a:ea typeface="Lato"/>
                <a:cs typeface="Lato"/>
                <a:sym typeface="Lato"/>
              </a:rPr>
              <a:t>Teorema de Moore</a:t>
            </a:r>
            <a:r>
              <a:rPr lang="es-419" sz="2000">
                <a:solidFill>
                  <a:schemeClr val="lt1"/>
                </a:solidFill>
                <a:latin typeface="Lato"/>
                <a:ea typeface="Lato"/>
                <a:cs typeface="Lato"/>
                <a:sym typeface="Lato"/>
              </a:rPr>
              <a:t>.</a:t>
            </a:r>
            <a:endParaRPr sz="2000">
              <a:solidFill>
                <a:schemeClr val="lt1"/>
              </a:solidFill>
              <a:latin typeface="Lato"/>
              <a:ea typeface="Lato"/>
              <a:cs typeface="Lato"/>
              <a:sym typeface="Lato"/>
            </a:endParaRPr>
          </a:p>
          <a:p>
            <a:pPr indent="0" lvl="0" marL="0" rtl="0" algn="just">
              <a:spcBef>
                <a:spcPts val="0"/>
              </a:spcBef>
              <a:spcAft>
                <a:spcPts val="0"/>
              </a:spcAft>
              <a:buNone/>
            </a:pPr>
            <a:r>
              <a:rPr lang="es-419" sz="2000">
                <a:solidFill>
                  <a:schemeClr val="lt1"/>
                </a:solidFill>
                <a:latin typeface="Lato"/>
                <a:ea typeface="Lato"/>
                <a:cs typeface="Lato"/>
                <a:sym typeface="Lato"/>
              </a:rPr>
              <a:t>→La </a:t>
            </a:r>
            <a:r>
              <a:rPr b="1" i="1" lang="es-419" sz="2000">
                <a:solidFill>
                  <a:schemeClr val="accent2"/>
                </a:solidFill>
                <a:latin typeface="Lato"/>
                <a:ea typeface="Lato"/>
                <a:cs typeface="Lato"/>
                <a:sym typeface="Lato"/>
              </a:rPr>
              <a:t>minimización</a:t>
            </a:r>
            <a:r>
              <a:rPr b="1" i="1" lang="es-419" sz="2000">
                <a:solidFill>
                  <a:schemeClr val="lt1"/>
                </a:solidFill>
                <a:latin typeface="Lato"/>
                <a:ea typeface="Lato"/>
                <a:cs typeface="Lato"/>
                <a:sym typeface="Lato"/>
              </a:rPr>
              <a:t>.</a:t>
            </a:r>
            <a:endParaRPr b="1" i="1" sz="20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Teorema de Moore</a:t>
            </a:r>
            <a:endParaRPr/>
          </a:p>
        </p:txBody>
      </p:sp>
      <p:sp>
        <p:nvSpPr>
          <p:cNvPr id="248" name="Google Shape;248;p20"/>
          <p:cNvSpPr txBox="1"/>
          <p:nvPr/>
        </p:nvSpPr>
        <p:spPr>
          <a:xfrm>
            <a:off x="1297500" y="1403525"/>
            <a:ext cx="7038900" cy="1723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419" sz="2000">
                <a:solidFill>
                  <a:schemeClr val="lt1"/>
                </a:solidFill>
                <a:latin typeface="Lato"/>
                <a:ea typeface="Lato"/>
                <a:cs typeface="Lato"/>
                <a:sym typeface="Lato"/>
              </a:rPr>
              <a:t>Antes de definir el Teorema de Moore, primero debemos conocer la definición de </a:t>
            </a:r>
            <a:r>
              <a:rPr b="1" i="1" lang="es-419" sz="2000">
                <a:solidFill>
                  <a:schemeClr val="accent2"/>
                </a:solidFill>
                <a:latin typeface="Lato"/>
                <a:ea typeface="Lato"/>
                <a:cs typeface="Lato"/>
                <a:sym typeface="Lato"/>
              </a:rPr>
              <a:t>autómatas equivalentes</a:t>
            </a:r>
            <a:r>
              <a:rPr lang="es-419" sz="2000">
                <a:solidFill>
                  <a:schemeClr val="lt1"/>
                </a:solidFill>
                <a:latin typeface="Lato"/>
                <a:ea typeface="Lato"/>
                <a:cs typeface="Lato"/>
                <a:sym typeface="Lato"/>
              </a:rPr>
              <a:t>. Decimos que dos autómatas </a:t>
            </a:r>
            <a:r>
              <a:rPr lang="es-419" sz="2000">
                <a:solidFill>
                  <a:schemeClr val="lt1"/>
                </a:solidFill>
                <a:latin typeface="Lato"/>
                <a:ea typeface="Lato"/>
                <a:cs typeface="Lato"/>
                <a:sym typeface="Lato"/>
              </a:rPr>
              <a:t>M y M’ </a:t>
            </a:r>
            <a:r>
              <a:rPr lang="es-419" sz="2000">
                <a:solidFill>
                  <a:schemeClr val="lt1"/>
                </a:solidFill>
                <a:latin typeface="Lato"/>
                <a:ea typeface="Lato"/>
                <a:cs typeface="Lato"/>
                <a:sym typeface="Lato"/>
              </a:rPr>
              <a:t>son equivalentes si aceptan las mismas palabras, es decir, el mismo lenguaje.</a:t>
            </a:r>
            <a:endParaRPr sz="2000">
              <a:solidFill>
                <a:schemeClr val="lt1"/>
              </a:solidFill>
              <a:latin typeface="Lato"/>
              <a:ea typeface="Lato"/>
              <a:cs typeface="Lato"/>
              <a:sym typeface="Lato"/>
            </a:endParaRPr>
          </a:p>
          <a:p>
            <a:pPr indent="0" lvl="0" marL="0" rtl="0" algn="just">
              <a:spcBef>
                <a:spcPts val="0"/>
              </a:spcBef>
              <a:spcAft>
                <a:spcPts val="0"/>
              </a:spcAft>
              <a:buNone/>
            </a:pPr>
            <a:r>
              <a:t/>
            </a:r>
            <a:endParaRPr sz="2000">
              <a:solidFill>
                <a:schemeClr val="lt1"/>
              </a:solidFill>
              <a:latin typeface="Lato"/>
              <a:ea typeface="Lato"/>
              <a:cs typeface="Lato"/>
              <a:sym typeface="Lato"/>
            </a:endParaRPr>
          </a:p>
        </p:txBody>
      </p:sp>
      <p:sp>
        <p:nvSpPr>
          <p:cNvPr id="249" name="Google Shape;249;p20"/>
          <p:cNvSpPr txBox="1"/>
          <p:nvPr/>
        </p:nvSpPr>
        <p:spPr>
          <a:xfrm>
            <a:off x="1297500" y="2886400"/>
            <a:ext cx="70389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419" sz="2000">
                <a:solidFill>
                  <a:schemeClr val="lt1"/>
                </a:solidFill>
                <a:latin typeface="Lato"/>
                <a:ea typeface="Lato"/>
                <a:cs typeface="Lato"/>
                <a:sym typeface="Lato"/>
              </a:rPr>
              <a:t>El </a:t>
            </a:r>
            <a:r>
              <a:rPr b="1" i="1" lang="es-419" sz="2000">
                <a:solidFill>
                  <a:schemeClr val="accent2"/>
                </a:solidFill>
                <a:latin typeface="Lato"/>
                <a:ea typeface="Lato"/>
                <a:cs typeface="Lato"/>
                <a:sym typeface="Lato"/>
              </a:rPr>
              <a:t>Teorema de Moore</a:t>
            </a:r>
            <a:r>
              <a:rPr lang="es-419" sz="2000">
                <a:solidFill>
                  <a:schemeClr val="lt1"/>
                </a:solidFill>
                <a:latin typeface="Lato"/>
                <a:ea typeface="Lato"/>
                <a:cs typeface="Lato"/>
                <a:sym typeface="Lato"/>
              </a:rPr>
              <a:t> es un algoritmo de comparación que nos permite distinguir si dos autómatas son equivalentes o no.</a:t>
            </a:r>
            <a:endParaRPr sz="2000">
              <a:solidFill>
                <a:schemeClr val="lt1"/>
              </a:solidFill>
              <a:latin typeface="Lato"/>
              <a:ea typeface="Lato"/>
              <a:cs typeface="Lato"/>
              <a:sym typeface="Lato"/>
            </a:endParaRPr>
          </a:p>
          <a:p>
            <a:pPr indent="0" lvl="0" marL="0" rtl="0" algn="just">
              <a:spcBef>
                <a:spcPts val="0"/>
              </a:spcBef>
              <a:spcAft>
                <a:spcPts val="0"/>
              </a:spcAft>
              <a:buNone/>
            </a:pPr>
            <a:r>
              <a:t/>
            </a:r>
            <a:endParaRPr b="1" i="1" sz="20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Teorema de Moore: Procedimiento</a:t>
            </a:r>
            <a:endParaRPr/>
          </a:p>
        </p:txBody>
      </p:sp>
      <p:sp>
        <p:nvSpPr>
          <p:cNvPr id="255" name="Google Shape;255;p21"/>
          <p:cNvSpPr txBox="1"/>
          <p:nvPr/>
        </p:nvSpPr>
        <p:spPr>
          <a:xfrm>
            <a:off x="1297500" y="1403525"/>
            <a:ext cx="7038900" cy="233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419" sz="2000">
                <a:solidFill>
                  <a:schemeClr val="lt1"/>
                </a:solidFill>
                <a:latin typeface="Lato"/>
                <a:ea typeface="Lato"/>
                <a:cs typeface="Lato"/>
                <a:sym typeface="Lato"/>
              </a:rPr>
              <a:t>Paso 1: Eliminar estados inaccesibles.</a:t>
            </a:r>
            <a:endParaRPr sz="2000">
              <a:solidFill>
                <a:schemeClr val="lt1"/>
              </a:solidFill>
              <a:latin typeface="Lato"/>
              <a:ea typeface="Lato"/>
              <a:cs typeface="Lato"/>
              <a:sym typeface="Lato"/>
            </a:endParaRPr>
          </a:p>
          <a:p>
            <a:pPr indent="0" lvl="0" marL="0" rtl="0" algn="just">
              <a:spcBef>
                <a:spcPts val="0"/>
              </a:spcBef>
              <a:spcAft>
                <a:spcPts val="0"/>
              </a:spcAft>
              <a:buNone/>
            </a:pPr>
            <a:r>
              <a:rPr lang="es-419" sz="2000">
                <a:solidFill>
                  <a:schemeClr val="lt1"/>
                </a:solidFill>
                <a:latin typeface="Lato"/>
                <a:ea typeface="Lato"/>
                <a:cs typeface="Lato"/>
                <a:sym typeface="Lato"/>
              </a:rPr>
              <a:t>Paso 2: Colocar el par ordenado (S, S’) como raíz del árbol. Siendo S y S’ los nodos iniciales de cada AF.</a:t>
            </a:r>
            <a:endParaRPr sz="2000">
              <a:solidFill>
                <a:schemeClr val="lt1"/>
              </a:solidFill>
              <a:latin typeface="Lato"/>
              <a:ea typeface="Lato"/>
              <a:cs typeface="Lato"/>
              <a:sym typeface="Lato"/>
            </a:endParaRPr>
          </a:p>
          <a:p>
            <a:pPr indent="0" lvl="0" marL="0" rtl="0" algn="just">
              <a:spcBef>
                <a:spcPts val="0"/>
              </a:spcBef>
              <a:spcAft>
                <a:spcPts val="0"/>
              </a:spcAft>
              <a:buNone/>
            </a:pPr>
            <a:r>
              <a:rPr lang="es-419" sz="2000">
                <a:solidFill>
                  <a:schemeClr val="lt1"/>
                </a:solidFill>
                <a:latin typeface="Lato"/>
                <a:ea typeface="Lato"/>
                <a:cs typeface="Lato"/>
                <a:sym typeface="Lato"/>
              </a:rPr>
              <a:t>Paso 3: Agregar ramas al árbol utilizando las transiciones que salen de los nodos iniciales. Cada par ordenado de estados que se agregue debe ser </a:t>
            </a:r>
            <a:r>
              <a:rPr b="1" i="1" lang="es-419" sz="2000">
                <a:solidFill>
                  <a:schemeClr val="accent2"/>
                </a:solidFill>
                <a:latin typeface="Lato"/>
                <a:ea typeface="Lato"/>
                <a:cs typeface="Lato"/>
                <a:sym typeface="Lato"/>
              </a:rPr>
              <a:t>compatible</a:t>
            </a:r>
            <a:r>
              <a:rPr lang="es-419" sz="2000">
                <a:solidFill>
                  <a:schemeClr val="lt1"/>
                </a:solidFill>
                <a:latin typeface="Lato"/>
                <a:ea typeface="Lato"/>
                <a:cs typeface="Lato"/>
                <a:sym typeface="Lato"/>
              </a:rPr>
              <a:t>.</a:t>
            </a:r>
            <a:endParaRPr sz="2000">
              <a:solidFill>
                <a:schemeClr val="lt1"/>
              </a:solidFill>
              <a:latin typeface="Lato"/>
              <a:ea typeface="Lato"/>
              <a:cs typeface="Lato"/>
              <a:sym typeface="Lato"/>
            </a:endParaRPr>
          </a:p>
          <a:p>
            <a:pPr indent="0" lvl="0" marL="0" rtl="0" algn="just">
              <a:spcBef>
                <a:spcPts val="0"/>
              </a:spcBef>
              <a:spcAft>
                <a:spcPts val="0"/>
              </a:spcAft>
              <a:buNone/>
            </a:pPr>
            <a:r>
              <a:t/>
            </a:r>
            <a:endParaRPr sz="2000">
              <a:solidFill>
                <a:schemeClr val="lt1"/>
              </a:solidFill>
              <a:latin typeface="Lato"/>
              <a:ea typeface="Lato"/>
              <a:cs typeface="Lato"/>
              <a:sym typeface="Lato"/>
            </a:endParaRPr>
          </a:p>
        </p:txBody>
      </p:sp>
      <p:sp>
        <p:nvSpPr>
          <p:cNvPr id="256" name="Google Shape;256;p21"/>
          <p:cNvSpPr txBox="1"/>
          <p:nvPr/>
        </p:nvSpPr>
        <p:spPr>
          <a:xfrm>
            <a:off x="1297500" y="3743225"/>
            <a:ext cx="70389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s-419" sz="2000">
                <a:solidFill>
                  <a:schemeClr val="accent2"/>
                </a:solidFill>
                <a:latin typeface="Lato"/>
                <a:ea typeface="Lato"/>
                <a:cs typeface="Lato"/>
                <a:sym typeface="Lato"/>
              </a:rPr>
              <a:t>Se dice que dos estados son compatibles si ambos son finales o no finales.</a:t>
            </a:r>
            <a:endParaRPr b="1" i="1" sz="2000">
              <a:solidFill>
                <a:schemeClr val="accent2"/>
              </a:solidFill>
              <a:latin typeface="Lato"/>
              <a:ea typeface="Lato"/>
              <a:cs typeface="Lato"/>
              <a:sym typeface="Lato"/>
            </a:endParaRPr>
          </a:p>
          <a:p>
            <a:pPr indent="0" lvl="0" marL="0" rtl="0" algn="just">
              <a:spcBef>
                <a:spcPts val="0"/>
              </a:spcBef>
              <a:spcAft>
                <a:spcPts val="0"/>
              </a:spcAft>
              <a:buNone/>
            </a:pPr>
            <a:r>
              <a:t/>
            </a:r>
            <a:endParaRPr sz="20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Ejemplo 1</a:t>
            </a:r>
            <a:endParaRPr/>
          </a:p>
        </p:txBody>
      </p:sp>
      <p:sp>
        <p:nvSpPr>
          <p:cNvPr id="262" name="Google Shape;262;p22"/>
          <p:cNvSpPr/>
          <p:nvPr/>
        </p:nvSpPr>
        <p:spPr>
          <a:xfrm>
            <a:off x="558913" y="1917150"/>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p</a:t>
            </a:r>
            <a:endParaRPr b="1" sz="3000">
              <a:latin typeface="Lato"/>
              <a:ea typeface="Lato"/>
              <a:cs typeface="Lato"/>
              <a:sym typeface="Lato"/>
            </a:endParaRPr>
          </a:p>
        </p:txBody>
      </p:sp>
      <p:sp>
        <p:nvSpPr>
          <p:cNvPr id="263" name="Google Shape;263;p22"/>
          <p:cNvSpPr/>
          <p:nvPr/>
        </p:nvSpPr>
        <p:spPr>
          <a:xfrm>
            <a:off x="3175288" y="1917150"/>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q</a:t>
            </a:r>
            <a:endParaRPr b="1" sz="3000">
              <a:latin typeface="Lato"/>
              <a:ea typeface="Lato"/>
              <a:cs typeface="Lato"/>
              <a:sym typeface="Lato"/>
            </a:endParaRPr>
          </a:p>
        </p:txBody>
      </p:sp>
      <p:sp>
        <p:nvSpPr>
          <p:cNvPr id="264" name="Google Shape;264;p22"/>
          <p:cNvSpPr/>
          <p:nvPr/>
        </p:nvSpPr>
        <p:spPr>
          <a:xfrm>
            <a:off x="2230863" y="3392225"/>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5" name="Google Shape;265;p22"/>
          <p:cNvSpPr/>
          <p:nvPr/>
        </p:nvSpPr>
        <p:spPr>
          <a:xfrm>
            <a:off x="2300913" y="3462299"/>
            <a:ext cx="540000" cy="5400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r</a:t>
            </a:r>
            <a:endParaRPr b="1" sz="3000">
              <a:latin typeface="Lato"/>
              <a:ea typeface="Lato"/>
              <a:cs typeface="Lato"/>
              <a:sym typeface="Lato"/>
            </a:endParaRPr>
          </a:p>
        </p:txBody>
      </p:sp>
      <p:sp>
        <p:nvSpPr>
          <p:cNvPr id="266" name="Google Shape;266;p22"/>
          <p:cNvSpPr/>
          <p:nvPr/>
        </p:nvSpPr>
        <p:spPr>
          <a:xfrm>
            <a:off x="5373413" y="1917150"/>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A</a:t>
            </a:r>
            <a:endParaRPr b="1" sz="3000">
              <a:latin typeface="Lato"/>
              <a:ea typeface="Lato"/>
              <a:cs typeface="Lato"/>
              <a:sym typeface="Lato"/>
            </a:endParaRPr>
          </a:p>
        </p:txBody>
      </p:sp>
      <p:sp>
        <p:nvSpPr>
          <p:cNvPr id="267" name="Google Shape;267;p22"/>
          <p:cNvSpPr/>
          <p:nvPr/>
        </p:nvSpPr>
        <p:spPr>
          <a:xfrm>
            <a:off x="7401938" y="1917150"/>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B</a:t>
            </a:r>
            <a:endParaRPr b="1" sz="3000">
              <a:latin typeface="Lato"/>
              <a:ea typeface="Lato"/>
              <a:cs typeface="Lato"/>
              <a:sym typeface="Lato"/>
            </a:endParaRPr>
          </a:p>
        </p:txBody>
      </p:sp>
      <p:sp>
        <p:nvSpPr>
          <p:cNvPr id="268" name="Google Shape;268;p22"/>
          <p:cNvSpPr/>
          <p:nvPr/>
        </p:nvSpPr>
        <p:spPr>
          <a:xfrm>
            <a:off x="7401938" y="3421925"/>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 name="Google Shape;269;p22"/>
          <p:cNvSpPr/>
          <p:nvPr/>
        </p:nvSpPr>
        <p:spPr>
          <a:xfrm>
            <a:off x="7471988" y="3491999"/>
            <a:ext cx="540000" cy="5400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s-419" sz="3000">
                <a:latin typeface="Lato"/>
                <a:ea typeface="Lato"/>
                <a:cs typeface="Lato"/>
                <a:sym typeface="Lato"/>
              </a:rPr>
              <a:t>D</a:t>
            </a:r>
            <a:endParaRPr b="1" sz="3000">
              <a:latin typeface="Lato"/>
              <a:ea typeface="Lato"/>
              <a:cs typeface="Lato"/>
              <a:sym typeface="Lato"/>
            </a:endParaRPr>
          </a:p>
        </p:txBody>
      </p:sp>
      <p:cxnSp>
        <p:nvCxnSpPr>
          <p:cNvPr id="270" name="Google Shape;270;p22"/>
          <p:cNvCxnSpPr>
            <a:stCxn id="267" idx="5"/>
            <a:endCxn id="268" idx="7"/>
          </p:cNvCxnSpPr>
          <p:nvPr/>
        </p:nvCxnSpPr>
        <p:spPr>
          <a:xfrm>
            <a:off x="7982439" y="2497652"/>
            <a:ext cx="0" cy="1023900"/>
          </a:xfrm>
          <a:prstGeom prst="straightConnector1">
            <a:avLst/>
          </a:prstGeom>
          <a:noFill/>
          <a:ln cap="flat" cmpd="sng" w="38100">
            <a:solidFill>
              <a:schemeClr val="lt1"/>
            </a:solidFill>
            <a:prstDash val="solid"/>
            <a:round/>
            <a:headEnd len="med" w="med" type="none"/>
            <a:tailEnd len="med" w="med" type="stealth"/>
          </a:ln>
        </p:spPr>
      </p:cxnSp>
      <p:cxnSp>
        <p:nvCxnSpPr>
          <p:cNvPr id="271" name="Google Shape;271;p22"/>
          <p:cNvCxnSpPr>
            <a:stCxn id="268" idx="1"/>
            <a:endCxn id="267" idx="3"/>
          </p:cNvCxnSpPr>
          <p:nvPr/>
        </p:nvCxnSpPr>
        <p:spPr>
          <a:xfrm rot="10800000">
            <a:off x="7501536" y="2497623"/>
            <a:ext cx="0" cy="1023900"/>
          </a:xfrm>
          <a:prstGeom prst="straightConnector1">
            <a:avLst/>
          </a:prstGeom>
          <a:noFill/>
          <a:ln cap="flat" cmpd="sng" w="38100">
            <a:solidFill>
              <a:schemeClr val="lt1"/>
            </a:solidFill>
            <a:prstDash val="solid"/>
            <a:round/>
            <a:headEnd len="med" w="med" type="none"/>
            <a:tailEnd len="med" w="med" type="stealth"/>
          </a:ln>
        </p:spPr>
      </p:cxnSp>
      <p:sp>
        <p:nvSpPr>
          <p:cNvPr id="272" name="Google Shape;272;p22"/>
          <p:cNvSpPr txBox="1"/>
          <p:nvPr/>
        </p:nvSpPr>
        <p:spPr>
          <a:xfrm>
            <a:off x="6714338" y="2838125"/>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1,2</a:t>
            </a:r>
            <a:endParaRPr sz="2400">
              <a:solidFill>
                <a:schemeClr val="lt1"/>
              </a:solidFill>
              <a:latin typeface="Lato"/>
              <a:ea typeface="Lato"/>
              <a:cs typeface="Lato"/>
              <a:sym typeface="Lato"/>
            </a:endParaRPr>
          </a:p>
        </p:txBody>
      </p:sp>
      <p:sp>
        <p:nvSpPr>
          <p:cNvPr id="273" name="Google Shape;273;p22"/>
          <p:cNvSpPr txBox="1"/>
          <p:nvPr/>
        </p:nvSpPr>
        <p:spPr>
          <a:xfrm>
            <a:off x="8173788" y="2838125"/>
            <a:ext cx="901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1</a:t>
            </a:r>
            <a:endParaRPr sz="2400">
              <a:solidFill>
                <a:schemeClr val="lt1"/>
              </a:solidFill>
              <a:latin typeface="Lato"/>
              <a:ea typeface="Lato"/>
              <a:cs typeface="Lato"/>
              <a:sym typeface="Lato"/>
            </a:endParaRPr>
          </a:p>
        </p:txBody>
      </p:sp>
      <p:sp>
        <p:nvSpPr>
          <p:cNvPr id="274" name="Google Shape;274;p22"/>
          <p:cNvSpPr/>
          <p:nvPr/>
        </p:nvSpPr>
        <p:spPr>
          <a:xfrm>
            <a:off x="7231908" y="1441758"/>
            <a:ext cx="447500" cy="541950"/>
          </a:xfrm>
          <a:custGeom>
            <a:rect b="b" l="l" r="r" t="t"/>
            <a:pathLst>
              <a:path extrusionOk="0" h="21678" w="17900">
                <a:moveTo>
                  <a:pt x="9682" y="21679"/>
                </a:moveTo>
                <a:cubicBezTo>
                  <a:pt x="8548" y="20829"/>
                  <a:pt x="4486" y="18562"/>
                  <a:pt x="2880" y="16578"/>
                </a:cubicBezTo>
                <a:cubicBezTo>
                  <a:pt x="1274" y="14594"/>
                  <a:pt x="141" y="12233"/>
                  <a:pt x="47" y="9777"/>
                </a:cubicBezTo>
                <a:cubicBezTo>
                  <a:pt x="-47" y="7321"/>
                  <a:pt x="992" y="3448"/>
                  <a:pt x="2314" y="1842"/>
                </a:cubicBezTo>
                <a:cubicBezTo>
                  <a:pt x="3636" y="236"/>
                  <a:pt x="5997" y="-141"/>
                  <a:pt x="7981" y="142"/>
                </a:cubicBezTo>
                <a:cubicBezTo>
                  <a:pt x="9965" y="425"/>
                  <a:pt x="12610" y="1464"/>
                  <a:pt x="14216" y="3542"/>
                </a:cubicBezTo>
                <a:cubicBezTo>
                  <a:pt x="15822" y="5620"/>
                  <a:pt x="17050" y="10061"/>
                  <a:pt x="17617" y="12611"/>
                </a:cubicBezTo>
                <a:cubicBezTo>
                  <a:pt x="18184" y="15162"/>
                  <a:pt x="17617" y="17806"/>
                  <a:pt x="17617" y="18845"/>
                </a:cubicBezTo>
              </a:path>
            </a:pathLst>
          </a:custGeom>
          <a:noFill/>
          <a:ln cap="flat" cmpd="sng" w="38100">
            <a:solidFill>
              <a:schemeClr val="lt1"/>
            </a:solidFill>
            <a:prstDash val="solid"/>
            <a:round/>
            <a:headEnd len="med" w="med" type="none"/>
            <a:tailEnd len="med" w="med" type="stealth"/>
          </a:ln>
        </p:spPr>
      </p:sp>
      <p:sp>
        <p:nvSpPr>
          <p:cNvPr id="275" name="Google Shape;275;p22"/>
          <p:cNvSpPr txBox="1"/>
          <p:nvPr/>
        </p:nvSpPr>
        <p:spPr>
          <a:xfrm>
            <a:off x="7115613" y="887650"/>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2</a:t>
            </a:r>
            <a:endParaRPr sz="2400">
              <a:solidFill>
                <a:schemeClr val="lt1"/>
              </a:solidFill>
              <a:latin typeface="Lato"/>
              <a:ea typeface="Lato"/>
              <a:cs typeface="Lato"/>
              <a:sym typeface="Lato"/>
            </a:endParaRPr>
          </a:p>
        </p:txBody>
      </p:sp>
      <p:cxnSp>
        <p:nvCxnSpPr>
          <p:cNvPr id="276" name="Google Shape;276;p22"/>
          <p:cNvCxnSpPr>
            <a:stCxn id="266" idx="6"/>
            <a:endCxn id="267" idx="2"/>
          </p:cNvCxnSpPr>
          <p:nvPr/>
        </p:nvCxnSpPr>
        <p:spPr>
          <a:xfrm>
            <a:off x="6053513" y="2257200"/>
            <a:ext cx="1348500" cy="0"/>
          </a:xfrm>
          <a:prstGeom prst="straightConnector1">
            <a:avLst/>
          </a:prstGeom>
          <a:noFill/>
          <a:ln cap="flat" cmpd="sng" w="38100">
            <a:solidFill>
              <a:schemeClr val="lt1"/>
            </a:solidFill>
            <a:prstDash val="solid"/>
            <a:round/>
            <a:headEnd len="med" w="med" type="none"/>
            <a:tailEnd len="med" w="med" type="stealth"/>
          </a:ln>
        </p:spPr>
      </p:cxnSp>
      <p:sp>
        <p:nvSpPr>
          <p:cNvPr id="277" name="Google Shape;277;p22"/>
          <p:cNvSpPr txBox="1"/>
          <p:nvPr/>
        </p:nvSpPr>
        <p:spPr>
          <a:xfrm>
            <a:off x="6302663" y="1703100"/>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2</a:t>
            </a:r>
            <a:endParaRPr sz="2400">
              <a:solidFill>
                <a:schemeClr val="lt1"/>
              </a:solidFill>
              <a:latin typeface="Lato"/>
              <a:ea typeface="Lato"/>
              <a:cs typeface="Lato"/>
              <a:sym typeface="Lato"/>
            </a:endParaRPr>
          </a:p>
        </p:txBody>
      </p:sp>
      <p:sp>
        <p:nvSpPr>
          <p:cNvPr id="278" name="Google Shape;278;p22"/>
          <p:cNvSpPr txBox="1"/>
          <p:nvPr/>
        </p:nvSpPr>
        <p:spPr>
          <a:xfrm>
            <a:off x="5114525" y="1002475"/>
            <a:ext cx="54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1</a:t>
            </a:r>
            <a:endParaRPr sz="2400">
              <a:solidFill>
                <a:schemeClr val="lt1"/>
              </a:solidFill>
              <a:latin typeface="Lato"/>
              <a:ea typeface="Lato"/>
              <a:cs typeface="Lato"/>
              <a:sym typeface="Lato"/>
            </a:endParaRPr>
          </a:p>
        </p:txBody>
      </p:sp>
      <p:sp>
        <p:nvSpPr>
          <p:cNvPr id="279" name="Google Shape;279;p22"/>
          <p:cNvSpPr/>
          <p:nvPr/>
        </p:nvSpPr>
        <p:spPr>
          <a:xfrm>
            <a:off x="5373408" y="1441758"/>
            <a:ext cx="447500" cy="541950"/>
          </a:xfrm>
          <a:custGeom>
            <a:rect b="b" l="l" r="r" t="t"/>
            <a:pathLst>
              <a:path extrusionOk="0" h="21678" w="17900">
                <a:moveTo>
                  <a:pt x="9682" y="21679"/>
                </a:moveTo>
                <a:cubicBezTo>
                  <a:pt x="8548" y="20829"/>
                  <a:pt x="4486" y="18562"/>
                  <a:pt x="2880" y="16578"/>
                </a:cubicBezTo>
                <a:cubicBezTo>
                  <a:pt x="1274" y="14594"/>
                  <a:pt x="141" y="12233"/>
                  <a:pt x="47" y="9777"/>
                </a:cubicBezTo>
                <a:cubicBezTo>
                  <a:pt x="-47" y="7321"/>
                  <a:pt x="992" y="3448"/>
                  <a:pt x="2314" y="1842"/>
                </a:cubicBezTo>
                <a:cubicBezTo>
                  <a:pt x="3636" y="236"/>
                  <a:pt x="5997" y="-141"/>
                  <a:pt x="7981" y="142"/>
                </a:cubicBezTo>
                <a:cubicBezTo>
                  <a:pt x="9965" y="425"/>
                  <a:pt x="12610" y="1464"/>
                  <a:pt x="14216" y="3542"/>
                </a:cubicBezTo>
                <a:cubicBezTo>
                  <a:pt x="15822" y="5620"/>
                  <a:pt x="17050" y="10061"/>
                  <a:pt x="17617" y="12611"/>
                </a:cubicBezTo>
                <a:cubicBezTo>
                  <a:pt x="18184" y="15162"/>
                  <a:pt x="17617" y="17806"/>
                  <a:pt x="17617" y="18845"/>
                </a:cubicBezTo>
              </a:path>
            </a:pathLst>
          </a:custGeom>
          <a:noFill/>
          <a:ln cap="flat" cmpd="sng" w="38100">
            <a:solidFill>
              <a:schemeClr val="lt1"/>
            </a:solidFill>
            <a:prstDash val="solid"/>
            <a:round/>
            <a:headEnd len="med" w="med" type="none"/>
            <a:tailEnd len="med" w="med" type="stealth"/>
          </a:ln>
        </p:spPr>
      </p:sp>
      <p:cxnSp>
        <p:nvCxnSpPr>
          <p:cNvPr id="280" name="Google Shape;280;p22"/>
          <p:cNvCxnSpPr>
            <a:stCxn id="263" idx="4"/>
            <a:endCxn id="264" idx="7"/>
          </p:cNvCxnSpPr>
          <p:nvPr/>
        </p:nvCxnSpPr>
        <p:spPr>
          <a:xfrm flipH="1">
            <a:off x="2811238" y="2597250"/>
            <a:ext cx="704100" cy="894600"/>
          </a:xfrm>
          <a:prstGeom prst="straightConnector1">
            <a:avLst/>
          </a:prstGeom>
          <a:noFill/>
          <a:ln cap="flat" cmpd="sng" w="38100">
            <a:solidFill>
              <a:schemeClr val="lt1"/>
            </a:solidFill>
            <a:prstDash val="solid"/>
            <a:round/>
            <a:headEnd len="med" w="med" type="none"/>
            <a:tailEnd len="med" w="med" type="stealth"/>
          </a:ln>
        </p:spPr>
      </p:cxnSp>
      <p:sp>
        <p:nvSpPr>
          <p:cNvPr id="281" name="Google Shape;281;p22"/>
          <p:cNvSpPr txBox="1"/>
          <p:nvPr/>
        </p:nvSpPr>
        <p:spPr>
          <a:xfrm>
            <a:off x="3245325" y="2838125"/>
            <a:ext cx="54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1</a:t>
            </a:r>
            <a:endParaRPr sz="2400">
              <a:solidFill>
                <a:schemeClr val="lt1"/>
              </a:solidFill>
              <a:latin typeface="Lato"/>
              <a:ea typeface="Lato"/>
              <a:cs typeface="Lato"/>
              <a:sym typeface="Lato"/>
            </a:endParaRPr>
          </a:p>
        </p:txBody>
      </p:sp>
      <p:sp>
        <p:nvSpPr>
          <p:cNvPr id="282" name="Google Shape;282;p22"/>
          <p:cNvSpPr/>
          <p:nvPr/>
        </p:nvSpPr>
        <p:spPr>
          <a:xfrm rot="8914519">
            <a:off x="2852073" y="3706474"/>
            <a:ext cx="447434" cy="541870"/>
          </a:xfrm>
          <a:custGeom>
            <a:rect b="b" l="l" r="r" t="t"/>
            <a:pathLst>
              <a:path extrusionOk="0" h="21678" w="17900">
                <a:moveTo>
                  <a:pt x="9682" y="21679"/>
                </a:moveTo>
                <a:cubicBezTo>
                  <a:pt x="8548" y="20829"/>
                  <a:pt x="4486" y="18562"/>
                  <a:pt x="2880" y="16578"/>
                </a:cubicBezTo>
                <a:cubicBezTo>
                  <a:pt x="1274" y="14594"/>
                  <a:pt x="141" y="12233"/>
                  <a:pt x="47" y="9777"/>
                </a:cubicBezTo>
                <a:cubicBezTo>
                  <a:pt x="-47" y="7321"/>
                  <a:pt x="992" y="3448"/>
                  <a:pt x="2314" y="1842"/>
                </a:cubicBezTo>
                <a:cubicBezTo>
                  <a:pt x="3636" y="236"/>
                  <a:pt x="5997" y="-141"/>
                  <a:pt x="7981" y="142"/>
                </a:cubicBezTo>
                <a:cubicBezTo>
                  <a:pt x="9965" y="425"/>
                  <a:pt x="12610" y="1464"/>
                  <a:pt x="14216" y="3542"/>
                </a:cubicBezTo>
                <a:cubicBezTo>
                  <a:pt x="15822" y="5620"/>
                  <a:pt x="17050" y="10061"/>
                  <a:pt x="17617" y="12611"/>
                </a:cubicBezTo>
                <a:cubicBezTo>
                  <a:pt x="18184" y="15162"/>
                  <a:pt x="17617" y="17806"/>
                  <a:pt x="17617" y="18845"/>
                </a:cubicBezTo>
              </a:path>
            </a:pathLst>
          </a:custGeom>
          <a:noFill/>
          <a:ln cap="flat" cmpd="sng" w="38100">
            <a:solidFill>
              <a:schemeClr val="lt1"/>
            </a:solidFill>
            <a:prstDash val="solid"/>
            <a:round/>
            <a:headEnd len="med" w="med" type="none"/>
            <a:tailEnd len="med" w="med" type="stealth"/>
          </a:ln>
        </p:spPr>
      </p:sp>
      <p:sp>
        <p:nvSpPr>
          <p:cNvPr id="283" name="Google Shape;283;p22"/>
          <p:cNvSpPr txBox="1"/>
          <p:nvPr/>
        </p:nvSpPr>
        <p:spPr>
          <a:xfrm>
            <a:off x="3337113" y="3872500"/>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2</a:t>
            </a:r>
            <a:endParaRPr sz="2400">
              <a:solidFill>
                <a:schemeClr val="lt1"/>
              </a:solidFill>
              <a:latin typeface="Lato"/>
              <a:ea typeface="Lato"/>
              <a:cs typeface="Lato"/>
              <a:sym typeface="Lato"/>
            </a:endParaRPr>
          </a:p>
        </p:txBody>
      </p:sp>
      <p:cxnSp>
        <p:nvCxnSpPr>
          <p:cNvPr id="284" name="Google Shape;284;p22"/>
          <p:cNvCxnSpPr>
            <a:stCxn id="262" idx="4"/>
            <a:endCxn id="264" idx="2"/>
          </p:cNvCxnSpPr>
          <p:nvPr/>
        </p:nvCxnSpPr>
        <p:spPr>
          <a:xfrm>
            <a:off x="898963" y="2597250"/>
            <a:ext cx="1332000" cy="1134900"/>
          </a:xfrm>
          <a:prstGeom prst="straightConnector1">
            <a:avLst/>
          </a:prstGeom>
          <a:noFill/>
          <a:ln cap="flat" cmpd="sng" w="38100">
            <a:solidFill>
              <a:schemeClr val="lt1"/>
            </a:solidFill>
            <a:prstDash val="solid"/>
            <a:round/>
            <a:headEnd len="med" w="med" type="none"/>
            <a:tailEnd len="med" w="med" type="stealth"/>
          </a:ln>
        </p:spPr>
      </p:cxnSp>
      <p:sp>
        <p:nvSpPr>
          <p:cNvPr id="285" name="Google Shape;285;p22"/>
          <p:cNvSpPr txBox="1"/>
          <p:nvPr/>
        </p:nvSpPr>
        <p:spPr>
          <a:xfrm>
            <a:off x="1216388" y="3051725"/>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2</a:t>
            </a:r>
            <a:endParaRPr sz="2400">
              <a:solidFill>
                <a:schemeClr val="lt1"/>
              </a:solidFill>
              <a:latin typeface="Lato"/>
              <a:ea typeface="Lato"/>
              <a:cs typeface="Lato"/>
              <a:sym typeface="Lato"/>
            </a:endParaRPr>
          </a:p>
        </p:txBody>
      </p:sp>
      <p:cxnSp>
        <p:nvCxnSpPr>
          <p:cNvPr id="286" name="Google Shape;286;p22"/>
          <p:cNvCxnSpPr>
            <a:stCxn id="264" idx="0"/>
            <a:endCxn id="262" idx="6"/>
          </p:cNvCxnSpPr>
          <p:nvPr/>
        </p:nvCxnSpPr>
        <p:spPr>
          <a:xfrm rot="10800000">
            <a:off x="1238913" y="2257325"/>
            <a:ext cx="1332000" cy="1134900"/>
          </a:xfrm>
          <a:prstGeom prst="straightConnector1">
            <a:avLst/>
          </a:prstGeom>
          <a:noFill/>
          <a:ln cap="flat" cmpd="sng" w="38100">
            <a:solidFill>
              <a:schemeClr val="lt1"/>
            </a:solidFill>
            <a:prstDash val="solid"/>
            <a:round/>
            <a:headEnd len="med" w="med" type="none"/>
            <a:tailEnd len="med" w="med" type="stealth"/>
          </a:ln>
        </p:spPr>
      </p:cxnSp>
      <p:sp>
        <p:nvSpPr>
          <p:cNvPr id="287" name="Google Shape;287;p22"/>
          <p:cNvSpPr txBox="1"/>
          <p:nvPr/>
        </p:nvSpPr>
        <p:spPr>
          <a:xfrm>
            <a:off x="1854825" y="2497625"/>
            <a:ext cx="54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1</a:t>
            </a:r>
            <a:endParaRPr sz="2400">
              <a:solidFill>
                <a:schemeClr val="lt1"/>
              </a:solidFill>
              <a:latin typeface="Lato"/>
              <a:ea typeface="Lato"/>
              <a:cs typeface="Lato"/>
              <a:sym typeface="Lato"/>
            </a:endParaRPr>
          </a:p>
        </p:txBody>
      </p:sp>
      <p:cxnSp>
        <p:nvCxnSpPr>
          <p:cNvPr id="288" name="Google Shape;288;p22"/>
          <p:cNvCxnSpPr>
            <a:stCxn id="262" idx="7"/>
            <a:endCxn id="263" idx="1"/>
          </p:cNvCxnSpPr>
          <p:nvPr/>
        </p:nvCxnSpPr>
        <p:spPr>
          <a:xfrm>
            <a:off x="1139414" y="2016748"/>
            <a:ext cx="2135400" cy="0"/>
          </a:xfrm>
          <a:prstGeom prst="straightConnector1">
            <a:avLst/>
          </a:prstGeom>
          <a:noFill/>
          <a:ln cap="flat" cmpd="sng" w="38100">
            <a:solidFill>
              <a:schemeClr val="lt1"/>
            </a:solidFill>
            <a:prstDash val="solid"/>
            <a:round/>
            <a:headEnd len="med" w="med" type="none"/>
            <a:tailEnd len="med" w="med" type="stealth"/>
          </a:ln>
        </p:spPr>
      </p:cxnSp>
      <p:cxnSp>
        <p:nvCxnSpPr>
          <p:cNvPr id="289" name="Google Shape;289;p22"/>
          <p:cNvCxnSpPr>
            <a:stCxn id="262" idx="6"/>
            <a:endCxn id="263" idx="2"/>
          </p:cNvCxnSpPr>
          <p:nvPr/>
        </p:nvCxnSpPr>
        <p:spPr>
          <a:xfrm>
            <a:off x="1239013" y="2257200"/>
            <a:ext cx="1936200" cy="0"/>
          </a:xfrm>
          <a:prstGeom prst="straightConnector1">
            <a:avLst/>
          </a:prstGeom>
          <a:noFill/>
          <a:ln cap="flat" cmpd="sng" w="38100">
            <a:solidFill>
              <a:schemeClr val="lt1"/>
            </a:solidFill>
            <a:prstDash val="solid"/>
            <a:round/>
            <a:headEnd len="med" w="med" type="stealth"/>
            <a:tailEnd len="med" w="med" type="none"/>
          </a:ln>
        </p:spPr>
      </p:cxnSp>
      <p:sp>
        <p:nvSpPr>
          <p:cNvPr id="290" name="Google Shape;290;p22"/>
          <p:cNvSpPr txBox="1"/>
          <p:nvPr/>
        </p:nvSpPr>
        <p:spPr>
          <a:xfrm>
            <a:off x="2300913" y="2141425"/>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2</a:t>
            </a:r>
            <a:endParaRPr sz="2400">
              <a:solidFill>
                <a:schemeClr val="lt1"/>
              </a:solidFill>
              <a:latin typeface="Lato"/>
              <a:ea typeface="Lato"/>
              <a:cs typeface="Lato"/>
              <a:sym typeface="Lato"/>
            </a:endParaRPr>
          </a:p>
        </p:txBody>
      </p:sp>
      <p:sp>
        <p:nvSpPr>
          <p:cNvPr id="291" name="Google Shape;291;p22"/>
          <p:cNvSpPr txBox="1"/>
          <p:nvPr/>
        </p:nvSpPr>
        <p:spPr>
          <a:xfrm>
            <a:off x="1937138" y="1462650"/>
            <a:ext cx="54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1</a:t>
            </a:r>
            <a:endParaRPr sz="2400">
              <a:solidFill>
                <a:schemeClr val="lt1"/>
              </a:solidFill>
              <a:latin typeface="Lato"/>
              <a:ea typeface="Lato"/>
              <a:cs typeface="Lato"/>
              <a:sym typeface="Lato"/>
            </a:endParaRPr>
          </a:p>
        </p:txBody>
      </p:sp>
      <p:sp>
        <p:nvSpPr>
          <p:cNvPr id="292" name="Google Shape;292;p22"/>
          <p:cNvSpPr txBox="1"/>
          <p:nvPr/>
        </p:nvSpPr>
        <p:spPr>
          <a:xfrm>
            <a:off x="52717" y="1703088"/>
            <a:ext cx="54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6000">
                <a:solidFill>
                  <a:schemeClr val="lt1"/>
                </a:solidFill>
                <a:latin typeface="Lato"/>
                <a:ea typeface="Lato"/>
                <a:cs typeface="Lato"/>
                <a:sym typeface="Lato"/>
              </a:rPr>
              <a:t>&gt;</a:t>
            </a:r>
            <a:endParaRPr sz="6000">
              <a:solidFill>
                <a:schemeClr val="lt1"/>
              </a:solidFill>
              <a:latin typeface="Lato"/>
              <a:ea typeface="Lato"/>
              <a:cs typeface="Lato"/>
              <a:sym typeface="Lato"/>
            </a:endParaRPr>
          </a:p>
        </p:txBody>
      </p:sp>
      <p:sp>
        <p:nvSpPr>
          <p:cNvPr id="293" name="Google Shape;293;p22"/>
          <p:cNvSpPr txBox="1"/>
          <p:nvPr/>
        </p:nvSpPr>
        <p:spPr>
          <a:xfrm>
            <a:off x="4881656" y="1703088"/>
            <a:ext cx="54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6000">
                <a:solidFill>
                  <a:schemeClr val="lt1"/>
                </a:solidFill>
                <a:latin typeface="Lato"/>
                <a:ea typeface="Lato"/>
                <a:cs typeface="Lato"/>
                <a:sym typeface="Lato"/>
              </a:rPr>
              <a:t>&gt;</a:t>
            </a:r>
            <a:endParaRPr sz="60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Resolución</a:t>
            </a:r>
            <a:endParaRPr/>
          </a:p>
        </p:txBody>
      </p:sp>
      <p:sp>
        <p:nvSpPr>
          <p:cNvPr id="299" name="Google Shape;299;p23"/>
          <p:cNvSpPr/>
          <p:nvPr/>
        </p:nvSpPr>
        <p:spPr>
          <a:xfrm>
            <a:off x="2522150" y="1307850"/>
            <a:ext cx="977700" cy="439500"/>
          </a:xfrm>
          <a:prstGeom prst="bracketPair">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2800">
                <a:solidFill>
                  <a:schemeClr val="lt1"/>
                </a:solidFill>
                <a:latin typeface="Lato"/>
                <a:ea typeface="Lato"/>
                <a:cs typeface="Lato"/>
                <a:sym typeface="Lato"/>
              </a:rPr>
              <a:t>p, A</a:t>
            </a:r>
            <a:endParaRPr sz="2800">
              <a:solidFill>
                <a:schemeClr val="lt1"/>
              </a:solidFill>
              <a:latin typeface="Lato"/>
              <a:ea typeface="Lato"/>
              <a:cs typeface="Lato"/>
              <a:sym typeface="Lato"/>
            </a:endParaRPr>
          </a:p>
        </p:txBody>
      </p:sp>
      <p:sp>
        <p:nvSpPr>
          <p:cNvPr id="300" name="Google Shape;300;p23"/>
          <p:cNvSpPr/>
          <p:nvPr/>
        </p:nvSpPr>
        <p:spPr>
          <a:xfrm>
            <a:off x="1544450" y="2352000"/>
            <a:ext cx="977700" cy="439500"/>
          </a:xfrm>
          <a:prstGeom prst="bracketPair">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2800">
                <a:solidFill>
                  <a:schemeClr val="lt1"/>
                </a:solidFill>
                <a:latin typeface="Lato"/>
                <a:ea typeface="Lato"/>
                <a:cs typeface="Lato"/>
                <a:sym typeface="Lato"/>
              </a:rPr>
              <a:t>q</a:t>
            </a:r>
            <a:r>
              <a:rPr lang="es-419" sz="2800">
                <a:solidFill>
                  <a:schemeClr val="lt1"/>
                </a:solidFill>
                <a:latin typeface="Lato"/>
                <a:ea typeface="Lato"/>
                <a:cs typeface="Lato"/>
                <a:sym typeface="Lato"/>
              </a:rPr>
              <a:t>, A</a:t>
            </a:r>
            <a:endParaRPr sz="2800">
              <a:solidFill>
                <a:schemeClr val="lt1"/>
              </a:solidFill>
              <a:latin typeface="Lato"/>
              <a:ea typeface="Lato"/>
              <a:cs typeface="Lato"/>
              <a:sym typeface="Lato"/>
            </a:endParaRPr>
          </a:p>
        </p:txBody>
      </p:sp>
      <p:sp>
        <p:nvSpPr>
          <p:cNvPr id="301" name="Google Shape;301;p23"/>
          <p:cNvSpPr/>
          <p:nvPr/>
        </p:nvSpPr>
        <p:spPr>
          <a:xfrm>
            <a:off x="3499850" y="2352000"/>
            <a:ext cx="977700" cy="439500"/>
          </a:xfrm>
          <a:prstGeom prst="bracketPair">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2800">
                <a:solidFill>
                  <a:schemeClr val="lt1"/>
                </a:solidFill>
                <a:latin typeface="Lato"/>
                <a:ea typeface="Lato"/>
                <a:cs typeface="Lato"/>
                <a:sym typeface="Lato"/>
              </a:rPr>
              <a:t>r</a:t>
            </a:r>
            <a:r>
              <a:rPr lang="es-419" sz="2800">
                <a:solidFill>
                  <a:schemeClr val="lt1"/>
                </a:solidFill>
                <a:latin typeface="Lato"/>
                <a:ea typeface="Lato"/>
                <a:cs typeface="Lato"/>
                <a:sym typeface="Lato"/>
              </a:rPr>
              <a:t>, B</a:t>
            </a:r>
            <a:endParaRPr sz="2800">
              <a:solidFill>
                <a:schemeClr val="lt1"/>
              </a:solidFill>
              <a:latin typeface="Lato"/>
              <a:ea typeface="Lato"/>
              <a:cs typeface="Lato"/>
              <a:sym typeface="Lato"/>
            </a:endParaRPr>
          </a:p>
        </p:txBody>
      </p:sp>
      <p:cxnSp>
        <p:nvCxnSpPr>
          <p:cNvPr id="302" name="Google Shape;302;p23"/>
          <p:cNvCxnSpPr>
            <a:endCxn id="300" idx="0"/>
          </p:cNvCxnSpPr>
          <p:nvPr/>
        </p:nvCxnSpPr>
        <p:spPr>
          <a:xfrm flipH="1">
            <a:off x="2033300" y="1747200"/>
            <a:ext cx="977700" cy="604800"/>
          </a:xfrm>
          <a:prstGeom prst="straightConnector1">
            <a:avLst/>
          </a:prstGeom>
          <a:noFill/>
          <a:ln cap="flat" cmpd="sng" w="38100">
            <a:solidFill>
              <a:schemeClr val="lt1"/>
            </a:solidFill>
            <a:prstDash val="solid"/>
            <a:round/>
            <a:headEnd len="med" w="med" type="none"/>
            <a:tailEnd len="med" w="med" type="stealth"/>
          </a:ln>
        </p:spPr>
      </p:cxnSp>
      <p:cxnSp>
        <p:nvCxnSpPr>
          <p:cNvPr id="303" name="Google Shape;303;p23"/>
          <p:cNvCxnSpPr>
            <a:stCxn id="299" idx="2"/>
            <a:endCxn id="301" idx="0"/>
          </p:cNvCxnSpPr>
          <p:nvPr/>
        </p:nvCxnSpPr>
        <p:spPr>
          <a:xfrm>
            <a:off x="3011000" y="1747350"/>
            <a:ext cx="977700" cy="604800"/>
          </a:xfrm>
          <a:prstGeom prst="straightConnector1">
            <a:avLst/>
          </a:prstGeom>
          <a:noFill/>
          <a:ln cap="flat" cmpd="sng" w="38100">
            <a:solidFill>
              <a:schemeClr val="lt1"/>
            </a:solidFill>
            <a:prstDash val="solid"/>
            <a:round/>
            <a:headEnd len="med" w="med" type="none"/>
            <a:tailEnd len="med" w="med" type="stealth"/>
          </a:ln>
        </p:spPr>
      </p:cxnSp>
      <p:sp>
        <p:nvSpPr>
          <p:cNvPr id="304" name="Google Shape;304;p23"/>
          <p:cNvSpPr txBox="1"/>
          <p:nvPr/>
        </p:nvSpPr>
        <p:spPr>
          <a:xfrm>
            <a:off x="1303575" y="3514025"/>
            <a:ext cx="4194300" cy="769500"/>
          </a:xfrm>
          <a:prstGeom prst="rect">
            <a:avLst/>
          </a:prstGeom>
          <a:noFill/>
          <a:ln cap="flat" cmpd="sng" w="38100">
            <a:solidFill>
              <a:schemeClr val="accen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sz="1900">
                <a:solidFill>
                  <a:schemeClr val="lt1"/>
                </a:solidFill>
                <a:latin typeface="Lato"/>
                <a:ea typeface="Lato"/>
                <a:cs typeface="Lato"/>
                <a:sym typeface="Lato"/>
              </a:rPr>
              <a:t>r y B no son compatibles. Por lo tanto estos autómatas</a:t>
            </a:r>
            <a:r>
              <a:rPr b="1" i="1" lang="es-419" sz="1900">
                <a:solidFill>
                  <a:schemeClr val="lt1"/>
                </a:solidFill>
                <a:latin typeface="Lato"/>
                <a:ea typeface="Lato"/>
                <a:cs typeface="Lato"/>
                <a:sym typeface="Lato"/>
              </a:rPr>
              <a:t> </a:t>
            </a:r>
            <a:r>
              <a:rPr b="1" i="1" lang="es-419" sz="1900">
                <a:solidFill>
                  <a:schemeClr val="accent2"/>
                </a:solidFill>
                <a:latin typeface="Lato"/>
                <a:ea typeface="Lato"/>
                <a:cs typeface="Lato"/>
                <a:sym typeface="Lato"/>
              </a:rPr>
              <a:t>no son equivalentes</a:t>
            </a:r>
            <a:endParaRPr b="1" i="1" sz="1900">
              <a:solidFill>
                <a:schemeClr val="accent2"/>
              </a:solidFill>
              <a:latin typeface="Lato"/>
              <a:ea typeface="Lato"/>
              <a:cs typeface="Lato"/>
              <a:sym typeface="Lato"/>
            </a:endParaRPr>
          </a:p>
        </p:txBody>
      </p:sp>
      <p:pic>
        <p:nvPicPr>
          <p:cNvPr id="305" name="Google Shape;305;p23"/>
          <p:cNvPicPr preferRelativeResize="0"/>
          <p:nvPr/>
        </p:nvPicPr>
        <p:blipFill rotWithShape="1">
          <a:blip r:embed="rId3">
            <a:alphaModFix/>
          </a:blip>
          <a:srcRect b="0" l="55335" r="0" t="0"/>
          <a:stretch/>
        </p:blipFill>
        <p:spPr>
          <a:xfrm>
            <a:off x="6680362" y="3174750"/>
            <a:ext cx="1948125" cy="1840300"/>
          </a:xfrm>
          <a:prstGeom prst="rect">
            <a:avLst/>
          </a:prstGeom>
          <a:noFill/>
          <a:ln>
            <a:noFill/>
          </a:ln>
        </p:spPr>
      </p:pic>
      <p:pic>
        <p:nvPicPr>
          <p:cNvPr id="306" name="Google Shape;306;p23"/>
          <p:cNvPicPr preferRelativeResize="0"/>
          <p:nvPr/>
        </p:nvPicPr>
        <p:blipFill rotWithShape="1">
          <a:blip r:embed="rId3">
            <a:alphaModFix/>
          </a:blip>
          <a:srcRect b="0" l="0" r="52987" t="14712"/>
          <a:stretch/>
        </p:blipFill>
        <p:spPr>
          <a:xfrm>
            <a:off x="6306550" y="1111275"/>
            <a:ext cx="2695750" cy="2063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Ejemplo 2</a:t>
            </a:r>
            <a:endParaRPr/>
          </a:p>
        </p:txBody>
      </p:sp>
      <p:sp>
        <p:nvSpPr>
          <p:cNvPr id="312" name="Google Shape;312;p24"/>
          <p:cNvSpPr/>
          <p:nvPr/>
        </p:nvSpPr>
        <p:spPr>
          <a:xfrm>
            <a:off x="983988" y="2526425"/>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3000">
              <a:latin typeface="Lato"/>
              <a:ea typeface="Lato"/>
              <a:cs typeface="Lato"/>
              <a:sym typeface="Lato"/>
            </a:endParaRPr>
          </a:p>
        </p:txBody>
      </p:sp>
      <p:sp>
        <p:nvSpPr>
          <p:cNvPr id="313" name="Google Shape;313;p24"/>
          <p:cNvSpPr/>
          <p:nvPr/>
        </p:nvSpPr>
        <p:spPr>
          <a:xfrm>
            <a:off x="3600363" y="2526425"/>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1</a:t>
            </a:r>
            <a:endParaRPr b="1" sz="3000">
              <a:latin typeface="Lato"/>
              <a:ea typeface="Lato"/>
              <a:cs typeface="Lato"/>
              <a:sym typeface="Lato"/>
            </a:endParaRPr>
          </a:p>
        </p:txBody>
      </p:sp>
      <p:sp>
        <p:nvSpPr>
          <p:cNvPr id="314" name="Google Shape;314;p24"/>
          <p:cNvSpPr/>
          <p:nvPr/>
        </p:nvSpPr>
        <p:spPr>
          <a:xfrm>
            <a:off x="2655938" y="4001500"/>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5" name="Google Shape;315;p24"/>
          <p:cNvSpPr/>
          <p:nvPr/>
        </p:nvSpPr>
        <p:spPr>
          <a:xfrm>
            <a:off x="2725988" y="4071574"/>
            <a:ext cx="540000" cy="5400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2</a:t>
            </a:r>
            <a:endParaRPr b="1" sz="3000">
              <a:latin typeface="Lato"/>
              <a:ea typeface="Lato"/>
              <a:cs typeface="Lato"/>
              <a:sym typeface="Lato"/>
            </a:endParaRPr>
          </a:p>
        </p:txBody>
      </p:sp>
      <p:sp>
        <p:nvSpPr>
          <p:cNvPr id="316" name="Google Shape;316;p24"/>
          <p:cNvSpPr/>
          <p:nvPr/>
        </p:nvSpPr>
        <p:spPr>
          <a:xfrm>
            <a:off x="5798488" y="2526425"/>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3000">
              <a:latin typeface="Lato"/>
              <a:ea typeface="Lato"/>
              <a:cs typeface="Lato"/>
              <a:sym typeface="Lato"/>
            </a:endParaRPr>
          </a:p>
        </p:txBody>
      </p:sp>
      <p:sp>
        <p:nvSpPr>
          <p:cNvPr id="317" name="Google Shape;317;p24"/>
          <p:cNvSpPr/>
          <p:nvPr/>
        </p:nvSpPr>
        <p:spPr>
          <a:xfrm>
            <a:off x="7827013" y="2526425"/>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1</a:t>
            </a:r>
            <a:endParaRPr b="1" sz="3000">
              <a:latin typeface="Lato"/>
              <a:ea typeface="Lato"/>
              <a:cs typeface="Lato"/>
              <a:sym typeface="Lato"/>
            </a:endParaRPr>
          </a:p>
        </p:txBody>
      </p:sp>
      <p:sp>
        <p:nvSpPr>
          <p:cNvPr id="318" name="Google Shape;318;p24"/>
          <p:cNvSpPr/>
          <p:nvPr/>
        </p:nvSpPr>
        <p:spPr>
          <a:xfrm>
            <a:off x="7656983" y="2051033"/>
            <a:ext cx="447500" cy="541950"/>
          </a:xfrm>
          <a:custGeom>
            <a:rect b="b" l="l" r="r" t="t"/>
            <a:pathLst>
              <a:path extrusionOk="0" h="21678" w="17900">
                <a:moveTo>
                  <a:pt x="9682" y="21679"/>
                </a:moveTo>
                <a:cubicBezTo>
                  <a:pt x="8548" y="20829"/>
                  <a:pt x="4486" y="18562"/>
                  <a:pt x="2880" y="16578"/>
                </a:cubicBezTo>
                <a:cubicBezTo>
                  <a:pt x="1274" y="14594"/>
                  <a:pt x="141" y="12233"/>
                  <a:pt x="47" y="9777"/>
                </a:cubicBezTo>
                <a:cubicBezTo>
                  <a:pt x="-47" y="7321"/>
                  <a:pt x="992" y="3448"/>
                  <a:pt x="2314" y="1842"/>
                </a:cubicBezTo>
                <a:cubicBezTo>
                  <a:pt x="3636" y="236"/>
                  <a:pt x="5997" y="-141"/>
                  <a:pt x="7981" y="142"/>
                </a:cubicBezTo>
                <a:cubicBezTo>
                  <a:pt x="9965" y="425"/>
                  <a:pt x="12610" y="1464"/>
                  <a:pt x="14216" y="3542"/>
                </a:cubicBezTo>
                <a:cubicBezTo>
                  <a:pt x="15822" y="5620"/>
                  <a:pt x="17050" y="10061"/>
                  <a:pt x="17617" y="12611"/>
                </a:cubicBezTo>
                <a:cubicBezTo>
                  <a:pt x="18184" y="15162"/>
                  <a:pt x="17617" y="17806"/>
                  <a:pt x="17617" y="18845"/>
                </a:cubicBezTo>
              </a:path>
            </a:pathLst>
          </a:custGeom>
          <a:noFill/>
          <a:ln cap="flat" cmpd="sng" w="38100">
            <a:solidFill>
              <a:schemeClr val="lt1"/>
            </a:solidFill>
            <a:prstDash val="solid"/>
            <a:round/>
            <a:headEnd len="med" w="med" type="none"/>
            <a:tailEnd len="med" w="med" type="stealth"/>
          </a:ln>
        </p:spPr>
      </p:sp>
      <p:sp>
        <p:nvSpPr>
          <p:cNvPr id="319" name="Google Shape;319;p24"/>
          <p:cNvSpPr txBox="1"/>
          <p:nvPr/>
        </p:nvSpPr>
        <p:spPr>
          <a:xfrm>
            <a:off x="7540688" y="1496925"/>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x,y</a:t>
            </a:r>
            <a:endParaRPr sz="2400">
              <a:solidFill>
                <a:schemeClr val="lt1"/>
              </a:solidFill>
              <a:latin typeface="Lato"/>
              <a:ea typeface="Lato"/>
              <a:cs typeface="Lato"/>
              <a:sym typeface="Lato"/>
            </a:endParaRPr>
          </a:p>
        </p:txBody>
      </p:sp>
      <p:cxnSp>
        <p:nvCxnSpPr>
          <p:cNvPr id="320" name="Google Shape;320;p24"/>
          <p:cNvCxnSpPr>
            <a:stCxn id="316" idx="6"/>
            <a:endCxn id="317" idx="2"/>
          </p:cNvCxnSpPr>
          <p:nvPr/>
        </p:nvCxnSpPr>
        <p:spPr>
          <a:xfrm>
            <a:off x="6478588" y="2866475"/>
            <a:ext cx="1348500" cy="0"/>
          </a:xfrm>
          <a:prstGeom prst="straightConnector1">
            <a:avLst/>
          </a:prstGeom>
          <a:noFill/>
          <a:ln cap="flat" cmpd="sng" w="38100">
            <a:solidFill>
              <a:schemeClr val="lt1"/>
            </a:solidFill>
            <a:prstDash val="solid"/>
            <a:round/>
            <a:headEnd len="med" w="med" type="none"/>
            <a:tailEnd len="med" w="med" type="stealth"/>
          </a:ln>
        </p:spPr>
      </p:cxnSp>
      <p:sp>
        <p:nvSpPr>
          <p:cNvPr id="321" name="Google Shape;321;p24"/>
          <p:cNvSpPr txBox="1"/>
          <p:nvPr/>
        </p:nvSpPr>
        <p:spPr>
          <a:xfrm>
            <a:off x="6812750" y="2348975"/>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y</a:t>
            </a:r>
            <a:endParaRPr sz="2400">
              <a:solidFill>
                <a:schemeClr val="lt1"/>
              </a:solidFill>
              <a:latin typeface="Lato"/>
              <a:ea typeface="Lato"/>
              <a:cs typeface="Lato"/>
              <a:sym typeface="Lato"/>
            </a:endParaRPr>
          </a:p>
        </p:txBody>
      </p:sp>
      <p:sp>
        <p:nvSpPr>
          <p:cNvPr id="322" name="Google Shape;322;p24"/>
          <p:cNvSpPr txBox="1"/>
          <p:nvPr/>
        </p:nvSpPr>
        <p:spPr>
          <a:xfrm>
            <a:off x="5539600" y="1611750"/>
            <a:ext cx="54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p:txBody>
      </p:sp>
      <p:sp>
        <p:nvSpPr>
          <p:cNvPr id="323" name="Google Shape;323;p24"/>
          <p:cNvSpPr/>
          <p:nvPr/>
        </p:nvSpPr>
        <p:spPr>
          <a:xfrm>
            <a:off x="5798483" y="2051033"/>
            <a:ext cx="447500" cy="541950"/>
          </a:xfrm>
          <a:custGeom>
            <a:rect b="b" l="l" r="r" t="t"/>
            <a:pathLst>
              <a:path extrusionOk="0" h="21678" w="17900">
                <a:moveTo>
                  <a:pt x="9682" y="21679"/>
                </a:moveTo>
                <a:cubicBezTo>
                  <a:pt x="8548" y="20829"/>
                  <a:pt x="4486" y="18562"/>
                  <a:pt x="2880" y="16578"/>
                </a:cubicBezTo>
                <a:cubicBezTo>
                  <a:pt x="1274" y="14594"/>
                  <a:pt x="141" y="12233"/>
                  <a:pt x="47" y="9777"/>
                </a:cubicBezTo>
                <a:cubicBezTo>
                  <a:pt x="-47" y="7321"/>
                  <a:pt x="992" y="3448"/>
                  <a:pt x="2314" y="1842"/>
                </a:cubicBezTo>
                <a:cubicBezTo>
                  <a:pt x="3636" y="236"/>
                  <a:pt x="5997" y="-141"/>
                  <a:pt x="7981" y="142"/>
                </a:cubicBezTo>
                <a:cubicBezTo>
                  <a:pt x="9965" y="425"/>
                  <a:pt x="12610" y="1464"/>
                  <a:pt x="14216" y="3542"/>
                </a:cubicBezTo>
                <a:cubicBezTo>
                  <a:pt x="15822" y="5620"/>
                  <a:pt x="17050" y="10061"/>
                  <a:pt x="17617" y="12611"/>
                </a:cubicBezTo>
                <a:cubicBezTo>
                  <a:pt x="18184" y="15162"/>
                  <a:pt x="17617" y="17806"/>
                  <a:pt x="17617" y="18845"/>
                </a:cubicBezTo>
              </a:path>
            </a:pathLst>
          </a:custGeom>
          <a:noFill/>
          <a:ln cap="flat" cmpd="sng" w="38100">
            <a:solidFill>
              <a:schemeClr val="lt1"/>
            </a:solidFill>
            <a:prstDash val="solid"/>
            <a:round/>
            <a:headEnd len="med" w="med" type="none"/>
            <a:tailEnd len="med" w="med" type="stealth"/>
          </a:ln>
        </p:spPr>
      </p:sp>
      <p:cxnSp>
        <p:nvCxnSpPr>
          <p:cNvPr id="324" name="Google Shape;324;p24"/>
          <p:cNvCxnSpPr>
            <a:stCxn id="313" idx="4"/>
            <a:endCxn id="314" idx="7"/>
          </p:cNvCxnSpPr>
          <p:nvPr/>
        </p:nvCxnSpPr>
        <p:spPr>
          <a:xfrm flipH="1">
            <a:off x="3236313" y="3206525"/>
            <a:ext cx="704100" cy="894600"/>
          </a:xfrm>
          <a:prstGeom prst="straightConnector1">
            <a:avLst/>
          </a:prstGeom>
          <a:noFill/>
          <a:ln cap="flat" cmpd="sng" w="38100">
            <a:solidFill>
              <a:schemeClr val="lt1"/>
            </a:solidFill>
            <a:prstDash val="solid"/>
            <a:round/>
            <a:headEnd len="med" w="med" type="stealth"/>
            <a:tailEnd len="med" w="med" type="none"/>
          </a:ln>
        </p:spPr>
      </p:cxnSp>
      <p:sp>
        <p:nvSpPr>
          <p:cNvPr id="325" name="Google Shape;325;p24"/>
          <p:cNvSpPr txBox="1"/>
          <p:nvPr/>
        </p:nvSpPr>
        <p:spPr>
          <a:xfrm>
            <a:off x="3508400" y="3567100"/>
            <a:ext cx="54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y</a:t>
            </a:r>
            <a:endParaRPr sz="2400">
              <a:solidFill>
                <a:schemeClr val="lt1"/>
              </a:solidFill>
              <a:latin typeface="Lato"/>
              <a:ea typeface="Lato"/>
              <a:cs typeface="Lato"/>
              <a:sym typeface="Lato"/>
            </a:endParaRPr>
          </a:p>
        </p:txBody>
      </p:sp>
      <p:sp>
        <p:nvSpPr>
          <p:cNvPr id="326" name="Google Shape;326;p24"/>
          <p:cNvSpPr/>
          <p:nvPr/>
        </p:nvSpPr>
        <p:spPr>
          <a:xfrm rot="3518529">
            <a:off x="3997185" y="2115800"/>
            <a:ext cx="447430" cy="541865"/>
          </a:xfrm>
          <a:custGeom>
            <a:rect b="b" l="l" r="r" t="t"/>
            <a:pathLst>
              <a:path extrusionOk="0" h="21678" w="17900">
                <a:moveTo>
                  <a:pt x="9682" y="21679"/>
                </a:moveTo>
                <a:cubicBezTo>
                  <a:pt x="8548" y="20829"/>
                  <a:pt x="4486" y="18562"/>
                  <a:pt x="2880" y="16578"/>
                </a:cubicBezTo>
                <a:cubicBezTo>
                  <a:pt x="1274" y="14594"/>
                  <a:pt x="141" y="12233"/>
                  <a:pt x="47" y="9777"/>
                </a:cubicBezTo>
                <a:cubicBezTo>
                  <a:pt x="-47" y="7321"/>
                  <a:pt x="992" y="3448"/>
                  <a:pt x="2314" y="1842"/>
                </a:cubicBezTo>
                <a:cubicBezTo>
                  <a:pt x="3636" y="236"/>
                  <a:pt x="5997" y="-141"/>
                  <a:pt x="7981" y="142"/>
                </a:cubicBezTo>
                <a:cubicBezTo>
                  <a:pt x="9965" y="425"/>
                  <a:pt x="12610" y="1464"/>
                  <a:pt x="14216" y="3542"/>
                </a:cubicBezTo>
                <a:cubicBezTo>
                  <a:pt x="15822" y="5620"/>
                  <a:pt x="17050" y="10061"/>
                  <a:pt x="17617" y="12611"/>
                </a:cubicBezTo>
                <a:cubicBezTo>
                  <a:pt x="18184" y="15162"/>
                  <a:pt x="17617" y="17806"/>
                  <a:pt x="17617" y="18845"/>
                </a:cubicBezTo>
              </a:path>
            </a:pathLst>
          </a:custGeom>
          <a:noFill/>
          <a:ln cap="flat" cmpd="sng" w="38100">
            <a:solidFill>
              <a:schemeClr val="lt1"/>
            </a:solidFill>
            <a:prstDash val="solid"/>
            <a:round/>
            <a:headEnd len="med" w="med" type="none"/>
            <a:tailEnd len="med" w="med" type="stealth"/>
          </a:ln>
        </p:spPr>
      </p:sp>
      <p:cxnSp>
        <p:nvCxnSpPr>
          <p:cNvPr id="327" name="Google Shape;327;p24"/>
          <p:cNvCxnSpPr>
            <a:stCxn id="312" idx="4"/>
            <a:endCxn id="314" idx="2"/>
          </p:cNvCxnSpPr>
          <p:nvPr/>
        </p:nvCxnSpPr>
        <p:spPr>
          <a:xfrm>
            <a:off x="1324038" y="3206525"/>
            <a:ext cx="1332000" cy="1134900"/>
          </a:xfrm>
          <a:prstGeom prst="straightConnector1">
            <a:avLst/>
          </a:prstGeom>
          <a:noFill/>
          <a:ln cap="flat" cmpd="sng" w="38100">
            <a:solidFill>
              <a:schemeClr val="lt1"/>
            </a:solidFill>
            <a:prstDash val="solid"/>
            <a:round/>
            <a:headEnd len="med" w="med" type="none"/>
            <a:tailEnd len="med" w="med" type="stealth"/>
          </a:ln>
        </p:spPr>
      </p:cxnSp>
      <p:sp>
        <p:nvSpPr>
          <p:cNvPr id="328" name="Google Shape;328;p24"/>
          <p:cNvSpPr txBox="1"/>
          <p:nvPr/>
        </p:nvSpPr>
        <p:spPr>
          <a:xfrm>
            <a:off x="1641463" y="3661000"/>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p:txBody>
      </p:sp>
      <p:cxnSp>
        <p:nvCxnSpPr>
          <p:cNvPr id="329" name="Google Shape;329;p24"/>
          <p:cNvCxnSpPr>
            <a:stCxn id="314" idx="0"/>
            <a:endCxn id="312" idx="6"/>
          </p:cNvCxnSpPr>
          <p:nvPr/>
        </p:nvCxnSpPr>
        <p:spPr>
          <a:xfrm rot="10800000">
            <a:off x="1663988" y="2866600"/>
            <a:ext cx="1332000" cy="1134900"/>
          </a:xfrm>
          <a:prstGeom prst="straightConnector1">
            <a:avLst/>
          </a:prstGeom>
          <a:noFill/>
          <a:ln cap="flat" cmpd="sng" w="38100">
            <a:solidFill>
              <a:schemeClr val="lt1"/>
            </a:solidFill>
            <a:prstDash val="solid"/>
            <a:round/>
            <a:headEnd len="med" w="med" type="none"/>
            <a:tailEnd len="med" w="med" type="stealth"/>
          </a:ln>
        </p:spPr>
      </p:cxnSp>
      <p:sp>
        <p:nvSpPr>
          <p:cNvPr id="330" name="Google Shape;330;p24"/>
          <p:cNvSpPr txBox="1"/>
          <p:nvPr/>
        </p:nvSpPr>
        <p:spPr>
          <a:xfrm>
            <a:off x="2362238" y="3071750"/>
            <a:ext cx="54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p:txBody>
      </p:sp>
      <p:cxnSp>
        <p:nvCxnSpPr>
          <p:cNvPr id="331" name="Google Shape;331;p24"/>
          <p:cNvCxnSpPr>
            <a:stCxn id="312" idx="7"/>
            <a:endCxn id="313" idx="1"/>
          </p:cNvCxnSpPr>
          <p:nvPr/>
        </p:nvCxnSpPr>
        <p:spPr>
          <a:xfrm>
            <a:off x="1564489" y="2626023"/>
            <a:ext cx="2135400" cy="0"/>
          </a:xfrm>
          <a:prstGeom prst="straightConnector1">
            <a:avLst/>
          </a:prstGeom>
          <a:noFill/>
          <a:ln cap="flat" cmpd="sng" w="38100">
            <a:solidFill>
              <a:schemeClr val="lt1"/>
            </a:solidFill>
            <a:prstDash val="solid"/>
            <a:round/>
            <a:headEnd len="med" w="med" type="none"/>
            <a:tailEnd len="med" w="med" type="stealth"/>
          </a:ln>
        </p:spPr>
      </p:cxnSp>
      <p:sp>
        <p:nvSpPr>
          <p:cNvPr id="332" name="Google Shape;332;p24"/>
          <p:cNvSpPr txBox="1"/>
          <p:nvPr/>
        </p:nvSpPr>
        <p:spPr>
          <a:xfrm>
            <a:off x="4442288" y="1758275"/>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x,y</a:t>
            </a:r>
            <a:endParaRPr sz="2400">
              <a:solidFill>
                <a:schemeClr val="lt1"/>
              </a:solidFill>
              <a:latin typeface="Lato"/>
              <a:ea typeface="Lato"/>
              <a:cs typeface="Lato"/>
              <a:sym typeface="Lato"/>
            </a:endParaRPr>
          </a:p>
        </p:txBody>
      </p:sp>
      <p:sp>
        <p:nvSpPr>
          <p:cNvPr id="333" name="Google Shape;333;p24"/>
          <p:cNvSpPr txBox="1"/>
          <p:nvPr/>
        </p:nvSpPr>
        <p:spPr>
          <a:xfrm>
            <a:off x="2362213" y="2071925"/>
            <a:ext cx="54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y</a:t>
            </a:r>
            <a:endParaRPr sz="2400">
              <a:solidFill>
                <a:schemeClr val="lt1"/>
              </a:solidFill>
              <a:latin typeface="Lato"/>
              <a:ea typeface="Lato"/>
              <a:cs typeface="Lato"/>
              <a:sym typeface="Lato"/>
            </a:endParaRPr>
          </a:p>
        </p:txBody>
      </p:sp>
      <p:sp>
        <p:nvSpPr>
          <p:cNvPr id="334" name="Google Shape;334;p24"/>
          <p:cNvSpPr/>
          <p:nvPr/>
        </p:nvSpPr>
        <p:spPr>
          <a:xfrm>
            <a:off x="1054038" y="2596474"/>
            <a:ext cx="540000" cy="5400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0</a:t>
            </a:r>
            <a:endParaRPr b="1" sz="3000">
              <a:latin typeface="Lato"/>
              <a:ea typeface="Lato"/>
              <a:cs typeface="Lato"/>
              <a:sym typeface="Lato"/>
            </a:endParaRPr>
          </a:p>
        </p:txBody>
      </p:sp>
      <p:sp>
        <p:nvSpPr>
          <p:cNvPr id="335" name="Google Shape;335;p24"/>
          <p:cNvSpPr/>
          <p:nvPr/>
        </p:nvSpPr>
        <p:spPr>
          <a:xfrm>
            <a:off x="5868550" y="2596474"/>
            <a:ext cx="540000" cy="5400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s-419" sz="3000">
                <a:latin typeface="Lato"/>
                <a:ea typeface="Lato"/>
                <a:cs typeface="Lato"/>
                <a:sym typeface="Lato"/>
              </a:rPr>
              <a:t>0</a:t>
            </a:r>
            <a:endParaRPr b="1" sz="3000">
              <a:latin typeface="Lato"/>
              <a:ea typeface="Lato"/>
              <a:cs typeface="Lato"/>
              <a:sym typeface="Lato"/>
            </a:endParaRPr>
          </a:p>
        </p:txBody>
      </p:sp>
      <p:sp>
        <p:nvSpPr>
          <p:cNvPr id="336" name="Google Shape;336;p24"/>
          <p:cNvSpPr txBox="1"/>
          <p:nvPr/>
        </p:nvSpPr>
        <p:spPr>
          <a:xfrm>
            <a:off x="491961" y="2312363"/>
            <a:ext cx="54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6000">
                <a:solidFill>
                  <a:schemeClr val="lt1"/>
                </a:solidFill>
                <a:latin typeface="Lato"/>
                <a:ea typeface="Lato"/>
                <a:cs typeface="Lato"/>
                <a:sym typeface="Lato"/>
              </a:rPr>
              <a:t>&gt;</a:t>
            </a:r>
            <a:endParaRPr sz="6000">
              <a:solidFill>
                <a:schemeClr val="lt1"/>
              </a:solidFill>
              <a:latin typeface="Lato"/>
              <a:ea typeface="Lato"/>
              <a:cs typeface="Lato"/>
              <a:sym typeface="Lato"/>
            </a:endParaRPr>
          </a:p>
        </p:txBody>
      </p:sp>
      <p:sp>
        <p:nvSpPr>
          <p:cNvPr id="337" name="Google Shape;337;p24"/>
          <p:cNvSpPr txBox="1"/>
          <p:nvPr/>
        </p:nvSpPr>
        <p:spPr>
          <a:xfrm>
            <a:off x="5320900" y="2312363"/>
            <a:ext cx="54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6000">
                <a:solidFill>
                  <a:schemeClr val="lt1"/>
                </a:solidFill>
                <a:latin typeface="Lato"/>
                <a:ea typeface="Lato"/>
                <a:cs typeface="Lato"/>
                <a:sym typeface="Lato"/>
              </a:rPr>
              <a:t>&gt;</a:t>
            </a:r>
            <a:endParaRPr sz="60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Resolución</a:t>
            </a:r>
            <a:endParaRPr/>
          </a:p>
        </p:txBody>
      </p:sp>
      <p:sp>
        <p:nvSpPr>
          <p:cNvPr id="343" name="Google Shape;343;p25"/>
          <p:cNvSpPr/>
          <p:nvPr/>
        </p:nvSpPr>
        <p:spPr>
          <a:xfrm>
            <a:off x="2522150" y="1307850"/>
            <a:ext cx="977700" cy="439500"/>
          </a:xfrm>
          <a:prstGeom prst="bracketPair">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2800">
                <a:solidFill>
                  <a:schemeClr val="lt1"/>
                </a:solidFill>
                <a:latin typeface="Lato"/>
                <a:ea typeface="Lato"/>
                <a:cs typeface="Lato"/>
                <a:sym typeface="Lato"/>
              </a:rPr>
              <a:t>x, x</a:t>
            </a:r>
            <a:endParaRPr sz="2800">
              <a:solidFill>
                <a:schemeClr val="lt1"/>
              </a:solidFill>
              <a:latin typeface="Lato"/>
              <a:ea typeface="Lato"/>
              <a:cs typeface="Lato"/>
              <a:sym typeface="Lato"/>
            </a:endParaRPr>
          </a:p>
        </p:txBody>
      </p:sp>
      <p:sp>
        <p:nvSpPr>
          <p:cNvPr id="344" name="Google Shape;344;p25"/>
          <p:cNvSpPr/>
          <p:nvPr/>
        </p:nvSpPr>
        <p:spPr>
          <a:xfrm>
            <a:off x="1544450" y="2352000"/>
            <a:ext cx="977700" cy="439500"/>
          </a:xfrm>
          <a:prstGeom prst="bracketPair">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2800">
                <a:solidFill>
                  <a:schemeClr val="lt1"/>
                </a:solidFill>
                <a:latin typeface="Lato"/>
                <a:ea typeface="Lato"/>
                <a:cs typeface="Lato"/>
                <a:sym typeface="Lato"/>
              </a:rPr>
              <a:t>x, x</a:t>
            </a:r>
            <a:endParaRPr sz="2800">
              <a:solidFill>
                <a:schemeClr val="lt1"/>
              </a:solidFill>
              <a:latin typeface="Lato"/>
              <a:ea typeface="Lato"/>
              <a:cs typeface="Lato"/>
              <a:sym typeface="Lato"/>
            </a:endParaRPr>
          </a:p>
        </p:txBody>
      </p:sp>
      <p:sp>
        <p:nvSpPr>
          <p:cNvPr id="345" name="Google Shape;345;p25"/>
          <p:cNvSpPr/>
          <p:nvPr/>
        </p:nvSpPr>
        <p:spPr>
          <a:xfrm>
            <a:off x="3499850" y="2352000"/>
            <a:ext cx="977700" cy="439500"/>
          </a:xfrm>
          <a:prstGeom prst="bracketPair">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2800">
                <a:solidFill>
                  <a:schemeClr val="lt1"/>
                </a:solidFill>
                <a:latin typeface="Lato"/>
                <a:ea typeface="Lato"/>
                <a:cs typeface="Lato"/>
                <a:sym typeface="Lato"/>
              </a:rPr>
              <a:t>x, x</a:t>
            </a:r>
            <a:endParaRPr sz="2800">
              <a:solidFill>
                <a:schemeClr val="lt1"/>
              </a:solidFill>
              <a:latin typeface="Lato"/>
              <a:ea typeface="Lato"/>
              <a:cs typeface="Lato"/>
              <a:sym typeface="Lato"/>
            </a:endParaRPr>
          </a:p>
        </p:txBody>
      </p:sp>
      <p:cxnSp>
        <p:nvCxnSpPr>
          <p:cNvPr id="346" name="Google Shape;346;p25"/>
          <p:cNvCxnSpPr>
            <a:endCxn id="344" idx="0"/>
          </p:cNvCxnSpPr>
          <p:nvPr/>
        </p:nvCxnSpPr>
        <p:spPr>
          <a:xfrm flipH="1">
            <a:off x="2033300" y="1747200"/>
            <a:ext cx="977700" cy="604800"/>
          </a:xfrm>
          <a:prstGeom prst="straightConnector1">
            <a:avLst/>
          </a:prstGeom>
          <a:noFill/>
          <a:ln cap="flat" cmpd="sng" w="38100">
            <a:solidFill>
              <a:schemeClr val="lt1"/>
            </a:solidFill>
            <a:prstDash val="solid"/>
            <a:round/>
            <a:headEnd len="med" w="med" type="none"/>
            <a:tailEnd len="med" w="med" type="stealth"/>
          </a:ln>
        </p:spPr>
      </p:cxnSp>
      <p:cxnSp>
        <p:nvCxnSpPr>
          <p:cNvPr id="347" name="Google Shape;347;p25"/>
          <p:cNvCxnSpPr>
            <a:stCxn id="343" idx="2"/>
            <a:endCxn id="345" idx="0"/>
          </p:cNvCxnSpPr>
          <p:nvPr/>
        </p:nvCxnSpPr>
        <p:spPr>
          <a:xfrm>
            <a:off x="3011000" y="1747350"/>
            <a:ext cx="977700" cy="604800"/>
          </a:xfrm>
          <a:prstGeom prst="straightConnector1">
            <a:avLst/>
          </a:prstGeom>
          <a:noFill/>
          <a:ln cap="flat" cmpd="sng" w="38100">
            <a:solidFill>
              <a:schemeClr val="lt1"/>
            </a:solidFill>
            <a:prstDash val="solid"/>
            <a:round/>
            <a:headEnd len="med" w="med" type="none"/>
            <a:tailEnd len="med" w="med" type="stealth"/>
          </a:ln>
        </p:spPr>
      </p:cxnSp>
      <p:pic>
        <p:nvPicPr>
          <p:cNvPr id="348" name="Google Shape;348;p25"/>
          <p:cNvPicPr preferRelativeResize="0"/>
          <p:nvPr/>
        </p:nvPicPr>
        <p:blipFill rotWithShape="1">
          <a:blip r:embed="rId3">
            <a:alphaModFix/>
          </a:blip>
          <a:srcRect b="6235" l="0" r="43566" t="0"/>
          <a:stretch/>
        </p:blipFill>
        <p:spPr>
          <a:xfrm>
            <a:off x="6316125" y="815125"/>
            <a:ext cx="2738150" cy="1919575"/>
          </a:xfrm>
          <a:prstGeom prst="rect">
            <a:avLst/>
          </a:prstGeom>
          <a:noFill/>
          <a:ln>
            <a:noFill/>
          </a:ln>
        </p:spPr>
      </p:pic>
      <p:pic>
        <p:nvPicPr>
          <p:cNvPr id="349" name="Google Shape;349;p25"/>
          <p:cNvPicPr preferRelativeResize="0"/>
          <p:nvPr/>
        </p:nvPicPr>
        <p:blipFill rotWithShape="1">
          <a:blip r:embed="rId3">
            <a:alphaModFix/>
          </a:blip>
          <a:srcRect b="36684" l="56724" r="0" t="0"/>
          <a:stretch/>
        </p:blipFill>
        <p:spPr>
          <a:xfrm>
            <a:off x="6635350" y="2982950"/>
            <a:ext cx="2099701" cy="1296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Minimización</a:t>
            </a:r>
            <a:endParaRPr/>
          </a:p>
        </p:txBody>
      </p:sp>
      <p:sp>
        <p:nvSpPr>
          <p:cNvPr id="355" name="Google Shape;355;p26"/>
          <p:cNvSpPr txBox="1"/>
          <p:nvPr>
            <p:ph idx="1" type="body"/>
          </p:nvPr>
        </p:nvSpPr>
        <p:spPr>
          <a:xfrm>
            <a:off x="1297500" y="929925"/>
            <a:ext cx="7038900" cy="4086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800"/>
              <a:t>La minimización es un método que permite simplificar un AFD de forma que cumpla su función con la menor cantidad de estados posible. Cuando esto se logra decimos que obtuvimos la solución </a:t>
            </a:r>
            <a:r>
              <a:rPr b="1" i="1" lang="es-419" sz="1800">
                <a:solidFill>
                  <a:schemeClr val="accent2"/>
                </a:solidFill>
              </a:rPr>
              <a:t>óptima</a:t>
            </a:r>
            <a:r>
              <a:rPr lang="es-419" sz="1800"/>
              <a:t>.</a:t>
            </a:r>
            <a:endParaRPr sz="1800"/>
          </a:p>
          <a:p>
            <a:pPr indent="0" lvl="0" marL="0" rtl="0" algn="just">
              <a:spcBef>
                <a:spcPts val="1600"/>
              </a:spcBef>
              <a:spcAft>
                <a:spcPts val="0"/>
              </a:spcAft>
              <a:buNone/>
            </a:pPr>
            <a:r>
              <a:rPr lang="es-419" sz="1800"/>
              <a:t>El procedimiento consiste en buscar estados inaccesibles y estados indistinguibles y eliminarlos. </a:t>
            </a:r>
            <a:endParaRPr sz="1800"/>
          </a:p>
          <a:p>
            <a:pPr indent="0" lvl="0" marL="0" rtl="0" algn="just">
              <a:spcBef>
                <a:spcPts val="1600"/>
              </a:spcBef>
              <a:spcAft>
                <a:spcPts val="0"/>
              </a:spcAft>
              <a:buNone/>
            </a:pPr>
            <a:r>
              <a:rPr lang="es-419" sz="1800"/>
              <a:t>Se le llama </a:t>
            </a:r>
            <a:r>
              <a:rPr b="1" i="1" lang="es-419" sz="1800">
                <a:solidFill>
                  <a:schemeClr val="accent2"/>
                </a:solidFill>
              </a:rPr>
              <a:t>estado inaccesible</a:t>
            </a:r>
            <a:r>
              <a:rPr lang="es-419" sz="1800"/>
              <a:t> a aquel al cual no se puede llegar por ningún camino. </a:t>
            </a:r>
            <a:endParaRPr sz="1800"/>
          </a:p>
          <a:p>
            <a:pPr indent="0" lvl="0" marL="0" rtl="0" algn="just">
              <a:spcBef>
                <a:spcPts val="1600"/>
              </a:spcBef>
              <a:spcAft>
                <a:spcPts val="0"/>
              </a:spcAft>
              <a:buNone/>
            </a:pPr>
            <a:r>
              <a:rPr lang="es-419" sz="1800"/>
              <a:t>Decimos que dos estados son</a:t>
            </a:r>
            <a:r>
              <a:rPr b="1" i="1" lang="es-419" sz="1800"/>
              <a:t> </a:t>
            </a:r>
            <a:r>
              <a:rPr b="1" i="1" lang="es-419" sz="1800">
                <a:solidFill>
                  <a:schemeClr val="accent2"/>
                </a:solidFill>
              </a:rPr>
              <a:t>indistinguibles</a:t>
            </a:r>
            <a:r>
              <a:rPr lang="es-419" sz="1800"/>
              <a:t>, cuando son del mismo tipo y a su vez, llegan a estados del mismo tipo con las mismas transiciones. </a:t>
            </a:r>
            <a:endParaRPr sz="1800"/>
          </a:p>
          <a:p>
            <a:pPr indent="0" lvl="0" marL="0" rtl="0" algn="just">
              <a:spcBef>
                <a:spcPts val="1600"/>
              </a:spcBef>
              <a:spcAft>
                <a:spcPts val="160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Minimización - Procedimiento</a:t>
            </a:r>
            <a:endParaRPr/>
          </a:p>
        </p:txBody>
      </p:sp>
      <p:sp>
        <p:nvSpPr>
          <p:cNvPr id="361" name="Google Shape;361;p27"/>
          <p:cNvSpPr txBox="1"/>
          <p:nvPr>
            <p:ph idx="1" type="body"/>
          </p:nvPr>
        </p:nvSpPr>
        <p:spPr>
          <a:xfrm>
            <a:off x="1297500" y="929925"/>
            <a:ext cx="7038900" cy="4086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800"/>
              <a:t>1 - Se buscan estados inaccesibles y se eliminan.</a:t>
            </a:r>
            <a:endParaRPr sz="1800"/>
          </a:p>
          <a:p>
            <a:pPr indent="0" lvl="0" marL="0" rtl="0" algn="just">
              <a:spcBef>
                <a:spcPts val="1600"/>
              </a:spcBef>
              <a:spcAft>
                <a:spcPts val="0"/>
              </a:spcAft>
              <a:buNone/>
            </a:pPr>
            <a:r>
              <a:rPr lang="es-419" sz="1800"/>
              <a:t>2 - Se marcan estados distinguibles entre sí a simple vista (</a:t>
            </a:r>
            <a:r>
              <a:rPr b="1" i="1" lang="es-419" sz="1800"/>
              <a:t>finales con no finales</a:t>
            </a:r>
            <a:r>
              <a:rPr lang="es-419" sz="1800"/>
              <a:t>).</a:t>
            </a:r>
            <a:endParaRPr sz="1800"/>
          </a:p>
          <a:p>
            <a:pPr indent="0" lvl="0" marL="0" rtl="0" algn="just">
              <a:spcBef>
                <a:spcPts val="1600"/>
              </a:spcBef>
              <a:spcAft>
                <a:spcPts val="0"/>
              </a:spcAft>
              <a:buNone/>
            </a:pPr>
            <a:r>
              <a:rPr lang="es-419" sz="1800"/>
              <a:t>3 - Se analizan los estados restantes. </a:t>
            </a:r>
            <a:r>
              <a:rPr lang="es-419" sz="1800"/>
              <a:t>Si dos estados p y q de llegada son distinguibles, los de partida p0 y q0 también lo son.</a:t>
            </a:r>
            <a:endParaRPr sz="1800"/>
          </a:p>
          <a:p>
            <a:pPr indent="0" lvl="0" marL="0" rtl="0" algn="just">
              <a:spcBef>
                <a:spcPts val="1600"/>
              </a:spcBef>
              <a:spcAft>
                <a:spcPts val="1600"/>
              </a:spcAft>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Minimización - Procedimiento</a:t>
            </a:r>
            <a:endParaRPr/>
          </a:p>
        </p:txBody>
      </p:sp>
      <p:sp>
        <p:nvSpPr>
          <p:cNvPr id="367" name="Google Shape;367;p28"/>
          <p:cNvSpPr txBox="1"/>
          <p:nvPr>
            <p:ph idx="1" type="body"/>
          </p:nvPr>
        </p:nvSpPr>
        <p:spPr>
          <a:xfrm>
            <a:off x="1297500" y="929925"/>
            <a:ext cx="7038900" cy="40860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lang="es-419" sz="1800"/>
              <a:t>Se arma una tabla de estados con cada estado como fila y columna y se suprime la mitad superior para evitar análisis repetidos.</a:t>
            </a:r>
            <a:endParaRPr sz="1800"/>
          </a:p>
          <a:p>
            <a:pPr indent="0" lvl="0" marL="0" rtl="0" algn="just">
              <a:spcBef>
                <a:spcPts val="1600"/>
              </a:spcBef>
              <a:spcAft>
                <a:spcPts val="0"/>
              </a:spcAft>
              <a:buNone/>
            </a:pPr>
            <a:r>
              <a:t/>
            </a:r>
            <a:endParaRPr sz="1800"/>
          </a:p>
          <a:p>
            <a:pPr indent="0" lvl="0" marL="0" rtl="0" algn="just">
              <a:spcBef>
                <a:spcPts val="1600"/>
              </a:spcBef>
              <a:spcAft>
                <a:spcPts val="0"/>
              </a:spcAft>
              <a:buNone/>
            </a:pPr>
            <a:r>
              <a:t/>
            </a:r>
            <a:endParaRPr sz="1800"/>
          </a:p>
          <a:p>
            <a:pPr indent="-342900" lvl="0" marL="457200" rtl="0" algn="just">
              <a:spcBef>
                <a:spcPts val="1600"/>
              </a:spcBef>
              <a:spcAft>
                <a:spcPts val="0"/>
              </a:spcAft>
              <a:buSzPts val="1800"/>
              <a:buChar char="●"/>
            </a:pPr>
            <a:r>
              <a:rPr lang="es-419" sz="1800"/>
              <a:t>Se rellenan los casilleros de los pares distinguibles a simple vista.</a:t>
            </a:r>
            <a:endParaRPr sz="1800"/>
          </a:p>
          <a:p>
            <a:pPr indent="-342900" lvl="0" marL="457200" rtl="0" algn="just">
              <a:spcBef>
                <a:spcPts val="0"/>
              </a:spcBef>
              <a:spcAft>
                <a:spcPts val="0"/>
              </a:spcAft>
              <a:buSzPts val="1800"/>
              <a:buChar char="●"/>
            </a:pPr>
            <a:r>
              <a:rPr lang="es-419" sz="1800"/>
              <a:t>Luego, de abajo hacia arriba y de izquierda a derecha, se analizan los que quedaron vacíos validando si el par fila columna es distinguible o no.</a:t>
            </a:r>
            <a:endParaRPr sz="1800"/>
          </a:p>
          <a:p>
            <a:pPr indent="-342900" lvl="0" marL="457200" rtl="0" algn="just">
              <a:spcBef>
                <a:spcPts val="0"/>
              </a:spcBef>
              <a:spcAft>
                <a:spcPts val="0"/>
              </a:spcAft>
              <a:buSzPts val="1800"/>
              <a:buChar char="●"/>
            </a:pPr>
            <a:r>
              <a:rPr lang="es-419" sz="1800"/>
              <a:t>Una vez finalizado el análisis, se grafica el nuevo AFD unificando los nodos cuya intersección haya quedado vacía (</a:t>
            </a:r>
            <a:r>
              <a:rPr b="1" i="1" lang="es-419" sz="1800"/>
              <a:t>indistinguibles</a:t>
            </a:r>
            <a:r>
              <a:rPr lang="es-419" sz="1800"/>
              <a:t>).</a:t>
            </a:r>
            <a:endParaRPr sz="1800"/>
          </a:p>
          <a:p>
            <a:pPr indent="0" lvl="0" marL="0" rtl="0" algn="just">
              <a:spcBef>
                <a:spcPts val="1600"/>
              </a:spcBef>
              <a:spcAft>
                <a:spcPts val="1600"/>
              </a:spcAft>
              <a:buNone/>
            </a:pPr>
            <a:r>
              <a:t/>
            </a:r>
            <a:endParaRPr sz="1800"/>
          </a:p>
        </p:txBody>
      </p:sp>
      <p:pic>
        <p:nvPicPr>
          <p:cNvPr id="368" name="Google Shape;368;p28"/>
          <p:cNvPicPr preferRelativeResize="0"/>
          <p:nvPr/>
        </p:nvPicPr>
        <p:blipFill>
          <a:blip r:embed="rId3">
            <a:alphaModFix/>
          </a:blip>
          <a:stretch>
            <a:fillRect/>
          </a:stretch>
        </p:blipFill>
        <p:spPr>
          <a:xfrm>
            <a:off x="2621325" y="1991100"/>
            <a:ext cx="4596300" cy="116130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Ejercicio</a:t>
            </a:r>
            <a:endParaRPr/>
          </a:p>
        </p:txBody>
      </p:sp>
      <p:sp>
        <p:nvSpPr>
          <p:cNvPr id="374" name="Google Shape;374;p29"/>
          <p:cNvSpPr/>
          <p:nvPr/>
        </p:nvSpPr>
        <p:spPr>
          <a:xfrm>
            <a:off x="1960050" y="2411688"/>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1</a:t>
            </a:r>
            <a:endParaRPr b="1" sz="3000">
              <a:latin typeface="Lato"/>
              <a:ea typeface="Lato"/>
              <a:cs typeface="Lato"/>
              <a:sym typeface="Lato"/>
            </a:endParaRPr>
          </a:p>
        </p:txBody>
      </p:sp>
      <p:sp>
        <p:nvSpPr>
          <p:cNvPr id="375" name="Google Shape;375;p29"/>
          <p:cNvSpPr/>
          <p:nvPr/>
        </p:nvSpPr>
        <p:spPr>
          <a:xfrm>
            <a:off x="4142925" y="1307850"/>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2</a:t>
            </a:r>
            <a:endParaRPr b="1" sz="3000">
              <a:latin typeface="Lato"/>
              <a:ea typeface="Lato"/>
              <a:cs typeface="Lato"/>
              <a:sym typeface="Lato"/>
            </a:endParaRPr>
          </a:p>
        </p:txBody>
      </p:sp>
      <p:sp>
        <p:nvSpPr>
          <p:cNvPr id="376" name="Google Shape;376;p29"/>
          <p:cNvSpPr/>
          <p:nvPr/>
        </p:nvSpPr>
        <p:spPr>
          <a:xfrm>
            <a:off x="4142925" y="3979938"/>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3</a:t>
            </a:r>
            <a:endParaRPr b="1" sz="3000">
              <a:latin typeface="Lato"/>
              <a:ea typeface="Lato"/>
              <a:cs typeface="Lato"/>
              <a:sym typeface="Lato"/>
            </a:endParaRPr>
          </a:p>
        </p:txBody>
      </p:sp>
      <p:cxnSp>
        <p:nvCxnSpPr>
          <p:cNvPr id="377" name="Google Shape;377;p29"/>
          <p:cNvCxnSpPr>
            <a:stCxn id="378" idx="4"/>
            <a:endCxn id="376" idx="6"/>
          </p:cNvCxnSpPr>
          <p:nvPr/>
        </p:nvCxnSpPr>
        <p:spPr>
          <a:xfrm flipH="1">
            <a:off x="4823075" y="3091800"/>
            <a:ext cx="2020800" cy="1228200"/>
          </a:xfrm>
          <a:prstGeom prst="straightConnector1">
            <a:avLst/>
          </a:prstGeom>
          <a:noFill/>
          <a:ln cap="flat" cmpd="sng" w="38100">
            <a:solidFill>
              <a:schemeClr val="lt1"/>
            </a:solidFill>
            <a:prstDash val="solid"/>
            <a:round/>
            <a:headEnd len="med" w="med" type="stealth"/>
            <a:tailEnd len="med" w="med" type="none"/>
          </a:ln>
        </p:spPr>
      </p:cxnSp>
      <p:cxnSp>
        <p:nvCxnSpPr>
          <p:cNvPr id="379" name="Google Shape;379;p29"/>
          <p:cNvCxnSpPr>
            <a:stCxn id="374" idx="4"/>
            <a:endCxn id="376" idx="2"/>
          </p:cNvCxnSpPr>
          <p:nvPr/>
        </p:nvCxnSpPr>
        <p:spPr>
          <a:xfrm>
            <a:off x="2300100" y="3091788"/>
            <a:ext cx="1842900" cy="1228200"/>
          </a:xfrm>
          <a:prstGeom prst="straightConnector1">
            <a:avLst/>
          </a:prstGeom>
          <a:noFill/>
          <a:ln cap="flat" cmpd="sng" w="38100">
            <a:solidFill>
              <a:schemeClr val="lt1"/>
            </a:solidFill>
            <a:prstDash val="solid"/>
            <a:round/>
            <a:headEnd len="med" w="med" type="none"/>
            <a:tailEnd len="med" w="med" type="stealth"/>
          </a:ln>
        </p:spPr>
      </p:cxnSp>
      <p:sp>
        <p:nvSpPr>
          <p:cNvPr id="380" name="Google Shape;380;p29"/>
          <p:cNvSpPr txBox="1"/>
          <p:nvPr/>
        </p:nvSpPr>
        <p:spPr>
          <a:xfrm>
            <a:off x="3001650" y="3604413"/>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b</a:t>
            </a:r>
            <a:endParaRPr sz="2400">
              <a:solidFill>
                <a:schemeClr val="lt1"/>
              </a:solidFill>
              <a:latin typeface="Lato"/>
              <a:ea typeface="Lato"/>
              <a:cs typeface="Lato"/>
              <a:sym typeface="Lato"/>
            </a:endParaRPr>
          </a:p>
        </p:txBody>
      </p:sp>
      <p:cxnSp>
        <p:nvCxnSpPr>
          <p:cNvPr id="381" name="Google Shape;381;p29"/>
          <p:cNvCxnSpPr>
            <a:stCxn id="374" idx="7"/>
            <a:endCxn id="375" idx="2"/>
          </p:cNvCxnSpPr>
          <p:nvPr/>
        </p:nvCxnSpPr>
        <p:spPr>
          <a:xfrm flipH="1" rot="10800000">
            <a:off x="2540552" y="1647886"/>
            <a:ext cx="1602300" cy="863400"/>
          </a:xfrm>
          <a:prstGeom prst="straightConnector1">
            <a:avLst/>
          </a:prstGeom>
          <a:noFill/>
          <a:ln cap="flat" cmpd="sng" w="38100">
            <a:solidFill>
              <a:schemeClr val="lt1"/>
            </a:solidFill>
            <a:prstDash val="solid"/>
            <a:round/>
            <a:headEnd len="med" w="med" type="none"/>
            <a:tailEnd len="med" w="med" type="stealth"/>
          </a:ln>
        </p:spPr>
      </p:cxnSp>
      <p:sp>
        <p:nvSpPr>
          <p:cNvPr id="382" name="Google Shape;382;p29"/>
          <p:cNvSpPr txBox="1"/>
          <p:nvPr/>
        </p:nvSpPr>
        <p:spPr>
          <a:xfrm>
            <a:off x="5757800" y="1487838"/>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a,b</a:t>
            </a:r>
            <a:endParaRPr sz="2400">
              <a:solidFill>
                <a:schemeClr val="lt1"/>
              </a:solidFill>
              <a:latin typeface="Lato"/>
              <a:ea typeface="Lato"/>
              <a:cs typeface="Lato"/>
              <a:sym typeface="Lato"/>
            </a:endParaRPr>
          </a:p>
        </p:txBody>
      </p:sp>
      <p:sp>
        <p:nvSpPr>
          <p:cNvPr id="383" name="Google Shape;383;p29"/>
          <p:cNvSpPr txBox="1"/>
          <p:nvPr/>
        </p:nvSpPr>
        <p:spPr>
          <a:xfrm>
            <a:off x="2951550" y="1487838"/>
            <a:ext cx="54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a</a:t>
            </a:r>
            <a:endParaRPr sz="2400">
              <a:solidFill>
                <a:schemeClr val="lt1"/>
              </a:solidFill>
              <a:latin typeface="Lato"/>
              <a:ea typeface="Lato"/>
              <a:cs typeface="Lato"/>
              <a:sym typeface="Lato"/>
            </a:endParaRPr>
          </a:p>
        </p:txBody>
      </p:sp>
      <p:sp>
        <p:nvSpPr>
          <p:cNvPr id="378" name="Google Shape;378;p29"/>
          <p:cNvSpPr/>
          <p:nvPr/>
        </p:nvSpPr>
        <p:spPr>
          <a:xfrm>
            <a:off x="6503825" y="2411700"/>
            <a:ext cx="680100" cy="6801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3000">
              <a:latin typeface="Lato"/>
              <a:ea typeface="Lato"/>
              <a:cs typeface="Lato"/>
              <a:sym typeface="Lato"/>
            </a:endParaRPr>
          </a:p>
        </p:txBody>
      </p:sp>
      <p:sp>
        <p:nvSpPr>
          <p:cNvPr id="384" name="Google Shape;384;p29"/>
          <p:cNvSpPr/>
          <p:nvPr/>
        </p:nvSpPr>
        <p:spPr>
          <a:xfrm>
            <a:off x="6573875" y="2481761"/>
            <a:ext cx="540000" cy="5400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latin typeface="Lato"/>
                <a:ea typeface="Lato"/>
                <a:cs typeface="Lato"/>
                <a:sym typeface="Lato"/>
              </a:rPr>
              <a:t>4</a:t>
            </a:r>
            <a:endParaRPr b="1" sz="3000">
              <a:latin typeface="Lato"/>
              <a:ea typeface="Lato"/>
              <a:cs typeface="Lato"/>
              <a:sym typeface="Lato"/>
            </a:endParaRPr>
          </a:p>
        </p:txBody>
      </p:sp>
      <p:sp>
        <p:nvSpPr>
          <p:cNvPr id="385" name="Google Shape;385;p2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 </a:t>
            </a:r>
            <a:endParaRPr/>
          </a:p>
        </p:txBody>
      </p:sp>
      <p:cxnSp>
        <p:nvCxnSpPr>
          <p:cNvPr id="386" name="Google Shape;386;p29"/>
          <p:cNvCxnSpPr>
            <a:stCxn id="375" idx="7"/>
            <a:endCxn id="378" idx="0"/>
          </p:cNvCxnSpPr>
          <p:nvPr/>
        </p:nvCxnSpPr>
        <p:spPr>
          <a:xfrm>
            <a:off x="4723427" y="1407448"/>
            <a:ext cx="2120400" cy="1004400"/>
          </a:xfrm>
          <a:prstGeom prst="straightConnector1">
            <a:avLst/>
          </a:prstGeom>
          <a:noFill/>
          <a:ln cap="flat" cmpd="sng" w="38100">
            <a:solidFill>
              <a:schemeClr val="lt1"/>
            </a:solidFill>
            <a:prstDash val="solid"/>
            <a:round/>
            <a:headEnd len="med" w="med" type="none"/>
            <a:tailEnd len="med" w="med" type="stealth"/>
          </a:ln>
        </p:spPr>
      </p:cxnSp>
      <p:cxnSp>
        <p:nvCxnSpPr>
          <p:cNvPr id="387" name="Google Shape;387;p29"/>
          <p:cNvCxnSpPr>
            <a:endCxn id="375" idx="6"/>
          </p:cNvCxnSpPr>
          <p:nvPr/>
        </p:nvCxnSpPr>
        <p:spPr>
          <a:xfrm rot="10800000">
            <a:off x="4823025" y="1647900"/>
            <a:ext cx="1780500" cy="863400"/>
          </a:xfrm>
          <a:prstGeom prst="straightConnector1">
            <a:avLst/>
          </a:prstGeom>
          <a:noFill/>
          <a:ln cap="flat" cmpd="sng" w="38100">
            <a:solidFill>
              <a:schemeClr val="lt1"/>
            </a:solidFill>
            <a:prstDash val="solid"/>
            <a:round/>
            <a:headEnd len="med" w="med" type="none"/>
            <a:tailEnd len="med" w="med" type="stealth"/>
          </a:ln>
        </p:spPr>
      </p:cxnSp>
      <p:sp>
        <p:nvSpPr>
          <p:cNvPr id="388" name="Google Shape;388;p29"/>
          <p:cNvSpPr txBox="1"/>
          <p:nvPr/>
        </p:nvSpPr>
        <p:spPr>
          <a:xfrm>
            <a:off x="5373225" y="2119788"/>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a,b</a:t>
            </a:r>
            <a:endParaRPr sz="2400">
              <a:solidFill>
                <a:schemeClr val="lt1"/>
              </a:solidFill>
              <a:latin typeface="Lato"/>
              <a:ea typeface="Lato"/>
              <a:cs typeface="Lato"/>
              <a:sym typeface="Lato"/>
            </a:endParaRPr>
          </a:p>
        </p:txBody>
      </p:sp>
      <p:sp>
        <p:nvSpPr>
          <p:cNvPr id="389" name="Google Shape;389;p29"/>
          <p:cNvSpPr txBox="1"/>
          <p:nvPr/>
        </p:nvSpPr>
        <p:spPr>
          <a:xfrm>
            <a:off x="5757800" y="3604413"/>
            <a:ext cx="68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lt1"/>
                </a:solidFill>
                <a:latin typeface="Lato"/>
                <a:ea typeface="Lato"/>
                <a:cs typeface="Lato"/>
                <a:sym typeface="Lato"/>
              </a:rPr>
              <a:t>a,b</a:t>
            </a:r>
            <a:endParaRPr sz="2400">
              <a:solidFill>
                <a:schemeClr val="lt1"/>
              </a:solidFill>
              <a:latin typeface="Lato"/>
              <a:ea typeface="Lato"/>
              <a:cs typeface="Lato"/>
              <a:sym typeface="Lato"/>
            </a:endParaRPr>
          </a:p>
        </p:txBody>
      </p:sp>
      <p:sp>
        <p:nvSpPr>
          <p:cNvPr id="390" name="Google Shape;390;p29"/>
          <p:cNvSpPr txBox="1"/>
          <p:nvPr/>
        </p:nvSpPr>
        <p:spPr>
          <a:xfrm>
            <a:off x="1496175" y="2197638"/>
            <a:ext cx="54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6000">
                <a:solidFill>
                  <a:schemeClr val="lt1"/>
                </a:solidFill>
                <a:latin typeface="Lato"/>
                <a:ea typeface="Lato"/>
                <a:cs typeface="Lato"/>
                <a:sym typeface="Lato"/>
              </a:rPr>
              <a:t>&gt;</a:t>
            </a:r>
            <a:endParaRPr sz="6000">
              <a:solidFill>
                <a:schemeClr val="l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Ejercicio 1</a:t>
            </a:r>
            <a:endParaRPr/>
          </a:p>
        </p:txBody>
      </p:sp>
      <p:graphicFrame>
        <p:nvGraphicFramePr>
          <p:cNvPr id="396" name="Google Shape;396;p30"/>
          <p:cNvGraphicFramePr/>
          <p:nvPr/>
        </p:nvGraphicFramePr>
        <p:xfrm>
          <a:off x="1297500" y="2138250"/>
          <a:ext cx="3000000" cy="3000000"/>
        </p:xfrm>
        <a:graphic>
          <a:graphicData uri="http://schemas.openxmlformats.org/drawingml/2006/table">
            <a:tbl>
              <a:tblPr>
                <a:noFill/>
                <a:tableStyleId>{19043321-C9A5-49E0-96BC-C57357251794}</a:tableStyleId>
              </a:tblPr>
              <a:tblGrid>
                <a:gridCol w="1315875"/>
                <a:gridCol w="1315875"/>
                <a:gridCol w="1315875"/>
                <a:gridCol w="1315875"/>
                <a:gridCol w="1315875"/>
              </a:tblGrid>
              <a:tr h="532900">
                <a:tc>
                  <a:txBody>
                    <a:bodyPr/>
                    <a:lstStyle/>
                    <a:p>
                      <a:pPr indent="0" lvl="0" marL="0" rtl="0" algn="ctr">
                        <a:lnSpc>
                          <a:spcPct val="115000"/>
                        </a:lnSpc>
                        <a:spcBef>
                          <a:spcPts val="0"/>
                        </a:spcBef>
                        <a:spcAft>
                          <a:spcPts val="0"/>
                        </a:spcAft>
                        <a:buNone/>
                      </a:pPr>
                      <a:r>
                        <a:rPr b="1" lang="es-419" sz="2000">
                          <a:solidFill>
                            <a:srgbClr val="FF0000"/>
                          </a:solidFill>
                        </a:rPr>
                        <a:t>ESTADOS</a:t>
                      </a:r>
                      <a:endParaRPr b="1" sz="2000">
                        <a:solidFill>
                          <a:srgbClr val="FF0000"/>
                        </a:solidFill>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q0</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q1</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q2</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q3</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r h="532900">
                <a:tc>
                  <a:txBody>
                    <a:bodyPr/>
                    <a:lstStyle/>
                    <a:p>
                      <a:pPr indent="0" lvl="0" marL="0" rtl="0" algn="ctr">
                        <a:lnSpc>
                          <a:spcPct val="115000"/>
                        </a:lnSpc>
                        <a:spcBef>
                          <a:spcPts val="0"/>
                        </a:spcBef>
                        <a:spcAft>
                          <a:spcPts val="0"/>
                        </a:spcAft>
                        <a:buNone/>
                      </a:pPr>
                      <a:r>
                        <a:rPr b="1" lang="es-419" sz="2000"/>
                        <a:t>q0</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r h="595925">
                <a:tc>
                  <a:txBody>
                    <a:bodyPr/>
                    <a:lstStyle/>
                    <a:p>
                      <a:pPr indent="0" lvl="0" marL="0" rtl="0" algn="ctr">
                        <a:lnSpc>
                          <a:spcPct val="115000"/>
                        </a:lnSpc>
                        <a:spcBef>
                          <a:spcPts val="0"/>
                        </a:spcBef>
                        <a:spcAft>
                          <a:spcPts val="0"/>
                        </a:spcAft>
                        <a:buNone/>
                      </a:pPr>
                      <a:r>
                        <a:rPr b="1" lang="es-419" sz="2000"/>
                        <a:t>q1</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b="1" sz="24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r h="595925">
                <a:tc>
                  <a:txBody>
                    <a:bodyPr/>
                    <a:lstStyle/>
                    <a:p>
                      <a:pPr indent="0" lvl="0" marL="0" rtl="0" algn="ctr">
                        <a:lnSpc>
                          <a:spcPct val="115000"/>
                        </a:lnSpc>
                        <a:spcBef>
                          <a:spcPts val="0"/>
                        </a:spcBef>
                        <a:spcAft>
                          <a:spcPts val="0"/>
                        </a:spcAft>
                        <a:buNone/>
                      </a:pPr>
                      <a:r>
                        <a:rPr b="1" lang="es-419" sz="2000"/>
                        <a:t>q2</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b="1" sz="24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b="1" sz="24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r h="595925">
                <a:tc>
                  <a:txBody>
                    <a:bodyPr/>
                    <a:lstStyle/>
                    <a:p>
                      <a:pPr indent="0" lvl="0" marL="0" rtl="0" algn="ctr">
                        <a:lnSpc>
                          <a:spcPct val="115000"/>
                        </a:lnSpc>
                        <a:spcBef>
                          <a:spcPts val="0"/>
                        </a:spcBef>
                        <a:spcAft>
                          <a:spcPts val="0"/>
                        </a:spcAft>
                        <a:buNone/>
                      </a:pPr>
                      <a:r>
                        <a:rPr b="1" lang="es-419" sz="2000"/>
                        <a:t>q3</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b="1" sz="24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b="1" sz="24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b="1" sz="24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2000"/>
                        <a:t>X</a:t>
                      </a:r>
                      <a:endParaRPr b="1" sz="20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bl>
          </a:graphicData>
        </a:graphic>
      </p:graphicFrame>
      <p:pic>
        <p:nvPicPr>
          <p:cNvPr id="397" name="Google Shape;397;p30"/>
          <p:cNvPicPr preferRelativeResize="0"/>
          <p:nvPr/>
        </p:nvPicPr>
        <p:blipFill>
          <a:blip r:embed="rId3">
            <a:alphaModFix/>
          </a:blip>
          <a:stretch>
            <a:fillRect/>
          </a:stretch>
        </p:blipFill>
        <p:spPr>
          <a:xfrm>
            <a:off x="5884000" y="-2"/>
            <a:ext cx="3260000" cy="2051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Solución - Análisis</a:t>
            </a:r>
            <a:endParaRPr/>
          </a:p>
        </p:txBody>
      </p:sp>
      <p:graphicFrame>
        <p:nvGraphicFramePr>
          <p:cNvPr id="403" name="Google Shape;403;p31"/>
          <p:cNvGraphicFramePr/>
          <p:nvPr/>
        </p:nvGraphicFramePr>
        <p:xfrm>
          <a:off x="240875" y="1725200"/>
          <a:ext cx="3000000" cy="3000000"/>
        </p:xfrm>
        <a:graphic>
          <a:graphicData uri="http://schemas.openxmlformats.org/drawingml/2006/table">
            <a:tbl>
              <a:tblPr>
                <a:noFill/>
                <a:tableStyleId>{19043321-C9A5-49E0-96BC-C57357251794}</a:tableStyleId>
              </a:tblPr>
              <a:tblGrid>
                <a:gridCol w="660625"/>
                <a:gridCol w="660625"/>
                <a:gridCol w="660625"/>
                <a:gridCol w="660625"/>
                <a:gridCol w="660625"/>
              </a:tblGrid>
              <a:tr h="615900">
                <a:tc>
                  <a:txBody>
                    <a:bodyPr/>
                    <a:lstStyle/>
                    <a:p>
                      <a:pPr indent="0" lvl="0" marL="0" rtl="0" algn="ctr">
                        <a:lnSpc>
                          <a:spcPct val="115000"/>
                        </a:lnSpc>
                        <a:spcBef>
                          <a:spcPts val="0"/>
                        </a:spcBef>
                        <a:spcAft>
                          <a:spcPts val="0"/>
                        </a:spcAft>
                        <a:buNone/>
                      </a:pPr>
                      <a:r>
                        <a:rPr b="1" lang="es-419" sz="900">
                          <a:solidFill>
                            <a:srgbClr val="FF0000"/>
                          </a:solidFill>
                        </a:rPr>
                        <a:t>ESTADOS</a:t>
                      </a:r>
                      <a:endParaRPr b="1" sz="900">
                        <a:solidFill>
                          <a:srgbClr val="FF0000"/>
                        </a:solidFill>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1800"/>
                        <a:t>1</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1800"/>
                        <a:t>2</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1800"/>
                        <a:t>3</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1800"/>
                        <a:t>4</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r h="529400">
                <a:tc>
                  <a:txBody>
                    <a:bodyPr/>
                    <a:lstStyle/>
                    <a:p>
                      <a:pPr indent="0" lvl="0" marL="0" rtl="0" algn="ctr">
                        <a:lnSpc>
                          <a:spcPct val="115000"/>
                        </a:lnSpc>
                        <a:spcBef>
                          <a:spcPts val="0"/>
                        </a:spcBef>
                        <a:spcAft>
                          <a:spcPts val="0"/>
                        </a:spcAft>
                        <a:buNone/>
                      </a:pPr>
                      <a:r>
                        <a:rPr b="1" lang="es-419" sz="1800"/>
                        <a:t>1</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r h="529400">
                <a:tc>
                  <a:txBody>
                    <a:bodyPr/>
                    <a:lstStyle/>
                    <a:p>
                      <a:pPr indent="0" lvl="0" marL="0" rtl="0" algn="ctr">
                        <a:lnSpc>
                          <a:spcPct val="115000"/>
                        </a:lnSpc>
                        <a:spcBef>
                          <a:spcPts val="0"/>
                        </a:spcBef>
                        <a:spcAft>
                          <a:spcPts val="0"/>
                        </a:spcAft>
                        <a:buNone/>
                      </a:pPr>
                      <a:r>
                        <a:rPr b="1" lang="es-419" sz="1800"/>
                        <a:t>2</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1800"/>
                        <a:t>|||</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r h="529400">
                <a:tc>
                  <a:txBody>
                    <a:bodyPr/>
                    <a:lstStyle/>
                    <a:p>
                      <a:pPr indent="0" lvl="0" marL="0" rtl="0" algn="ctr">
                        <a:lnSpc>
                          <a:spcPct val="115000"/>
                        </a:lnSpc>
                        <a:spcBef>
                          <a:spcPts val="0"/>
                        </a:spcBef>
                        <a:spcAft>
                          <a:spcPts val="0"/>
                        </a:spcAft>
                        <a:buNone/>
                      </a:pPr>
                      <a:r>
                        <a:rPr b="1" lang="es-419" sz="1800"/>
                        <a:t>3</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1800"/>
                        <a:t>|||</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r h="529400">
                <a:tc>
                  <a:txBody>
                    <a:bodyPr/>
                    <a:lstStyle/>
                    <a:p>
                      <a:pPr indent="0" lvl="0" marL="0" rtl="0" algn="ctr">
                        <a:lnSpc>
                          <a:spcPct val="115000"/>
                        </a:lnSpc>
                        <a:spcBef>
                          <a:spcPts val="0"/>
                        </a:spcBef>
                        <a:spcAft>
                          <a:spcPts val="0"/>
                        </a:spcAft>
                        <a:buNone/>
                      </a:pPr>
                      <a:r>
                        <a:rPr b="1" lang="es-419" sz="1800"/>
                        <a:t>4</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1800"/>
                        <a:t>-</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1800"/>
                        <a:t>-</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sz="1800"/>
                        <a:t>-</a:t>
                      </a:r>
                      <a:endParaRPr b="1" sz="18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b="1" lang="es-419"/>
                        <a:t>X</a:t>
                      </a:r>
                      <a:endParaRPr b="1"/>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r>
            </a:tbl>
          </a:graphicData>
        </a:graphic>
      </p:graphicFrame>
      <p:pic>
        <p:nvPicPr>
          <p:cNvPr id="404" name="Google Shape;404;p31"/>
          <p:cNvPicPr preferRelativeResize="0"/>
          <p:nvPr/>
        </p:nvPicPr>
        <p:blipFill rotWithShape="1">
          <a:blip r:embed="rId3">
            <a:alphaModFix/>
          </a:blip>
          <a:srcRect b="50315" l="0" r="53414" t="0"/>
          <a:stretch/>
        </p:blipFill>
        <p:spPr>
          <a:xfrm>
            <a:off x="3907299" y="1725200"/>
            <a:ext cx="5139500" cy="978825"/>
          </a:xfrm>
          <a:prstGeom prst="rect">
            <a:avLst/>
          </a:prstGeom>
          <a:noFill/>
          <a:ln>
            <a:noFill/>
          </a:ln>
        </p:spPr>
      </p:pic>
      <p:pic>
        <p:nvPicPr>
          <p:cNvPr id="405" name="Google Shape;405;p31"/>
          <p:cNvPicPr preferRelativeResize="0"/>
          <p:nvPr/>
        </p:nvPicPr>
        <p:blipFill rotWithShape="1">
          <a:blip r:embed="rId3">
            <a:alphaModFix/>
          </a:blip>
          <a:srcRect b="0" l="0" r="53139" t="49469"/>
          <a:stretch/>
        </p:blipFill>
        <p:spPr>
          <a:xfrm>
            <a:off x="3907300" y="2994225"/>
            <a:ext cx="5083500" cy="978825"/>
          </a:xfrm>
          <a:prstGeom prst="rect">
            <a:avLst/>
          </a:prstGeom>
          <a:noFill/>
          <a:ln>
            <a:noFill/>
          </a:ln>
        </p:spPr>
      </p:pic>
      <p:pic>
        <p:nvPicPr>
          <p:cNvPr id="406" name="Google Shape;406;p31"/>
          <p:cNvPicPr preferRelativeResize="0"/>
          <p:nvPr/>
        </p:nvPicPr>
        <p:blipFill rotWithShape="1">
          <a:blip r:embed="rId3">
            <a:alphaModFix/>
          </a:blip>
          <a:srcRect b="55042" l="53626" r="0" t="0"/>
          <a:stretch/>
        </p:blipFill>
        <p:spPr>
          <a:xfrm>
            <a:off x="3907300" y="4093225"/>
            <a:ext cx="5139500" cy="88974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Solución - Final</a:t>
            </a:r>
            <a:endParaRPr/>
          </a:p>
        </p:txBody>
      </p:sp>
      <p:pic>
        <p:nvPicPr>
          <p:cNvPr id="412" name="Google Shape;412;p32"/>
          <p:cNvPicPr preferRelativeResize="0"/>
          <p:nvPr/>
        </p:nvPicPr>
        <p:blipFill rotWithShape="1">
          <a:blip r:embed="rId3">
            <a:alphaModFix/>
          </a:blip>
          <a:srcRect b="55704" l="12432" r="47606" t="27489"/>
          <a:stretch/>
        </p:blipFill>
        <p:spPr>
          <a:xfrm>
            <a:off x="1297500" y="2125425"/>
            <a:ext cx="5362126" cy="914100"/>
          </a:xfrm>
          <a:prstGeom prst="rect">
            <a:avLst/>
          </a:prstGeom>
          <a:noFill/>
          <a:ln>
            <a:noFill/>
          </a:ln>
        </p:spPr>
      </p:pic>
      <p:pic>
        <p:nvPicPr>
          <p:cNvPr id="413" name="Google Shape;413;p32"/>
          <p:cNvPicPr preferRelativeResize="0"/>
          <p:nvPr/>
        </p:nvPicPr>
        <p:blipFill rotWithShape="1">
          <a:blip r:embed="rId4">
            <a:alphaModFix/>
          </a:blip>
          <a:srcRect b="56735" l="12202" r="46849" t="27763"/>
          <a:stretch/>
        </p:blipFill>
        <p:spPr>
          <a:xfrm>
            <a:off x="1297500" y="3967450"/>
            <a:ext cx="5448050" cy="835976"/>
          </a:xfrm>
          <a:prstGeom prst="rect">
            <a:avLst/>
          </a:prstGeom>
          <a:noFill/>
          <a:ln>
            <a:noFill/>
          </a:ln>
        </p:spPr>
      </p:pic>
      <p:sp>
        <p:nvSpPr>
          <p:cNvPr id="414" name="Google Shape;414;p32"/>
          <p:cNvSpPr txBox="1"/>
          <p:nvPr>
            <p:ph idx="1" type="body"/>
          </p:nvPr>
        </p:nvSpPr>
        <p:spPr>
          <a:xfrm>
            <a:off x="1297500" y="1606725"/>
            <a:ext cx="7038900" cy="5187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419" sz="1800"/>
              <a:t>Dibujamos el autómata nuevo:</a:t>
            </a:r>
            <a:endParaRPr sz="1800"/>
          </a:p>
        </p:txBody>
      </p:sp>
      <p:sp>
        <p:nvSpPr>
          <p:cNvPr id="415" name="Google Shape;415;p32"/>
          <p:cNvSpPr txBox="1"/>
          <p:nvPr>
            <p:ph idx="1" type="body"/>
          </p:nvPr>
        </p:nvSpPr>
        <p:spPr>
          <a:xfrm>
            <a:off x="1297500" y="3244138"/>
            <a:ext cx="7038900" cy="5187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419" sz="1800"/>
              <a:t>Renombramos (opcional):</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3"/>
          <p:cNvSpPr txBox="1"/>
          <p:nvPr>
            <p:ph type="title"/>
          </p:nvPr>
        </p:nvSpPr>
        <p:spPr>
          <a:xfrm>
            <a:off x="1141650" y="211470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Resolver ejercicios del TP3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