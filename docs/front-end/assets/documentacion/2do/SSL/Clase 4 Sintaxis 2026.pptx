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5" r:id="rId18"/>
    <p:sldId id="276" r:id="rId19"/>
    <p:sldId id="277" r:id="rId20"/>
    <p:sldId id="271" r:id="rId21"/>
    <p:sldId id="278" r:id="rId22"/>
    <p:sldId id="273" r:id="rId23"/>
  </p:sldIdLst>
  <p:sldSz cx="9144000" cy="5143500" type="screen16x9"/>
  <p:notesSz cx="6858000" cy="9144000"/>
  <p:embeddedFontLst>
    <p:embeddedFont>
      <p:font typeface="Montserrat" panose="020B0604020202020204" charset="0"/>
      <p:regular r:id="rId25"/>
      <p:bold r:id="rId26"/>
      <p:italic r:id="rId27"/>
      <p:boldItalic r:id="rId28"/>
    </p:embeddedFont>
    <p:embeddedFont>
      <p:font typeface="Lato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f87997393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f87997393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7f49b1a7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f7f49b1a7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f7f49b1a7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f7f49b1a7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7f49b1a7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f7f49b1a7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f7f49b1a7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f7f49b1a7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f7f49b1a7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f7f49b1a7a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7f49b1a7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f7f49b1a7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f7f49b1a7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f7f49b1a7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f7f49b1a7a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f7f49b1a7a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87997393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f87997393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f7f49b1a7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f7f49b1a7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f7f49b1a7a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f7f49b1a7a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f7f49b1a7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f7f49b1a7a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f7f49b1a7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f7f49b1a7a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883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f7f49b1a7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f7f49b1a7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f7f49b1a7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f7f49b1a7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481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f7f49b1a7a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f7f49b1a7a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858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f7f49b1a7a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f7f49b1a7a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6762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7f49b1a7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f7f49b1a7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7f49b1a7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f7f49b1a7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340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f7f49b1a7a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f7f49b1a7a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39" name="Google Shape;39;p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_AND_BODY_2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79" name="Google Shape;179;p1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06" name="Google Shape;206;p14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_AND_BOD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 descr="offset_comp_343059.jpg"/>
          <p:cNvPicPr preferRelativeResize="0"/>
          <p:nvPr/>
        </p:nvPicPr>
        <p:blipFill rotWithShape="1">
          <a:blip r:embed="rId2">
            <a:alphaModFix amt="80000"/>
          </a:blip>
          <a:srcRect l="30474" t="11955" r="30474" b="25870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name="adj" fmla="val 50343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17" name="Google Shape;217;p16">
            <a:hlinkClick r:id="rId3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hlinkClick r:id="rId3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>
            <a:hlinkClick r:id="rId3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>
            <a:hlinkClick r:id="rId3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dl.oracle.com/webapps/download/AutoDL?BundleId=242029_3d5a2bb8f8d4428bbe94aed7ec7ae784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://www.jflap.org/jflaptmp/july27-18/JFLAP7.1.j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/>
        </p:nvSpPr>
        <p:spPr>
          <a:xfrm>
            <a:off x="3055800" y="1578400"/>
            <a:ext cx="54990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Sintaxis y Semántica del Lenguaje</a:t>
            </a:r>
            <a:endParaRPr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>
            <a:spLocks noGrp="1"/>
          </p:cNvSpPr>
          <p:nvPr>
            <p:ph type="title"/>
          </p:nvPr>
        </p:nvSpPr>
        <p:spPr>
          <a:xfrm>
            <a:off x="1297500" y="1132625"/>
            <a:ext cx="7038900" cy="4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Contenidos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294300" y="2064600"/>
            <a:ext cx="6366600" cy="20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Introducción a Autómatas y Lenguajes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Aplicación JFLAP para generación y testing de AF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Dado un lenguaje, como generamos un AFD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Resolución de ejercicios fuera del TP 3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Resolución de ejercicios TP 3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</a:t>
            </a:r>
            <a:endParaRPr/>
          </a:p>
        </p:txBody>
      </p:sp>
      <p:pic>
        <p:nvPicPr>
          <p:cNvPr id="240" name="Google Shape;2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000" y="1145733"/>
            <a:ext cx="611450" cy="7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 txBox="1"/>
          <p:nvPr/>
        </p:nvSpPr>
        <p:spPr>
          <a:xfrm>
            <a:off x="2118450" y="1261125"/>
            <a:ext cx="539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Definición: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1297500" y="1927775"/>
            <a:ext cx="7038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Las máquinas de estados más sencillas son los autómatas finitos. Estos, son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modelado gráfico de una máquina abstracta que permite representar una serie de  acciones o eventos  y de estados. 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Tiene forma de grafo dirigido. Vamos a verlo gráficamente →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1297500" y="1063575"/>
            <a:ext cx="70389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 grafo se compone de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vértices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 de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aristas</a:t>
            </a: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que los conectan. En un grafo dirigido, las aristas cuentan con una dirección (tal como indica la palabra). Es decir, se recorren en determinado sentido.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2982388" y="2877363"/>
            <a:ext cx="650700" cy="650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437613" y="2877363"/>
            <a:ext cx="650700" cy="650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1" name="Google Shape;251;p20"/>
          <p:cNvCxnSpPr>
            <a:stCxn id="249" idx="6"/>
            <a:endCxn id="250" idx="2"/>
          </p:cNvCxnSpPr>
          <p:nvPr/>
        </p:nvCxnSpPr>
        <p:spPr>
          <a:xfrm>
            <a:off x="3633088" y="3202713"/>
            <a:ext cx="18045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finitos: Características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1564113" y="1751488"/>
            <a:ext cx="650700" cy="650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019338" y="1751488"/>
            <a:ext cx="650700" cy="650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9" name="Google Shape;259;p21"/>
          <p:cNvCxnSpPr>
            <a:stCxn id="257" idx="6"/>
            <a:endCxn id="258" idx="2"/>
          </p:cNvCxnSpPr>
          <p:nvPr/>
        </p:nvCxnSpPr>
        <p:spPr>
          <a:xfrm>
            <a:off x="2214813" y="2076838"/>
            <a:ext cx="18045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21"/>
          <p:cNvCxnSpPr/>
          <p:nvPr/>
        </p:nvCxnSpPr>
        <p:spPr>
          <a:xfrm rot="10800000" flipH="1">
            <a:off x="2971775" y="1547375"/>
            <a:ext cx="152400" cy="50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1" name="Google Shape;261;p21"/>
          <p:cNvSpPr txBox="1"/>
          <p:nvPr/>
        </p:nvSpPr>
        <p:spPr>
          <a:xfrm>
            <a:off x="1927875" y="1048800"/>
            <a:ext cx="2378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Transición/Evento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059100" y="1791250"/>
            <a:ext cx="571200" cy="5712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21"/>
          <p:cNvSpPr/>
          <p:nvPr/>
        </p:nvSpPr>
        <p:spPr>
          <a:xfrm rot="8100000">
            <a:off x="1134405" y="1894204"/>
            <a:ext cx="352139" cy="365291"/>
          </a:xfrm>
          <a:prstGeom prst="halfFrame">
            <a:avLst>
              <a:gd name="adj1" fmla="val 5207"/>
              <a:gd name="adj2" fmla="val 7291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 rot="10800000" flipH="1">
            <a:off x="1234275" y="2330500"/>
            <a:ext cx="152400" cy="50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5" name="Google Shape;265;p21"/>
          <p:cNvSpPr txBox="1"/>
          <p:nvPr/>
        </p:nvSpPr>
        <p:spPr>
          <a:xfrm>
            <a:off x="266625" y="2902775"/>
            <a:ext cx="2378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Estado Inicial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019338" y="3109588"/>
            <a:ext cx="650700" cy="650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059100" y="3149350"/>
            <a:ext cx="571200" cy="5712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q2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8" name="Google Shape;268;p21"/>
          <p:cNvCxnSpPr>
            <a:stCxn id="262" idx="4"/>
            <a:endCxn id="267" idx="0"/>
          </p:cNvCxnSpPr>
          <p:nvPr/>
        </p:nvCxnSpPr>
        <p:spPr>
          <a:xfrm>
            <a:off x="4344700" y="2362450"/>
            <a:ext cx="0" cy="78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21"/>
          <p:cNvCxnSpPr>
            <a:endCxn id="262" idx="6"/>
          </p:cNvCxnSpPr>
          <p:nvPr/>
        </p:nvCxnSpPr>
        <p:spPr>
          <a:xfrm rot="10800000">
            <a:off x="4630300" y="2076850"/>
            <a:ext cx="983100" cy="76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1"/>
          <p:cNvCxnSpPr>
            <a:endCxn id="267" idx="6"/>
          </p:cNvCxnSpPr>
          <p:nvPr/>
        </p:nvCxnSpPr>
        <p:spPr>
          <a:xfrm flipH="1">
            <a:off x="4630300" y="2875150"/>
            <a:ext cx="994500" cy="559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5737875" y="2632600"/>
            <a:ext cx="2378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Estados Finales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540325" y="2829663"/>
            <a:ext cx="650700" cy="650700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q3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3" name="Google Shape;273;p21"/>
          <p:cNvCxnSpPr>
            <a:stCxn id="257" idx="4"/>
            <a:endCxn id="272" idx="1"/>
          </p:cNvCxnSpPr>
          <p:nvPr/>
        </p:nvCxnSpPr>
        <p:spPr>
          <a:xfrm>
            <a:off x="1889463" y="2402188"/>
            <a:ext cx="746100" cy="522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74" name="Google Shape;274;p21"/>
          <p:cNvCxnSpPr>
            <a:stCxn id="272" idx="6"/>
            <a:endCxn id="267" idx="2"/>
          </p:cNvCxnSpPr>
          <p:nvPr/>
        </p:nvCxnSpPr>
        <p:spPr>
          <a:xfrm>
            <a:off x="3191025" y="3155013"/>
            <a:ext cx="868200" cy="279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75" name="Google Shape;275;p21"/>
          <p:cNvSpPr txBox="1"/>
          <p:nvPr/>
        </p:nvSpPr>
        <p:spPr>
          <a:xfrm>
            <a:off x="1000725" y="3901225"/>
            <a:ext cx="3139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Posible estado intermedio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(OJO! NO SE DIBUJAN PUNTEADOS, ES SOLO PARA ILUSTRAR QUE PUEDEN NO ESTAR).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6" name="Google Shape;276;p21"/>
          <p:cNvCxnSpPr>
            <a:endCxn id="272" idx="4"/>
          </p:cNvCxnSpPr>
          <p:nvPr/>
        </p:nvCxnSpPr>
        <p:spPr>
          <a:xfrm rot="10800000" flipH="1">
            <a:off x="2635275" y="3480363"/>
            <a:ext cx="230400" cy="420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7" name="Google Shape;277;p21"/>
          <p:cNvSpPr txBox="1"/>
          <p:nvPr/>
        </p:nvSpPr>
        <p:spPr>
          <a:xfrm>
            <a:off x="5737875" y="4267450"/>
            <a:ext cx="3139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¿Que indica cada parte? →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Finitos: Características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1297500" y="1002675"/>
            <a:ext cx="70389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transiciones</a:t>
            </a:r>
            <a:r>
              <a:rPr lang="es-419" sz="2000" b="1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eventos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representan situaciones instantáneas que marcan un cambio de un estado a otro.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estado inicial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marca el inicio del recorrido. Siempre se empieza a recorrer a partir de este estado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estado final</a:t>
            </a:r>
            <a:r>
              <a:rPr lang="es-419" sz="2000" b="1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(pueden tener más de uno) marca que la </a:t>
            </a: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secuencia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ingresada es </a:t>
            </a: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válida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Finitos: Propósito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297500" y="1002675"/>
            <a:ext cx="70389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Sirven para reconocer </a:t>
            </a:r>
            <a:r>
              <a:rPr lang="es-419" sz="2000" b="1" i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secuencias de acciones </a:t>
            </a:r>
            <a:r>
              <a:rPr lang="es-419" sz="2000" b="1" i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validas </a:t>
            </a:r>
            <a:r>
              <a:rPr lang="es-419" sz="2000" b="1" i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 inválidas</a:t>
            </a:r>
            <a:r>
              <a:rPr lang="es-419" sz="20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 al recorrer el grafo con la secuencia de entrada se llega a un </a:t>
            </a:r>
            <a:r>
              <a:rPr lang="es-419" sz="2000" b="1" i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estado final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la secuencia es válida. Si se llega a un estado </a:t>
            </a:r>
            <a:r>
              <a:rPr lang="es-419" sz="2000" b="1" i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no final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 inválida.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 camino recorrido se lo llama </a:t>
            </a:r>
            <a:r>
              <a:rPr lang="es-419" sz="20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Trayectoria.</a:t>
            </a:r>
            <a:endParaRPr sz="2000" b="1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Lenguajes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1297500" y="1002675"/>
            <a:ext cx="70389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 lenguaje L  es un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conjunto de palabras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y está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definido sobre un alfabeto ∑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Como los lenguajes son conjuntos pueden ser vacíos, de un solo elemento, de muchos elementos. En realidad, de infinitos elementos. 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Ejemplos: 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L={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} es un lenguaje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L={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} es otro lenguaje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todos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 casos el lenguaje L es un subconjunto de ∑*.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∑* = {Ɛ, 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casa, saca, 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sasa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casasa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sacasa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,….}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y Lenguajes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297500" y="1002675"/>
            <a:ext cx="70389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 autómatas finitos pueden aplicarse sobre cualquier lenguaje formal L, ya sea para validar si alguna palabra w pertenece a él, o para generar palabras que lo hagan. 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 puede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modelar </a:t>
            </a:r>
            <a:r>
              <a:rPr lang="es-419" sz="2000" b="1" i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asignando, a cada transición, una letra del alfabeto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sobre el que está definido. A su vez, cada nodo representa una</a:t>
            </a:r>
            <a:r>
              <a:rPr lang="es-419" sz="20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regla de formación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Entonces, para verificar la validez de la palabra, comenzamos verificando que el </a:t>
            </a:r>
            <a:r>
              <a:rPr lang="es-419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caracter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ingresado pertenezca al alfabeto. Luego se valida si la posición que ocupa el carácter en la palabra respeta las reglas de definición del mismo.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y Lenguajes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1297500" y="1002675"/>
            <a:ext cx="70389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Entonces, ingresando uno a uno los caracteres de la palabra, el autómata intenta encontrar una trayectoria para la misma (que haya transiciones que me lleven de qn a qm para cada carácter). Si al finalizar de recorrer el grafo con la palabra, se llega a un estado final, es considerada legal.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Finitos: Clasificación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1297500" y="2950075"/>
            <a:ext cx="70389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 autómata es tiene un control “determinista” cuando, después de leer una secuencia de entradas, puede estar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únicamente</a:t>
            </a:r>
            <a:r>
              <a:rPr lang="es-419" sz="2000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un estado. Por lo tanto, el control será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no determinista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si puede estar en más de un estado a la vez.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1297500" y="1307850"/>
            <a:ext cx="70389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 autómatas finitos tienen un conjunto de estados y su “control” pasa de uno a otro en base a las entradas.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Podemos clasificar los autómatas, según su control, en </a:t>
            </a: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determinísticos (AFD)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s-419" sz="20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no determinísticos (AFN)</a:t>
            </a:r>
            <a:r>
              <a:rPr lang="es-419" sz="2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AFD - Definición Formal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297500" y="1002675"/>
            <a:ext cx="70389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 AFD es una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quíntupla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(K, S, F, ∑, δ) donde: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es el conjunto de todos los estados posibles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es el estado inicial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es el conjunto de estados finales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es el alfabeto dado sobre el que se construye el lenguaje L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es la función de transición, que a partir de un estado y un símbolo del alfabeto se llega a un nuevo y único estado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AFD - Particularidades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1297500" y="1002675"/>
            <a:ext cx="70389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 estados deben ser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excluyentes entre sí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Es decir, estoy en un nodo ó en otro, no puedo estar con una misma secuencia en dos nodos distintos.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Cada nodo debe tener </a:t>
            </a:r>
            <a:r>
              <a:rPr lang="es-419" sz="2000" b="1" i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una transición por cada letra del alfabeto</a:t>
            </a:r>
            <a:r>
              <a:rPr lang="es-419" sz="2000" b="1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 tengo un alfabeto conformado por ‘a’, ‘b’ y ‘c’, todos los nodos deben tener una “flecha” con ‘a’, una con ‘b’, y una con ‘c’.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823850" y="1786650"/>
            <a:ext cx="482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∑={a,b} que empiecen con la letra ‘a’.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1018500" y="2894850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823850" y="1786650"/>
            <a:ext cx="482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∑={a,b} que empiecen con la letra ‘a’.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1018500" y="2894850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 </a:t>
            </a: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{a, b}</a:t>
            </a:r>
            <a:endParaRPr lang="es-419"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= {q0, q1, q2} 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</a:t>
            </a: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{q0}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</a:t>
            </a: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{q1}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dirty="0">
              <a:solidFill>
                <a:schemeClr val="accent2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700" y="2340750"/>
            <a:ext cx="3002845" cy="2787547"/>
          </a:xfrm>
          <a:prstGeom prst="rect">
            <a:avLst/>
          </a:prstGeom>
        </p:spPr>
      </p:pic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910479"/>
              </p:ext>
            </p:extLst>
          </p:nvPr>
        </p:nvGraphicFramePr>
        <p:xfrm>
          <a:off x="2021664" y="3996044"/>
          <a:ext cx="18106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671">
                  <a:extLst>
                    <a:ext uri="{9D8B030D-6E8A-4147-A177-3AD203B41FA5}">
                      <a16:colId xmlns:a16="http://schemas.microsoft.com/office/drawing/2014/main" val="1803253242"/>
                    </a:ext>
                  </a:extLst>
                </a:gridCol>
                <a:gridCol w="452671">
                  <a:extLst>
                    <a:ext uri="{9D8B030D-6E8A-4147-A177-3AD203B41FA5}">
                      <a16:colId xmlns:a16="http://schemas.microsoft.com/office/drawing/2014/main" val="3950516646"/>
                    </a:ext>
                  </a:extLst>
                </a:gridCol>
                <a:gridCol w="452671">
                  <a:extLst>
                    <a:ext uri="{9D8B030D-6E8A-4147-A177-3AD203B41FA5}">
                      <a16:colId xmlns:a16="http://schemas.microsoft.com/office/drawing/2014/main" val="2227780781"/>
                    </a:ext>
                  </a:extLst>
                </a:gridCol>
                <a:gridCol w="452671">
                  <a:extLst>
                    <a:ext uri="{9D8B030D-6E8A-4147-A177-3AD203B41FA5}">
                      <a16:colId xmlns:a16="http://schemas.microsoft.com/office/drawing/2014/main" val="317863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q1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q2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93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a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q1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q1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q2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6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b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q2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q1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q2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58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71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823850" y="1786650"/>
            <a:ext cx="4825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terminen con ‘bb’.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1018500" y="2894850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823850" y="1786650"/>
            <a:ext cx="4825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terminen con ‘bb’.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1018500" y="2476207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 {a, </a:t>
            </a: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b, c}</a:t>
            </a:r>
            <a:endParaRPr lang="es-419"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= {q0, q1, q2} </a:t>
            </a:r>
          </a:p>
          <a:p>
            <a:pPr lvl="0"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 {q0}</a:t>
            </a:r>
          </a:p>
          <a:p>
            <a:pPr lvl="0"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 {</a:t>
            </a: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q2}</a:t>
            </a:r>
            <a:endParaRPr lang="es-419"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just"/>
            <a:r>
              <a:rPr lang="el-GR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=</a:t>
            </a:r>
            <a:endParaRPr lang="el-GR" sz="2000" b="1" dirty="0">
              <a:solidFill>
                <a:schemeClr val="accent2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528" y="2762765"/>
            <a:ext cx="4711791" cy="2227876"/>
          </a:xfrm>
          <a:prstGeom prst="rect">
            <a:avLst/>
          </a:prstGeom>
        </p:spPr>
      </p:pic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34919"/>
              </p:ext>
            </p:extLst>
          </p:nvPr>
        </p:nvGraphicFramePr>
        <p:xfrm>
          <a:off x="2032681" y="3507281"/>
          <a:ext cx="1810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671">
                  <a:extLst>
                    <a:ext uri="{9D8B030D-6E8A-4147-A177-3AD203B41FA5}">
                      <a16:colId xmlns:a16="http://schemas.microsoft.com/office/drawing/2014/main" val="1803253242"/>
                    </a:ext>
                  </a:extLst>
                </a:gridCol>
                <a:gridCol w="452671">
                  <a:extLst>
                    <a:ext uri="{9D8B030D-6E8A-4147-A177-3AD203B41FA5}">
                      <a16:colId xmlns:a16="http://schemas.microsoft.com/office/drawing/2014/main" val="3950516646"/>
                    </a:ext>
                  </a:extLst>
                </a:gridCol>
                <a:gridCol w="452671">
                  <a:extLst>
                    <a:ext uri="{9D8B030D-6E8A-4147-A177-3AD203B41FA5}">
                      <a16:colId xmlns:a16="http://schemas.microsoft.com/office/drawing/2014/main" val="2227780781"/>
                    </a:ext>
                  </a:extLst>
                </a:gridCol>
                <a:gridCol w="452671">
                  <a:extLst>
                    <a:ext uri="{9D8B030D-6E8A-4147-A177-3AD203B41FA5}">
                      <a16:colId xmlns:a16="http://schemas.microsoft.com/office/drawing/2014/main" val="317863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q1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q2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93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a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63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b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q1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q2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q2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5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c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600" b="1" i="0" u="none" strike="noStrike" cap="none" dirty="0" smtClean="0">
                          <a:solidFill>
                            <a:schemeClr val="accent2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q0</a:t>
                      </a:r>
                      <a:endParaRPr lang="es-AR" sz="1600" b="1" i="0" u="none" strike="noStrike" cap="none" dirty="0">
                        <a:solidFill>
                          <a:schemeClr val="accent2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01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69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823850" y="1786650"/>
            <a:ext cx="482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acepte el lenguaje L={w/w contiene cantidad par de ‘a’}.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33"/>
          <p:cNvSpPr txBox="1"/>
          <p:nvPr/>
        </p:nvSpPr>
        <p:spPr>
          <a:xfrm>
            <a:off x="1018500" y="2894850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42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823850" y="1786650"/>
            <a:ext cx="482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acepte el lenguaje L={w/w contiene cantidad par de ‘a’}.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33"/>
          <p:cNvSpPr txBox="1"/>
          <p:nvPr/>
        </p:nvSpPr>
        <p:spPr>
          <a:xfrm>
            <a:off x="1018500" y="2894850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52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823850" y="1786650"/>
            <a:ext cx="482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no contengan la subcadena ‘ac’.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1018500" y="2894850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>
            <a:spLocks noGrp="1"/>
          </p:cNvSpPr>
          <p:nvPr>
            <p:ph type="title"/>
          </p:nvPr>
        </p:nvSpPr>
        <p:spPr>
          <a:xfrm>
            <a:off x="823850" y="382475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823850" y="1786650"/>
            <a:ext cx="482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Diseñar el AFD que acepte palabras en el alfabeto ∑={a,b,c} que no contengan la subcadena ‘ac’.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1018500" y="2894850"/>
            <a:ext cx="71070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∑ =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K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 =</a:t>
            </a:r>
            <a:endParaRPr sz="2000" b="1"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 smtClean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δ </a:t>
            </a:r>
            <a:r>
              <a:rPr lang="es-419" sz="2000" b="1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dirty="0">
              <a:solidFill>
                <a:schemeClr val="accent2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565" y="2538313"/>
            <a:ext cx="4603081" cy="258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9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JFLAP</a:t>
            </a:r>
            <a:endParaRPr/>
          </a:p>
        </p:txBody>
      </p:sp>
      <p:sp>
        <p:nvSpPr>
          <p:cNvPr id="360" name="Google Shape;360;p34"/>
          <p:cNvSpPr txBox="1">
            <a:spLocks noGrp="1"/>
          </p:cNvSpPr>
          <p:nvPr>
            <p:ph type="body" idx="1"/>
          </p:nvPr>
        </p:nvSpPr>
        <p:spPr>
          <a:xfrm>
            <a:off x="3275125" y="981400"/>
            <a:ext cx="56124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Instalar: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/>
              <a:t>Paquete de Java: </a:t>
            </a:r>
            <a:r>
              <a:rPr lang="es-419" sz="17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https://javadl.oracle.com/webapps/download/AutoDL?BundleId=242029_3d5a2bb8f8d4428bbe94aed7ec7ae784</a:t>
            </a:r>
            <a:r>
              <a:rPr lang="es-419" sz="1700">
                <a:solidFill>
                  <a:schemeClr val="accent2"/>
                </a:solidFill>
              </a:rPr>
              <a:t> </a:t>
            </a:r>
            <a:endParaRPr sz="17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/>
              <a:t>JFLAP: </a:t>
            </a:r>
            <a:r>
              <a:rPr lang="es-419" sz="17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http://www.jflap.org/jflaptmp/july27-18/JFLAP7.1.jar</a:t>
            </a:r>
            <a:r>
              <a:rPr lang="es-419" sz="1700">
                <a:solidFill>
                  <a:schemeClr val="accent2"/>
                </a:solidFill>
              </a:rPr>
              <a:t> </a:t>
            </a:r>
            <a:endParaRPr sz="17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15828</TotalTime>
  <Words>1153</Words>
  <Application>Microsoft Office PowerPoint</Application>
  <PresentationFormat>Presentación en pantalla (16:9)</PresentationFormat>
  <Paragraphs>165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Montserrat</vt:lpstr>
      <vt:lpstr>Lato</vt:lpstr>
      <vt:lpstr>Focus</vt:lpstr>
      <vt:lpstr>Presentación de PowerPoint</vt:lpstr>
      <vt:lpstr>Contenidos</vt:lpstr>
      <vt:lpstr>Autómatas finitos</vt:lpstr>
      <vt:lpstr>Autómatas finitos</vt:lpstr>
      <vt:lpstr>Autómatas finitos: Características</vt:lpstr>
      <vt:lpstr>Autómatas Finitos: Características</vt:lpstr>
      <vt:lpstr>Autómatas Finitos: Propósito</vt:lpstr>
      <vt:lpstr>Lenguajes</vt:lpstr>
      <vt:lpstr>Autómatas y Lenguajes</vt:lpstr>
      <vt:lpstr>Autómatas y Lenguajes</vt:lpstr>
      <vt:lpstr>Autómatas Finitos: Clasificación</vt:lpstr>
      <vt:lpstr>AFD - Definición Formal</vt:lpstr>
      <vt:lpstr>AFD - Particularidades</vt:lpstr>
      <vt:lpstr>Ejercicio</vt:lpstr>
      <vt:lpstr>Ejercicio</vt:lpstr>
      <vt:lpstr>Ejercicio</vt:lpstr>
      <vt:lpstr>Ejercicio</vt:lpstr>
      <vt:lpstr>Ejercicio</vt:lpstr>
      <vt:lpstr>Ejercicio</vt:lpstr>
      <vt:lpstr>Ejercicio</vt:lpstr>
      <vt:lpstr>Ejercicio</vt:lpstr>
      <vt:lpstr>JFLAP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Paternoster, Felix</dc:creator>
  <cp:lastModifiedBy>Paternoster, Felix</cp:lastModifiedBy>
  <cp:revision>9</cp:revision>
  <dcterms:modified xsi:type="dcterms:W3CDTF">2026-04-28T16:29:10Z</dcterms:modified>
</cp:coreProperties>
</file>