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5"/>
  </p:notesMasterIdLst>
  <p:sldIdLst>
    <p:sldId id="256" r:id="rId2"/>
    <p:sldId id="257" r:id="rId3"/>
    <p:sldId id="258" r:id="rId4"/>
    <p:sldId id="273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5" r:id="rId18"/>
    <p:sldId id="280" r:id="rId19"/>
    <p:sldId id="276" r:id="rId20"/>
    <p:sldId id="277" r:id="rId21"/>
    <p:sldId id="278" r:id="rId22"/>
    <p:sldId id="279" r:id="rId23"/>
    <p:sldId id="271" r:id="rId24"/>
  </p:sldIdLst>
  <p:sldSz cx="9144000" cy="5143500" type="screen16x9"/>
  <p:notesSz cx="6858000" cy="9144000"/>
  <p:embeddedFontLst>
    <p:embeddedFont>
      <p:font typeface="Montserrat" panose="020B0604020202020204" charset="0"/>
      <p:regular r:id="rId26"/>
      <p:bold r:id="rId27"/>
      <p:italic r:id="rId28"/>
      <p:boldItalic r:id="rId29"/>
    </p:embeddedFont>
    <p:embeddedFont>
      <p:font typeface="Average" panose="020B0604020202020204" charset="0"/>
      <p:regular r:id="rId30"/>
    </p:embeddedFont>
    <p:embeddedFont>
      <p:font typeface="Lato" panose="020B0604020202020204" charset="0"/>
      <p:regular r:id="rId31"/>
      <p:bold r:id="rId32"/>
      <p:italic r:id="rId33"/>
      <p:boldItalic r:id="rId34"/>
    </p:embeddedFont>
    <p:embeddedFont>
      <p:font typeface="Quantico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09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02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f87997393_0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f87997393_0_7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f87997393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f87997393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S21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1º Fecha: 19 de Junio (19/06).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2º Fecha: 3 de Julio (03/07).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3º Fecha: 12 de Julio (12/07).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Fecha Flotante: 31 de Julio (31/07).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c431c309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5c431c309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9283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f520112aec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f520112aec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S21: w7f4q6b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/>
              <a:t>S22: cfm4och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d94438ed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d94438ed8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6871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f520112ae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f520112ae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f520112ae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f520112ae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f520112ae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f520112ae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f520112ae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f520112ae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f520112aec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f520112aec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f520112aec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f520112aec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f520112aec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f520112aec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f520112aec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f520112aec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f520112aec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f520112aec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520112aec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f520112aec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6F127357-2F88-0086-2BAC-834E933F7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520112aec_0_413:notes">
            <a:extLst>
              <a:ext uri="{FF2B5EF4-FFF2-40B4-BE49-F238E27FC236}">
                <a16:creationId xmlns:a16="http://schemas.microsoft.com/office/drawing/2014/main" id="{B9E9CC49-F2F9-574F-6E30-0DE8C8AC7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f520112aec_0_413:notes">
            <a:extLst>
              <a:ext uri="{FF2B5EF4-FFF2-40B4-BE49-F238E27FC236}">
                <a16:creationId xmlns:a16="http://schemas.microsoft.com/office/drawing/2014/main" id="{7DE71F50-5DEB-8189-D8A0-E57663D070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0182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6F127357-2F88-0086-2BAC-834E933F7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520112aec_0_413:notes">
            <a:extLst>
              <a:ext uri="{FF2B5EF4-FFF2-40B4-BE49-F238E27FC236}">
                <a16:creationId xmlns:a16="http://schemas.microsoft.com/office/drawing/2014/main" id="{B9E9CC49-F2F9-574F-6E30-0DE8C8AC7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f520112aec_0_413:notes">
            <a:extLst>
              <a:ext uri="{FF2B5EF4-FFF2-40B4-BE49-F238E27FC236}">
                <a16:creationId xmlns:a16="http://schemas.microsoft.com/office/drawing/2014/main" id="{7DE71F50-5DEB-8189-D8A0-E57663D070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2593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43DC9B5F-4EB0-E6FA-D450-B8002F3D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520112aec_0_413:notes">
            <a:extLst>
              <a:ext uri="{FF2B5EF4-FFF2-40B4-BE49-F238E27FC236}">
                <a16:creationId xmlns:a16="http://schemas.microsoft.com/office/drawing/2014/main" id="{D3214203-C787-C2FD-F2D7-9A11F79E5F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f520112aec_0_413:notes">
            <a:extLst>
              <a:ext uri="{FF2B5EF4-FFF2-40B4-BE49-F238E27FC236}">
                <a16:creationId xmlns:a16="http://schemas.microsoft.com/office/drawing/2014/main" id="{8D0398BA-9032-45C9-DEFD-0A1F3F08C2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1920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23C8965D-6D75-02A3-B22D-E594379B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520112aec_0_413:notes">
            <a:extLst>
              <a:ext uri="{FF2B5EF4-FFF2-40B4-BE49-F238E27FC236}">
                <a16:creationId xmlns:a16="http://schemas.microsoft.com/office/drawing/2014/main" id="{0FB1EE00-1BE1-EE8D-1957-863D27290B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f520112aec_0_413:notes">
            <a:extLst>
              <a:ext uri="{FF2B5EF4-FFF2-40B4-BE49-F238E27FC236}">
                <a16:creationId xmlns:a16="http://schemas.microsoft.com/office/drawing/2014/main" id="{7478BE11-7D5D-63CA-2594-AC25C63E5A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5315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E415B262-CAE9-FA4C-6DED-85DAA36D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520112aec_0_413:notes">
            <a:extLst>
              <a:ext uri="{FF2B5EF4-FFF2-40B4-BE49-F238E27FC236}">
                <a16:creationId xmlns:a16="http://schemas.microsoft.com/office/drawing/2014/main" id="{B7C8E27A-674D-3D0D-AFDD-085F897C8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f520112aec_0_413:notes">
            <a:extLst>
              <a:ext uri="{FF2B5EF4-FFF2-40B4-BE49-F238E27FC236}">
                <a16:creationId xmlns:a16="http://schemas.microsoft.com/office/drawing/2014/main" id="{BE44B0B4-52F7-98C8-6C24-B83994B56C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25267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f520112aec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f520112aec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ffset_comp_406605.jpg"/>
          <p:cNvPicPr preferRelativeResize="0"/>
          <p:nvPr/>
        </p:nvPicPr>
        <p:blipFill rotWithShape="1">
          <a:blip r:embed="rId2">
            <a:alphaModFix amt="66000"/>
          </a:blip>
          <a:srcRect l="20991" t="2690" r="40112" b="39565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1" name="Google Shape;11;p2" descr="offset_comp_342327_edtied.jpg"/>
          <p:cNvPicPr preferRelativeResize="0"/>
          <p:nvPr/>
        </p:nvPicPr>
        <p:blipFill rotWithShape="1">
          <a:blip r:embed="rId3">
            <a:alphaModFix amt="31000"/>
          </a:blip>
          <a:srcRect l="14009" t="35833" r="43289" b="11297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39" name="Google Shape;39;p3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SECTION_HEADER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1">
  <p:cSld name="TITLE_AND_BODY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6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6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2">
  <p:cSld name="TITLE_AND_BODY_2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7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2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79" name="Google Shape;179;p13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4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06" name="Google Shape;206;p14">
            <a:hlinkClick r:id="rId2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">
            <a:hlinkClick r:id="rId2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>
            <a:hlinkClick r:id="rId2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>
            <a:hlinkClick r:id="rId2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3">
  <p:cSld name="TITLE_AND_BODY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6" descr="offset_comp_343059.jpg"/>
          <p:cNvPicPr preferRelativeResize="0"/>
          <p:nvPr/>
        </p:nvPicPr>
        <p:blipFill rotWithShape="1">
          <a:blip r:embed="rId2">
            <a:alphaModFix amt="80000"/>
          </a:blip>
          <a:srcRect l="30474" t="11955" r="30474" b="25870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name="adj" fmla="val 50343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body" idx="1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217" name="Google Shape;217;p16">
            <a:hlinkClick r:id="rId3" action="ppaction://hlinksldjump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>
            <a:hlinkClick r:id="rId3" action="ppaction://hlinksldjump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>
            <a:hlinkClick r:id="rId3" action="ppaction://hlinksldjump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">
            <a:hlinkClick r:id="rId3" action="ppaction://hlinksldjump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gustinmanrique@alu.frlp.utn.edu.ar" TargetMode="External"/><Relationship Id="rId7" Type="http://schemas.openxmlformats.org/officeDocument/2006/relationships/hyperlink" Target="mailto:tomyusatorre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traversa.facundo@gmail.com" TargetMode="External"/><Relationship Id="rId5" Type="http://schemas.openxmlformats.org/officeDocument/2006/relationships/hyperlink" Target="mailto:ignacio.fixer@gmail.com" TargetMode="External"/><Relationship Id="rId4" Type="http://schemas.openxmlformats.org/officeDocument/2006/relationships/hyperlink" Target="mailto:gbaez@frlp.utn.edu.ar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ctrTitle"/>
          </p:nvPr>
        </p:nvSpPr>
        <p:spPr>
          <a:xfrm>
            <a:off x="3055800" y="1578400"/>
            <a:ext cx="54990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Sintaxis y Semántica del Lenguaje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Docentes y Ayudantes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1316850" y="896050"/>
            <a:ext cx="65103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Profesora: 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</a:pP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Felix Paternoster: </a:t>
            </a:r>
            <a:r>
              <a:rPr lang="es-419" dirty="0" smtClean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pater@frlp.utn.edu.ar</a:t>
            </a:r>
            <a:endParaRPr sz="1800" dirty="0">
              <a:solidFill>
                <a:schemeClr val="accent2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Ayudantes: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>
              <a:lnSpc>
                <a:spcPct val="150000"/>
              </a:lnSpc>
              <a:buClr>
                <a:srgbClr val="FFFFFF"/>
              </a:buClr>
              <a:buSzPts val="1400"/>
              <a:buFont typeface="Montserrat"/>
              <a:buChar char="●"/>
            </a:pP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Agustin Manrique: </a:t>
            </a:r>
            <a:r>
              <a:rPr lang="es-419" u="sng" dirty="0" smtClean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agustinmanrique@alu.frlp.utn.edu.ar</a:t>
            </a:r>
            <a:endParaRPr lang="es-419" u="sng" dirty="0" smtClean="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317500">
              <a:lnSpc>
                <a:spcPct val="150000"/>
              </a:lnSpc>
              <a:buClr>
                <a:srgbClr val="FFFFFF"/>
              </a:buClr>
              <a:buSzPts val="1400"/>
              <a:buFont typeface="Montserrat"/>
              <a:buChar char="●"/>
            </a:pP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Gonzalo </a:t>
            </a:r>
            <a:r>
              <a:rPr lang="es-419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Baez</a:t>
            </a: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s-419" u="sng" dirty="0" smtClean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gbaez@frlp.utn.edu.ar</a:t>
            </a:r>
            <a:endParaRPr lang="es-419" u="sng" dirty="0" smtClean="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317500">
              <a:lnSpc>
                <a:spcPct val="150000"/>
              </a:lnSpc>
              <a:buClr>
                <a:srgbClr val="FFFFFF"/>
              </a:buClr>
              <a:buSzPts val="1400"/>
              <a:buFont typeface="Montserrat"/>
              <a:buChar char="●"/>
            </a:pP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Ignacio </a:t>
            </a:r>
            <a:r>
              <a:rPr lang="es-4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Gallo: </a:t>
            </a:r>
            <a:r>
              <a:rPr lang="es-419" u="sng" dirty="0" smtClean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ignacio.fixer@gmail.com</a:t>
            </a:r>
            <a:endParaRPr lang="es-419" dirty="0" smtClean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317500">
              <a:lnSpc>
                <a:spcPct val="150000"/>
              </a:lnSpc>
              <a:buClr>
                <a:srgbClr val="FFFFFF"/>
              </a:buClr>
              <a:buSzPts val="1400"/>
              <a:buFont typeface="Montserrat"/>
              <a:buChar char="●"/>
            </a:pP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Facundo Traversa: </a:t>
            </a:r>
            <a:r>
              <a:rPr lang="es-419" u="sng" dirty="0" smtClean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traversa.facundo@gmail.com</a:t>
            </a:r>
            <a:endParaRPr lang="es-419" dirty="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317500">
              <a:lnSpc>
                <a:spcPct val="150000"/>
              </a:lnSpc>
              <a:buClr>
                <a:srgbClr val="FFFFFF"/>
              </a:buClr>
              <a:buSzPts val="1400"/>
              <a:buFont typeface="Montserrat"/>
              <a:buChar char="●"/>
            </a:pP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Tomas </a:t>
            </a:r>
            <a:r>
              <a:rPr lang="es-419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Usatorre</a:t>
            </a: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s-419" u="sng" dirty="0" smtClean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tomyusatorre@gmail.com</a:t>
            </a:r>
            <a:endParaRPr lang="es-419" dirty="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317500">
              <a:lnSpc>
                <a:spcPct val="150000"/>
              </a:lnSpc>
              <a:buClr>
                <a:srgbClr val="FFFFFF"/>
              </a:buClr>
              <a:buSzPts val="1400"/>
              <a:buFont typeface="Montserrat"/>
              <a:buChar char="●"/>
            </a:pPr>
            <a:endParaRPr lang="es-419" u="sng" dirty="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>
              <a:lnSpc>
                <a:spcPct val="150000"/>
              </a:lnSpc>
              <a:buClr>
                <a:srgbClr val="FFFFFF"/>
              </a:buClr>
              <a:buSzPts val="1400"/>
              <a:buFont typeface="Montserrat"/>
              <a:buChar char="●"/>
            </a:pP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2832899" y="509425"/>
            <a:ext cx="3556883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s-4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Comisiones </a:t>
            </a: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S23 </a:t>
            </a:r>
            <a:r>
              <a:rPr lang="es-4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 </a:t>
            </a:r>
            <a:r>
              <a:rPr lang="es-419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S24 </a:t>
            </a:r>
            <a:r>
              <a:rPr lang="es-4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 Parte práctica</a:t>
            </a:r>
            <a:endParaRPr sz="1800" dirty="0">
              <a:solidFill>
                <a:srgbClr val="FFFF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Temas a desarrollar en la materia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1297500" y="1090619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</a:endParaRPr>
          </a:p>
        </p:txBody>
      </p:sp>
      <p:sp>
        <p:nvSpPr>
          <p:cNvPr id="242" name="Google Shape;242;p19"/>
          <p:cNvSpPr txBox="1">
            <a:spLocks noGrp="1"/>
          </p:cNvSpPr>
          <p:nvPr>
            <p:ph type="body" idx="1"/>
          </p:nvPr>
        </p:nvSpPr>
        <p:spPr>
          <a:xfrm>
            <a:off x="2030400" y="1090650"/>
            <a:ext cx="58773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800">
                <a:solidFill>
                  <a:srgbClr val="FFFFFF"/>
                </a:solidFill>
              </a:rPr>
              <a:t>Tipos Abstractos de Datos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1297500" y="2005456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</a:endParaRPr>
          </a:p>
        </p:txBody>
      </p:sp>
      <p:sp>
        <p:nvSpPr>
          <p:cNvPr id="244" name="Google Shape;244;p19"/>
          <p:cNvSpPr txBox="1">
            <a:spLocks noGrp="1"/>
          </p:cNvSpPr>
          <p:nvPr>
            <p:ph type="body" idx="1"/>
          </p:nvPr>
        </p:nvSpPr>
        <p:spPr>
          <a:xfrm>
            <a:off x="2030400" y="2005488"/>
            <a:ext cx="58773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800">
                <a:solidFill>
                  <a:srgbClr val="FFFFFF"/>
                </a:solidFill>
              </a:rPr>
              <a:t>Autómatas finitos: Determinísticos y No Determinísticos.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1297500" y="2920319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6" name="Google Shape;246;p19"/>
          <p:cNvSpPr txBox="1">
            <a:spLocks noGrp="1"/>
          </p:cNvSpPr>
          <p:nvPr>
            <p:ph type="body" idx="1"/>
          </p:nvPr>
        </p:nvSpPr>
        <p:spPr>
          <a:xfrm>
            <a:off x="2030400" y="2920338"/>
            <a:ext cx="58773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800"/>
              <a:t>Autómatas de Pila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1297500" y="3729144"/>
            <a:ext cx="7329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248" name="Google Shape;248;p19"/>
          <p:cNvSpPr txBox="1">
            <a:spLocks noGrp="1"/>
          </p:cNvSpPr>
          <p:nvPr>
            <p:ph type="body" idx="1"/>
          </p:nvPr>
        </p:nvSpPr>
        <p:spPr>
          <a:xfrm>
            <a:off x="2030400" y="3729163"/>
            <a:ext cx="58773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800"/>
              <a:t>Gramáticas de Lenguajes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&lt;/</a:t>
            </a:r>
            <a:r>
              <a:rPr lang="en" dirty="0"/>
              <a:t>Pautas de la materia</a:t>
            </a:r>
            <a:endParaRPr dirty="0"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7960150" y="3070053"/>
            <a:ext cx="264084" cy="347783"/>
            <a:chOff x="864062" y="2884503"/>
            <a:chExt cx="264084" cy="347783"/>
          </a:xfrm>
        </p:grpSpPr>
        <p:sp>
          <p:nvSpPr>
            <p:cNvPr id="134" name="Google Shape;134;p17"/>
            <p:cNvSpPr/>
            <p:nvPr/>
          </p:nvSpPr>
          <p:spPr>
            <a:xfrm>
              <a:off x="944783" y="2884503"/>
              <a:ext cx="102263" cy="122982"/>
            </a:xfrm>
            <a:custGeom>
              <a:avLst/>
              <a:gdLst/>
              <a:ahLst/>
              <a:cxnLst/>
              <a:rect l="l" t="t" r="r" b="b"/>
              <a:pathLst>
                <a:path w="3228" h="3882" extrusionOk="0">
                  <a:moveTo>
                    <a:pt x="1608" y="0"/>
                  </a:moveTo>
                  <a:cubicBezTo>
                    <a:pt x="715" y="0"/>
                    <a:pt x="1" y="727"/>
                    <a:pt x="1" y="1608"/>
                  </a:cubicBezTo>
                  <a:cubicBezTo>
                    <a:pt x="1" y="2286"/>
                    <a:pt x="418" y="2882"/>
                    <a:pt x="1060" y="3120"/>
                  </a:cubicBezTo>
                  <a:lnTo>
                    <a:pt x="1477" y="3810"/>
                  </a:lnTo>
                  <a:cubicBezTo>
                    <a:pt x="1501" y="3858"/>
                    <a:pt x="1549" y="3882"/>
                    <a:pt x="1608" y="3882"/>
                  </a:cubicBezTo>
                  <a:cubicBezTo>
                    <a:pt x="1668" y="3882"/>
                    <a:pt x="1715" y="3858"/>
                    <a:pt x="1739" y="3810"/>
                  </a:cubicBezTo>
                  <a:lnTo>
                    <a:pt x="2156" y="3120"/>
                  </a:lnTo>
                  <a:cubicBezTo>
                    <a:pt x="2561" y="2977"/>
                    <a:pt x="2906" y="2667"/>
                    <a:pt x="3085" y="2263"/>
                  </a:cubicBezTo>
                  <a:cubicBezTo>
                    <a:pt x="3108" y="2191"/>
                    <a:pt x="3085" y="2084"/>
                    <a:pt x="3001" y="2060"/>
                  </a:cubicBezTo>
                  <a:cubicBezTo>
                    <a:pt x="2982" y="2051"/>
                    <a:pt x="2961" y="2046"/>
                    <a:pt x="2940" y="2046"/>
                  </a:cubicBezTo>
                  <a:cubicBezTo>
                    <a:pt x="2883" y="2046"/>
                    <a:pt x="2825" y="2079"/>
                    <a:pt x="2799" y="2132"/>
                  </a:cubicBezTo>
                  <a:cubicBezTo>
                    <a:pt x="2644" y="2465"/>
                    <a:pt x="2370" y="2727"/>
                    <a:pt x="2013" y="2834"/>
                  </a:cubicBezTo>
                  <a:cubicBezTo>
                    <a:pt x="1977" y="2846"/>
                    <a:pt x="1930" y="2858"/>
                    <a:pt x="1918" y="2905"/>
                  </a:cubicBezTo>
                  <a:lnTo>
                    <a:pt x="1608" y="3406"/>
                  </a:lnTo>
                  <a:lnTo>
                    <a:pt x="1299" y="2905"/>
                  </a:lnTo>
                  <a:cubicBezTo>
                    <a:pt x="1275" y="2870"/>
                    <a:pt x="1251" y="2846"/>
                    <a:pt x="1203" y="2834"/>
                  </a:cubicBezTo>
                  <a:cubicBezTo>
                    <a:pt x="668" y="2655"/>
                    <a:pt x="310" y="2155"/>
                    <a:pt x="310" y="1596"/>
                  </a:cubicBezTo>
                  <a:cubicBezTo>
                    <a:pt x="310" y="905"/>
                    <a:pt x="894" y="322"/>
                    <a:pt x="1608" y="322"/>
                  </a:cubicBezTo>
                  <a:cubicBezTo>
                    <a:pt x="2311" y="322"/>
                    <a:pt x="2870" y="881"/>
                    <a:pt x="2906" y="1572"/>
                  </a:cubicBezTo>
                  <a:cubicBezTo>
                    <a:pt x="2906" y="1667"/>
                    <a:pt x="2977" y="1739"/>
                    <a:pt x="3061" y="1739"/>
                  </a:cubicBezTo>
                  <a:cubicBezTo>
                    <a:pt x="3156" y="1739"/>
                    <a:pt x="3227" y="1667"/>
                    <a:pt x="3227" y="1572"/>
                  </a:cubicBezTo>
                  <a:cubicBezTo>
                    <a:pt x="3215" y="1167"/>
                    <a:pt x="3049" y="762"/>
                    <a:pt x="2739" y="465"/>
                  </a:cubicBezTo>
                  <a:cubicBezTo>
                    <a:pt x="2442" y="167"/>
                    <a:pt x="2037" y="0"/>
                    <a:pt x="1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963664" y="2903733"/>
              <a:ext cx="65261" cy="64152"/>
            </a:xfrm>
            <a:custGeom>
              <a:avLst/>
              <a:gdLst/>
              <a:ahLst/>
              <a:cxnLst/>
              <a:rect l="l" t="t" r="r" b="b"/>
              <a:pathLst>
                <a:path w="2060" h="2025" extrusionOk="0">
                  <a:moveTo>
                    <a:pt x="1012" y="584"/>
                  </a:moveTo>
                  <a:cubicBezTo>
                    <a:pt x="1250" y="584"/>
                    <a:pt x="1441" y="774"/>
                    <a:pt x="1441" y="1013"/>
                  </a:cubicBezTo>
                  <a:cubicBezTo>
                    <a:pt x="1441" y="1251"/>
                    <a:pt x="1250" y="1453"/>
                    <a:pt x="1012" y="1453"/>
                  </a:cubicBezTo>
                  <a:cubicBezTo>
                    <a:pt x="774" y="1453"/>
                    <a:pt x="584" y="1251"/>
                    <a:pt x="584" y="1013"/>
                  </a:cubicBezTo>
                  <a:cubicBezTo>
                    <a:pt x="584" y="774"/>
                    <a:pt x="774" y="584"/>
                    <a:pt x="1012" y="584"/>
                  </a:cubicBezTo>
                  <a:close/>
                  <a:moveTo>
                    <a:pt x="1012" y="1"/>
                  </a:moveTo>
                  <a:cubicBezTo>
                    <a:pt x="929" y="1"/>
                    <a:pt x="845" y="72"/>
                    <a:pt x="845" y="167"/>
                  </a:cubicBezTo>
                  <a:lnTo>
                    <a:pt x="845" y="274"/>
                  </a:lnTo>
                  <a:cubicBezTo>
                    <a:pt x="762" y="286"/>
                    <a:pt x="667" y="334"/>
                    <a:pt x="595" y="370"/>
                  </a:cubicBezTo>
                  <a:lnTo>
                    <a:pt x="524" y="298"/>
                  </a:lnTo>
                  <a:cubicBezTo>
                    <a:pt x="494" y="268"/>
                    <a:pt x="453" y="254"/>
                    <a:pt x="411" y="254"/>
                  </a:cubicBezTo>
                  <a:cubicBezTo>
                    <a:pt x="369" y="254"/>
                    <a:pt x="328" y="268"/>
                    <a:pt x="298" y="298"/>
                  </a:cubicBezTo>
                  <a:cubicBezTo>
                    <a:pt x="238" y="358"/>
                    <a:pt x="238" y="465"/>
                    <a:pt x="298" y="524"/>
                  </a:cubicBezTo>
                  <a:lnTo>
                    <a:pt x="369" y="596"/>
                  </a:lnTo>
                  <a:cubicBezTo>
                    <a:pt x="333" y="667"/>
                    <a:pt x="286" y="763"/>
                    <a:pt x="274" y="858"/>
                  </a:cubicBezTo>
                  <a:lnTo>
                    <a:pt x="167" y="858"/>
                  </a:lnTo>
                  <a:cubicBezTo>
                    <a:pt x="72" y="858"/>
                    <a:pt x="0" y="929"/>
                    <a:pt x="0" y="1013"/>
                  </a:cubicBezTo>
                  <a:cubicBezTo>
                    <a:pt x="0" y="1108"/>
                    <a:pt x="72" y="1179"/>
                    <a:pt x="167" y="1179"/>
                  </a:cubicBezTo>
                  <a:lnTo>
                    <a:pt x="274" y="1179"/>
                  </a:lnTo>
                  <a:cubicBezTo>
                    <a:pt x="286" y="1275"/>
                    <a:pt x="333" y="1358"/>
                    <a:pt x="369" y="1429"/>
                  </a:cubicBezTo>
                  <a:lnTo>
                    <a:pt x="298" y="1513"/>
                  </a:lnTo>
                  <a:cubicBezTo>
                    <a:pt x="238" y="1572"/>
                    <a:pt x="238" y="1667"/>
                    <a:pt x="298" y="1727"/>
                  </a:cubicBezTo>
                  <a:cubicBezTo>
                    <a:pt x="333" y="1763"/>
                    <a:pt x="369" y="1775"/>
                    <a:pt x="417" y="1775"/>
                  </a:cubicBezTo>
                  <a:cubicBezTo>
                    <a:pt x="464" y="1775"/>
                    <a:pt x="512" y="1763"/>
                    <a:pt x="536" y="1727"/>
                  </a:cubicBezTo>
                  <a:lnTo>
                    <a:pt x="607" y="1656"/>
                  </a:lnTo>
                  <a:cubicBezTo>
                    <a:pt x="691" y="1703"/>
                    <a:pt x="774" y="1751"/>
                    <a:pt x="869" y="1763"/>
                  </a:cubicBezTo>
                  <a:lnTo>
                    <a:pt x="869" y="1870"/>
                  </a:lnTo>
                  <a:cubicBezTo>
                    <a:pt x="869" y="1953"/>
                    <a:pt x="941" y="2025"/>
                    <a:pt x="1024" y="2025"/>
                  </a:cubicBezTo>
                  <a:cubicBezTo>
                    <a:pt x="1119" y="2025"/>
                    <a:pt x="1191" y="1953"/>
                    <a:pt x="1191" y="1870"/>
                  </a:cubicBezTo>
                  <a:lnTo>
                    <a:pt x="1191" y="1763"/>
                  </a:lnTo>
                  <a:cubicBezTo>
                    <a:pt x="1286" y="1751"/>
                    <a:pt x="1369" y="1703"/>
                    <a:pt x="1441" y="1656"/>
                  </a:cubicBezTo>
                  <a:lnTo>
                    <a:pt x="1524" y="1727"/>
                  </a:lnTo>
                  <a:cubicBezTo>
                    <a:pt x="1548" y="1763"/>
                    <a:pt x="1596" y="1775"/>
                    <a:pt x="1643" y="1775"/>
                  </a:cubicBezTo>
                  <a:cubicBezTo>
                    <a:pt x="1679" y="1775"/>
                    <a:pt x="1727" y="1763"/>
                    <a:pt x="1762" y="1727"/>
                  </a:cubicBezTo>
                  <a:cubicBezTo>
                    <a:pt x="1822" y="1667"/>
                    <a:pt x="1822" y="1572"/>
                    <a:pt x="1762" y="1513"/>
                  </a:cubicBezTo>
                  <a:lnTo>
                    <a:pt x="1679" y="1429"/>
                  </a:lnTo>
                  <a:cubicBezTo>
                    <a:pt x="1727" y="1358"/>
                    <a:pt x="1774" y="1275"/>
                    <a:pt x="1786" y="1179"/>
                  </a:cubicBezTo>
                  <a:lnTo>
                    <a:pt x="1893" y="1179"/>
                  </a:lnTo>
                  <a:cubicBezTo>
                    <a:pt x="1977" y="1179"/>
                    <a:pt x="2060" y="1108"/>
                    <a:pt x="2060" y="1013"/>
                  </a:cubicBezTo>
                  <a:cubicBezTo>
                    <a:pt x="2012" y="929"/>
                    <a:pt x="1953" y="858"/>
                    <a:pt x="1857" y="858"/>
                  </a:cubicBezTo>
                  <a:lnTo>
                    <a:pt x="1762" y="858"/>
                  </a:lnTo>
                  <a:cubicBezTo>
                    <a:pt x="1738" y="763"/>
                    <a:pt x="1703" y="667"/>
                    <a:pt x="1655" y="596"/>
                  </a:cubicBezTo>
                  <a:lnTo>
                    <a:pt x="1727" y="524"/>
                  </a:lnTo>
                  <a:cubicBezTo>
                    <a:pt x="1786" y="465"/>
                    <a:pt x="1786" y="358"/>
                    <a:pt x="1727" y="298"/>
                  </a:cubicBezTo>
                  <a:cubicBezTo>
                    <a:pt x="1697" y="268"/>
                    <a:pt x="1655" y="254"/>
                    <a:pt x="1613" y="254"/>
                  </a:cubicBezTo>
                  <a:cubicBezTo>
                    <a:pt x="1572" y="254"/>
                    <a:pt x="1530" y="268"/>
                    <a:pt x="1500" y="298"/>
                  </a:cubicBezTo>
                  <a:lnTo>
                    <a:pt x="1429" y="370"/>
                  </a:lnTo>
                  <a:cubicBezTo>
                    <a:pt x="1357" y="334"/>
                    <a:pt x="1262" y="286"/>
                    <a:pt x="1179" y="274"/>
                  </a:cubicBezTo>
                  <a:lnTo>
                    <a:pt x="1179" y="167"/>
                  </a:lnTo>
                  <a:cubicBezTo>
                    <a:pt x="1179" y="72"/>
                    <a:pt x="1107" y="1"/>
                    <a:pt x="1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864062" y="2987843"/>
              <a:ext cx="264084" cy="244443"/>
            </a:xfrm>
            <a:custGeom>
              <a:avLst/>
              <a:gdLst/>
              <a:ahLst/>
              <a:cxnLst/>
              <a:rect l="l" t="t" r="r" b="b"/>
              <a:pathLst>
                <a:path w="8336" h="7716" extrusionOk="0">
                  <a:moveTo>
                    <a:pt x="2513" y="1"/>
                  </a:moveTo>
                  <a:cubicBezTo>
                    <a:pt x="2477" y="1"/>
                    <a:pt x="2418" y="13"/>
                    <a:pt x="2370" y="24"/>
                  </a:cubicBezTo>
                  <a:cubicBezTo>
                    <a:pt x="1834" y="167"/>
                    <a:pt x="1442" y="667"/>
                    <a:pt x="1442" y="1263"/>
                  </a:cubicBezTo>
                  <a:lnTo>
                    <a:pt x="1442" y="1358"/>
                  </a:lnTo>
                  <a:cubicBezTo>
                    <a:pt x="953" y="1513"/>
                    <a:pt x="632" y="2013"/>
                    <a:pt x="632" y="2560"/>
                  </a:cubicBezTo>
                  <a:cubicBezTo>
                    <a:pt x="632" y="2751"/>
                    <a:pt x="680" y="2941"/>
                    <a:pt x="751" y="3120"/>
                  </a:cubicBezTo>
                  <a:cubicBezTo>
                    <a:pt x="287" y="3453"/>
                    <a:pt x="1" y="4001"/>
                    <a:pt x="1" y="4596"/>
                  </a:cubicBezTo>
                  <a:cubicBezTo>
                    <a:pt x="1" y="4966"/>
                    <a:pt x="108" y="5323"/>
                    <a:pt x="322" y="5620"/>
                  </a:cubicBezTo>
                  <a:cubicBezTo>
                    <a:pt x="346" y="5675"/>
                    <a:pt x="395" y="5699"/>
                    <a:pt x="446" y="5699"/>
                  </a:cubicBezTo>
                  <a:cubicBezTo>
                    <a:pt x="473" y="5699"/>
                    <a:pt x="500" y="5692"/>
                    <a:pt x="525" y="5680"/>
                  </a:cubicBezTo>
                  <a:cubicBezTo>
                    <a:pt x="620" y="5644"/>
                    <a:pt x="644" y="5537"/>
                    <a:pt x="584" y="5442"/>
                  </a:cubicBezTo>
                  <a:cubicBezTo>
                    <a:pt x="406" y="5192"/>
                    <a:pt x="322" y="4894"/>
                    <a:pt x="322" y="4596"/>
                  </a:cubicBezTo>
                  <a:cubicBezTo>
                    <a:pt x="322" y="4061"/>
                    <a:pt x="596" y="3573"/>
                    <a:pt x="1037" y="3311"/>
                  </a:cubicBezTo>
                  <a:cubicBezTo>
                    <a:pt x="1037" y="3311"/>
                    <a:pt x="1049" y="3311"/>
                    <a:pt x="1049" y="3299"/>
                  </a:cubicBezTo>
                  <a:cubicBezTo>
                    <a:pt x="1049" y="3299"/>
                    <a:pt x="1327" y="3093"/>
                    <a:pt x="1883" y="3093"/>
                  </a:cubicBezTo>
                  <a:cubicBezTo>
                    <a:pt x="1925" y="3093"/>
                    <a:pt x="1968" y="3094"/>
                    <a:pt x="2013" y="3096"/>
                  </a:cubicBezTo>
                  <a:cubicBezTo>
                    <a:pt x="2108" y="3096"/>
                    <a:pt x="2180" y="3037"/>
                    <a:pt x="2180" y="2941"/>
                  </a:cubicBezTo>
                  <a:cubicBezTo>
                    <a:pt x="2180" y="2858"/>
                    <a:pt x="2120" y="2775"/>
                    <a:pt x="2025" y="2775"/>
                  </a:cubicBezTo>
                  <a:cubicBezTo>
                    <a:pt x="2000" y="2774"/>
                    <a:pt x="1975" y="2774"/>
                    <a:pt x="1950" y="2774"/>
                  </a:cubicBezTo>
                  <a:cubicBezTo>
                    <a:pt x="1502" y="2774"/>
                    <a:pt x="1182" y="2874"/>
                    <a:pt x="1013" y="2953"/>
                  </a:cubicBezTo>
                  <a:cubicBezTo>
                    <a:pt x="953" y="2834"/>
                    <a:pt x="941" y="2703"/>
                    <a:pt x="941" y="2560"/>
                  </a:cubicBezTo>
                  <a:cubicBezTo>
                    <a:pt x="941" y="2108"/>
                    <a:pt x="1239" y="1727"/>
                    <a:pt x="1644" y="1632"/>
                  </a:cubicBezTo>
                  <a:cubicBezTo>
                    <a:pt x="1680" y="1632"/>
                    <a:pt x="1882" y="1632"/>
                    <a:pt x="2013" y="1763"/>
                  </a:cubicBezTo>
                  <a:cubicBezTo>
                    <a:pt x="2120" y="1870"/>
                    <a:pt x="2180" y="2025"/>
                    <a:pt x="2180" y="2239"/>
                  </a:cubicBezTo>
                  <a:cubicBezTo>
                    <a:pt x="2180" y="2334"/>
                    <a:pt x="2251" y="2406"/>
                    <a:pt x="2323" y="2406"/>
                  </a:cubicBezTo>
                  <a:cubicBezTo>
                    <a:pt x="2418" y="2406"/>
                    <a:pt x="2489" y="2334"/>
                    <a:pt x="2489" y="2239"/>
                  </a:cubicBezTo>
                  <a:cubicBezTo>
                    <a:pt x="2489" y="1929"/>
                    <a:pt x="2394" y="1691"/>
                    <a:pt x="2215" y="1525"/>
                  </a:cubicBezTo>
                  <a:cubicBezTo>
                    <a:pt x="2073" y="1394"/>
                    <a:pt x="1882" y="1334"/>
                    <a:pt x="1763" y="1322"/>
                  </a:cubicBezTo>
                  <a:lnTo>
                    <a:pt x="1763" y="1275"/>
                  </a:lnTo>
                  <a:cubicBezTo>
                    <a:pt x="1763" y="846"/>
                    <a:pt x="2037" y="453"/>
                    <a:pt x="2430" y="358"/>
                  </a:cubicBezTo>
                  <a:cubicBezTo>
                    <a:pt x="2477" y="334"/>
                    <a:pt x="2513" y="334"/>
                    <a:pt x="2561" y="322"/>
                  </a:cubicBezTo>
                  <a:lnTo>
                    <a:pt x="2846" y="322"/>
                  </a:lnTo>
                  <a:cubicBezTo>
                    <a:pt x="3370" y="322"/>
                    <a:pt x="3799" y="751"/>
                    <a:pt x="3799" y="1275"/>
                  </a:cubicBezTo>
                  <a:lnTo>
                    <a:pt x="3799" y="4608"/>
                  </a:lnTo>
                  <a:cubicBezTo>
                    <a:pt x="3311" y="4644"/>
                    <a:pt x="2858" y="4835"/>
                    <a:pt x="2513" y="5180"/>
                  </a:cubicBezTo>
                  <a:cubicBezTo>
                    <a:pt x="2477" y="5216"/>
                    <a:pt x="2454" y="5311"/>
                    <a:pt x="2489" y="5370"/>
                  </a:cubicBezTo>
                  <a:cubicBezTo>
                    <a:pt x="2513" y="5430"/>
                    <a:pt x="2573" y="5442"/>
                    <a:pt x="2620" y="5442"/>
                  </a:cubicBezTo>
                  <a:cubicBezTo>
                    <a:pt x="2668" y="5442"/>
                    <a:pt x="2715" y="5430"/>
                    <a:pt x="2739" y="5394"/>
                  </a:cubicBezTo>
                  <a:cubicBezTo>
                    <a:pt x="3037" y="5097"/>
                    <a:pt x="3454" y="4918"/>
                    <a:pt x="3894" y="4918"/>
                  </a:cubicBezTo>
                  <a:cubicBezTo>
                    <a:pt x="4168" y="5192"/>
                    <a:pt x="4335" y="5573"/>
                    <a:pt x="4335" y="5978"/>
                  </a:cubicBezTo>
                  <a:cubicBezTo>
                    <a:pt x="4335" y="6382"/>
                    <a:pt x="4168" y="6763"/>
                    <a:pt x="3894" y="7037"/>
                  </a:cubicBezTo>
                  <a:cubicBezTo>
                    <a:pt x="3656" y="7263"/>
                    <a:pt x="3335" y="7394"/>
                    <a:pt x="3013" y="7394"/>
                  </a:cubicBezTo>
                  <a:cubicBezTo>
                    <a:pt x="2358" y="7394"/>
                    <a:pt x="1811" y="6882"/>
                    <a:pt x="1703" y="6204"/>
                  </a:cubicBezTo>
                  <a:cubicBezTo>
                    <a:pt x="1763" y="6097"/>
                    <a:pt x="1942" y="5787"/>
                    <a:pt x="2215" y="5680"/>
                  </a:cubicBezTo>
                  <a:cubicBezTo>
                    <a:pt x="2299" y="5656"/>
                    <a:pt x="2358" y="5561"/>
                    <a:pt x="2323" y="5489"/>
                  </a:cubicBezTo>
                  <a:cubicBezTo>
                    <a:pt x="2304" y="5413"/>
                    <a:pt x="2239" y="5375"/>
                    <a:pt x="2171" y="5375"/>
                  </a:cubicBezTo>
                  <a:cubicBezTo>
                    <a:pt x="2154" y="5375"/>
                    <a:pt x="2137" y="5377"/>
                    <a:pt x="2120" y="5382"/>
                  </a:cubicBezTo>
                  <a:cubicBezTo>
                    <a:pt x="1775" y="5513"/>
                    <a:pt x="1549" y="5847"/>
                    <a:pt x="1442" y="6013"/>
                  </a:cubicBezTo>
                  <a:cubicBezTo>
                    <a:pt x="1287" y="5978"/>
                    <a:pt x="1132" y="5918"/>
                    <a:pt x="989" y="5835"/>
                  </a:cubicBezTo>
                  <a:cubicBezTo>
                    <a:pt x="956" y="5816"/>
                    <a:pt x="920" y="5806"/>
                    <a:pt x="887" y="5806"/>
                  </a:cubicBezTo>
                  <a:cubicBezTo>
                    <a:pt x="837" y="5806"/>
                    <a:pt x="791" y="5828"/>
                    <a:pt x="763" y="5870"/>
                  </a:cubicBezTo>
                  <a:cubicBezTo>
                    <a:pt x="715" y="5954"/>
                    <a:pt x="727" y="6049"/>
                    <a:pt x="810" y="6097"/>
                  </a:cubicBezTo>
                  <a:cubicBezTo>
                    <a:pt x="989" y="6216"/>
                    <a:pt x="1191" y="6287"/>
                    <a:pt x="1406" y="6323"/>
                  </a:cubicBezTo>
                  <a:cubicBezTo>
                    <a:pt x="1549" y="7121"/>
                    <a:pt x="2239" y="7716"/>
                    <a:pt x="3025" y="7716"/>
                  </a:cubicBezTo>
                  <a:cubicBezTo>
                    <a:pt x="3430" y="7716"/>
                    <a:pt x="3823" y="7561"/>
                    <a:pt x="4120" y="7275"/>
                  </a:cubicBezTo>
                  <a:lnTo>
                    <a:pt x="4168" y="7228"/>
                  </a:lnTo>
                  <a:lnTo>
                    <a:pt x="4216" y="7275"/>
                  </a:lnTo>
                  <a:cubicBezTo>
                    <a:pt x="4251" y="7299"/>
                    <a:pt x="4287" y="7335"/>
                    <a:pt x="4323" y="7359"/>
                  </a:cubicBezTo>
                  <a:cubicBezTo>
                    <a:pt x="4609" y="7597"/>
                    <a:pt x="4966" y="7716"/>
                    <a:pt x="5311" y="7716"/>
                  </a:cubicBezTo>
                  <a:cubicBezTo>
                    <a:pt x="6109" y="7716"/>
                    <a:pt x="6787" y="7121"/>
                    <a:pt x="6942" y="6323"/>
                  </a:cubicBezTo>
                  <a:cubicBezTo>
                    <a:pt x="7168" y="6287"/>
                    <a:pt x="7371" y="6204"/>
                    <a:pt x="7561" y="6085"/>
                  </a:cubicBezTo>
                  <a:cubicBezTo>
                    <a:pt x="7633" y="6037"/>
                    <a:pt x="7657" y="5954"/>
                    <a:pt x="7621" y="5870"/>
                  </a:cubicBezTo>
                  <a:cubicBezTo>
                    <a:pt x="7589" y="5816"/>
                    <a:pt x="7538" y="5781"/>
                    <a:pt x="7478" y="5781"/>
                  </a:cubicBezTo>
                  <a:cubicBezTo>
                    <a:pt x="7448" y="5781"/>
                    <a:pt x="7415" y="5791"/>
                    <a:pt x="7383" y="5811"/>
                  </a:cubicBezTo>
                  <a:cubicBezTo>
                    <a:pt x="7240" y="5918"/>
                    <a:pt x="7061" y="5978"/>
                    <a:pt x="6883" y="6013"/>
                  </a:cubicBezTo>
                  <a:cubicBezTo>
                    <a:pt x="6787" y="5835"/>
                    <a:pt x="6573" y="5513"/>
                    <a:pt x="6204" y="5382"/>
                  </a:cubicBezTo>
                  <a:cubicBezTo>
                    <a:pt x="6187" y="5377"/>
                    <a:pt x="6171" y="5375"/>
                    <a:pt x="6154" y="5375"/>
                  </a:cubicBezTo>
                  <a:cubicBezTo>
                    <a:pt x="6089" y="5375"/>
                    <a:pt x="6030" y="5413"/>
                    <a:pt x="6002" y="5489"/>
                  </a:cubicBezTo>
                  <a:cubicBezTo>
                    <a:pt x="5978" y="5573"/>
                    <a:pt x="6025" y="5656"/>
                    <a:pt x="6109" y="5680"/>
                  </a:cubicBezTo>
                  <a:cubicBezTo>
                    <a:pt x="6383" y="5787"/>
                    <a:pt x="6561" y="6097"/>
                    <a:pt x="6621" y="6204"/>
                  </a:cubicBezTo>
                  <a:cubicBezTo>
                    <a:pt x="6525" y="6882"/>
                    <a:pt x="5966" y="7394"/>
                    <a:pt x="5311" y="7394"/>
                  </a:cubicBezTo>
                  <a:cubicBezTo>
                    <a:pt x="5037" y="7394"/>
                    <a:pt x="4751" y="7287"/>
                    <a:pt x="4513" y="7109"/>
                  </a:cubicBezTo>
                  <a:cubicBezTo>
                    <a:pt x="4478" y="7085"/>
                    <a:pt x="4454" y="7061"/>
                    <a:pt x="4418" y="7037"/>
                  </a:cubicBezTo>
                  <a:cubicBezTo>
                    <a:pt x="4394" y="7025"/>
                    <a:pt x="4382" y="6990"/>
                    <a:pt x="4347" y="6966"/>
                  </a:cubicBezTo>
                  <a:cubicBezTo>
                    <a:pt x="4537" y="6680"/>
                    <a:pt x="4644" y="6323"/>
                    <a:pt x="4644" y="5966"/>
                  </a:cubicBezTo>
                  <a:cubicBezTo>
                    <a:pt x="4644" y="5859"/>
                    <a:pt x="4632" y="5775"/>
                    <a:pt x="4620" y="5680"/>
                  </a:cubicBezTo>
                  <a:lnTo>
                    <a:pt x="4620" y="5680"/>
                  </a:lnTo>
                  <a:cubicBezTo>
                    <a:pt x="5430" y="5859"/>
                    <a:pt x="5728" y="6251"/>
                    <a:pt x="5823" y="6430"/>
                  </a:cubicBezTo>
                  <a:cubicBezTo>
                    <a:pt x="5844" y="6482"/>
                    <a:pt x="5910" y="6516"/>
                    <a:pt x="5973" y="6516"/>
                  </a:cubicBezTo>
                  <a:cubicBezTo>
                    <a:pt x="5983" y="6516"/>
                    <a:pt x="5992" y="6515"/>
                    <a:pt x="6002" y="6513"/>
                  </a:cubicBezTo>
                  <a:cubicBezTo>
                    <a:pt x="6109" y="6501"/>
                    <a:pt x="6168" y="6382"/>
                    <a:pt x="6121" y="6275"/>
                  </a:cubicBezTo>
                  <a:cubicBezTo>
                    <a:pt x="5990" y="6025"/>
                    <a:pt x="5633" y="5561"/>
                    <a:pt x="4656" y="5370"/>
                  </a:cubicBezTo>
                  <a:cubicBezTo>
                    <a:pt x="4646" y="5367"/>
                    <a:pt x="4634" y="5365"/>
                    <a:pt x="4622" y="5365"/>
                  </a:cubicBezTo>
                  <a:cubicBezTo>
                    <a:pt x="4594" y="5365"/>
                    <a:pt x="4562" y="5374"/>
                    <a:pt x="4537" y="5382"/>
                  </a:cubicBezTo>
                  <a:cubicBezTo>
                    <a:pt x="4501" y="5239"/>
                    <a:pt x="4418" y="5097"/>
                    <a:pt x="4347" y="4977"/>
                  </a:cubicBezTo>
                  <a:cubicBezTo>
                    <a:pt x="4359" y="4954"/>
                    <a:pt x="4394" y="4942"/>
                    <a:pt x="4418" y="4906"/>
                  </a:cubicBezTo>
                  <a:cubicBezTo>
                    <a:pt x="4859" y="4906"/>
                    <a:pt x="5252" y="5073"/>
                    <a:pt x="5573" y="5382"/>
                  </a:cubicBezTo>
                  <a:cubicBezTo>
                    <a:pt x="5597" y="5418"/>
                    <a:pt x="5644" y="5430"/>
                    <a:pt x="5692" y="5430"/>
                  </a:cubicBezTo>
                  <a:cubicBezTo>
                    <a:pt x="5752" y="5430"/>
                    <a:pt x="5787" y="5394"/>
                    <a:pt x="5823" y="5358"/>
                  </a:cubicBezTo>
                  <a:cubicBezTo>
                    <a:pt x="5847" y="5299"/>
                    <a:pt x="5847" y="5204"/>
                    <a:pt x="5787" y="5156"/>
                  </a:cubicBezTo>
                  <a:cubicBezTo>
                    <a:pt x="5454" y="4823"/>
                    <a:pt x="4990" y="4608"/>
                    <a:pt x="4513" y="4596"/>
                  </a:cubicBezTo>
                  <a:lnTo>
                    <a:pt x="4513" y="1251"/>
                  </a:lnTo>
                  <a:cubicBezTo>
                    <a:pt x="4513" y="727"/>
                    <a:pt x="4942" y="298"/>
                    <a:pt x="5466" y="298"/>
                  </a:cubicBezTo>
                  <a:lnTo>
                    <a:pt x="5752" y="298"/>
                  </a:lnTo>
                  <a:cubicBezTo>
                    <a:pt x="5787" y="298"/>
                    <a:pt x="5835" y="310"/>
                    <a:pt x="5883" y="310"/>
                  </a:cubicBezTo>
                  <a:cubicBezTo>
                    <a:pt x="6287" y="417"/>
                    <a:pt x="6549" y="786"/>
                    <a:pt x="6549" y="1227"/>
                  </a:cubicBezTo>
                  <a:lnTo>
                    <a:pt x="6549" y="1275"/>
                  </a:lnTo>
                  <a:cubicBezTo>
                    <a:pt x="6418" y="1287"/>
                    <a:pt x="6240" y="1334"/>
                    <a:pt x="6085" y="1489"/>
                  </a:cubicBezTo>
                  <a:cubicBezTo>
                    <a:pt x="5906" y="1644"/>
                    <a:pt x="5823" y="1882"/>
                    <a:pt x="5823" y="2203"/>
                  </a:cubicBezTo>
                  <a:cubicBezTo>
                    <a:pt x="5823" y="2287"/>
                    <a:pt x="5883" y="2346"/>
                    <a:pt x="5954" y="2358"/>
                  </a:cubicBezTo>
                  <a:cubicBezTo>
                    <a:pt x="5967" y="2361"/>
                    <a:pt x="5979" y="2362"/>
                    <a:pt x="5990" y="2362"/>
                  </a:cubicBezTo>
                  <a:cubicBezTo>
                    <a:pt x="6077" y="2362"/>
                    <a:pt x="6133" y="2287"/>
                    <a:pt x="6133" y="2203"/>
                  </a:cubicBezTo>
                  <a:cubicBezTo>
                    <a:pt x="6133" y="1977"/>
                    <a:pt x="6192" y="1822"/>
                    <a:pt x="6299" y="1727"/>
                  </a:cubicBezTo>
                  <a:cubicBezTo>
                    <a:pt x="6430" y="1584"/>
                    <a:pt x="6621" y="1584"/>
                    <a:pt x="6668" y="1584"/>
                  </a:cubicBezTo>
                  <a:cubicBezTo>
                    <a:pt x="7073" y="1679"/>
                    <a:pt x="7371" y="2060"/>
                    <a:pt x="7371" y="2513"/>
                  </a:cubicBezTo>
                  <a:cubicBezTo>
                    <a:pt x="7371" y="2644"/>
                    <a:pt x="7335" y="2775"/>
                    <a:pt x="7299" y="2918"/>
                  </a:cubicBezTo>
                  <a:cubicBezTo>
                    <a:pt x="7138" y="2832"/>
                    <a:pt x="6840" y="2736"/>
                    <a:pt x="6424" y="2736"/>
                  </a:cubicBezTo>
                  <a:cubicBezTo>
                    <a:pt x="6380" y="2736"/>
                    <a:pt x="6334" y="2737"/>
                    <a:pt x="6287" y="2739"/>
                  </a:cubicBezTo>
                  <a:cubicBezTo>
                    <a:pt x="6192" y="2739"/>
                    <a:pt x="6133" y="2799"/>
                    <a:pt x="6121" y="2882"/>
                  </a:cubicBezTo>
                  <a:cubicBezTo>
                    <a:pt x="6109" y="2989"/>
                    <a:pt x="6192" y="3061"/>
                    <a:pt x="6287" y="3061"/>
                  </a:cubicBezTo>
                  <a:cubicBezTo>
                    <a:pt x="6317" y="3059"/>
                    <a:pt x="6346" y="3059"/>
                    <a:pt x="6374" y="3059"/>
                  </a:cubicBezTo>
                  <a:cubicBezTo>
                    <a:pt x="6937" y="3059"/>
                    <a:pt x="7240" y="3275"/>
                    <a:pt x="7252" y="3275"/>
                  </a:cubicBezTo>
                  <a:lnTo>
                    <a:pt x="7264" y="3287"/>
                  </a:lnTo>
                  <a:cubicBezTo>
                    <a:pt x="7716" y="3537"/>
                    <a:pt x="7978" y="4025"/>
                    <a:pt x="7978" y="4561"/>
                  </a:cubicBezTo>
                  <a:cubicBezTo>
                    <a:pt x="7978" y="4858"/>
                    <a:pt x="7895" y="5144"/>
                    <a:pt x="7740" y="5382"/>
                  </a:cubicBezTo>
                  <a:cubicBezTo>
                    <a:pt x="7692" y="5454"/>
                    <a:pt x="7716" y="5549"/>
                    <a:pt x="7776" y="5608"/>
                  </a:cubicBezTo>
                  <a:cubicBezTo>
                    <a:pt x="7799" y="5632"/>
                    <a:pt x="7835" y="5632"/>
                    <a:pt x="7871" y="5632"/>
                  </a:cubicBezTo>
                  <a:cubicBezTo>
                    <a:pt x="7930" y="5632"/>
                    <a:pt x="7978" y="5608"/>
                    <a:pt x="8014" y="5561"/>
                  </a:cubicBezTo>
                  <a:cubicBezTo>
                    <a:pt x="8204" y="5263"/>
                    <a:pt x="8311" y="4918"/>
                    <a:pt x="8311" y="4561"/>
                  </a:cubicBezTo>
                  <a:cubicBezTo>
                    <a:pt x="8335" y="4001"/>
                    <a:pt x="8061" y="3453"/>
                    <a:pt x="7597" y="3120"/>
                  </a:cubicBezTo>
                  <a:cubicBezTo>
                    <a:pt x="7680" y="2941"/>
                    <a:pt x="7716" y="2751"/>
                    <a:pt x="7716" y="2560"/>
                  </a:cubicBezTo>
                  <a:cubicBezTo>
                    <a:pt x="7716" y="2013"/>
                    <a:pt x="7371" y="1537"/>
                    <a:pt x="6895" y="1358"/>
                  </a:cubicBezTo>
                  <a:lnTo>
                    <a:pt x="6895" y="1263"/>
                  </a:lnTo>
                  <a:cubicBezTo>
                    <a:pt x="6895" y="679"/>
                    <a:pt x="6525" y="179"/>
                    <a:pt x="5978" y="24"/>
                  </a:cubicBezTo>
                  <a:cubicBezTo>
                    <a:pt x="5930" y="13"/>
                    <a:pt x="5871" y="13"/>
                    <a:pt x="5823" y="1"/>
                  </a:cubicBezTo>
                  <a:lnTo>
                    <a:pt x="5478" y="1"/>
                  </a:lnTo>
                  <a:cubicBezTo>
                    <a:pt x="4787" y="1"/>
                    <a:pt x="4216" y="560"/>
                    <a:pt x="4216" y="1263"/>
                  </a:cubicBezTo>
                  <a:lnTo>
                    <a:pt x="4216" y="4692"/>
                  </a:lnTo>
                  <a:lnTo>
                    <a:pt x="4168" y="4727"/>
                  </a:lnTo>
                  <a:lnTo>
                    <a:pt x="4120" y="4692"/>
                  </a:lnTo>
                  <a:lnTo>
                    <a:pt x="4120" y="1263"/>
                  </a:lnTo>
                  <a:cubicBezTo>
                    <a:pt x="4120" y="560"/>
                    <a:pt x="3561" y="1"/>
                    <a:pt x="2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022494" y="3006724"/>
              <a:ext cx="44162" cy="22271"/>
            </a:xfrm>
            <a:custGeom>
              <a:avLst/>
              <a:gdLst/>
              <a:ahLst/>
              <a:cxnLst/>
              <a:rect l="l" t="t" r="r" b="b"/>
              <a:pathLst>
                <a:path w="1394" h="703" extrusionOk="0">
                  <a:moveTo>
                    <a:pt x="454" y="0"/>
                  </a:moveTo>
                  <a:cubicBezTo>
                    <a:pt x="402" y="0"/>
                    <a:pt x="350" y="4"/>
                    <a:pt x="298" y="12"/>
                  </a:cubicBezTo>
                  <a:lnTo>
                    <a:pt x="155" y="24"/>
                  </a:lnTo>
                  <a:cubicBezTo>
                    <a:pt x="60" y="48"/>
                    <a:pt x="0" y="119"/>
                    <a:pt x="12" y="202"/>
                  </a:cubicBezTo>
                  <a:cubicBezTo>
                    <a:pt x="34" y="290"/>
                    <a:pt x="96" y="347"/>
                    <a:pt x="170" y="347"/>
                  </a:cubicBezTo>
                  <a:cubicBezTo>
                    <a:pt x="177" y="347"/>
                    <a:pt x="184" y="346"/>
                    <a:pt x="191" y="345"/>
                  </a:cubicBezTo>
                  <a:lnTo>
                    <a:pt x="346" y="321"/>
                  </a:lnTo>
                  <a:cubicBezTo>
                    <a:pt x="370" y="319"/>
                    <a:pt x="394" y="318"/>
                    <a:pt x="417" y="318"/>
                  </a:cubicBezTo>
                  <a:cubicBezTo>
                    <a:pt x="675" y="318"/>
                    <a:pt x="908" y="436"/>
                    <a:pt x="1072" y="643"/>
                  </a:cubicBezTo>
                  <a:cubicBezTo>
                    <a:pt x="1108" y="679"/>
                    <a:pt x="1143" y="702"/>
                    <a:pt x="1203" y="702"/>
                  </a:cubicBezTo>
                  <a:cubicBezTo>
                    <a:pt x="1239" y="702"/>
                    <a:pt x="1286" y="679"/>
                    <a:pt x="1298" y="667"/>
                  </a:cubicBezTo>
                  <a:cubicBezTo>
                    <a:pt x="1370" y="607"/>
                    <a:pt x="1394" y="524"/>
                    <a:pt x="1334" y="440"/>
                  </a:cubicBezTo>
                  <a:cubicBezTo>
                    <a:pt x="1126" y="171"/>
                    <a:pt x="802" y="0"/>
                    <a:pt x="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1086234" y="3100244"/>
              <a:ext cx="28322" cy="37002"/>
            </a:xfrm>
            <a:custGeom>
              <a:avLst/>
              <a:gdLst/>
              <a:ahLst/>
              <a:cxnLst/>
              <a:rect l="l" t="t" r="r" b="b"/>
              <a:pathLst>
                <a:path w="894" h="1168" extrusionOk="0">
                  <a:moveTo>
                    <a:pt x="181" y="1"/>
                  </a:moveTo>
                  <a:cubicBezTo>
                    <a:pt x="115" y="1"/>
                    <a:pt x="55" y="44"/>
                    <a:pt x="36" y="108"/>
                  </a:cubicBezTo>
                  <a:cubicBezTo>
                    <a:pt x="1" y="203"/>
                    <a:pt x="48" y="286"/>
                    <a:pt x="132" y="322"/>
                  </a:cubicBezTo>
                  <a:cubicBezTo>
                    <a:pt x="525" y="441"/>
                    <a:pt x="572" y="1025"/>
                    <a:pt x="572" y="1025"/>
                  </a:cubicBezTo>
                  <a:cubicBezTo>
                    <a:pt x="572" y="1108"/>
                    <a:pt x="644" y="1168"/>
                    <a:pt x="727" y="1168"/>
                  </a:cubicBezTo>
                  <a:lnTo>
                    <a:pt x="751" y="1168"/>
                  </a:lnTo>
                  <a:cubicBezTo>
                    <a:pt x="822" y="1168"/>
                    <a:pt x="894" y="1096"/>
                    <a:pt x="894" y="1001"/>
                  </a:cubicBezTo>
                  <a:cubicBezTo>
                    <a:pt x="894" y="977"/>
                    <a:pt x="846" y="203"/>
                    <a:pt x="239" y="13"/>
                  </a:cubicBezTo>
                  <a:cubicBezTo>
                    <a:pt x="220" y="4"/>
                    <a:pt x="200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1023634" y="3077941"/>
              <a:ext cx="26041" cy="49167"/>
            </a:xfrm>
            <a:custGeom>
              <a:avLst/>
              <a:gdLst/>
              <a:ahLst/>
              <a:cxnLst/>
              <a:rect l="l" t="t" r="r" b="b"/>
              <a:pathLst>
                <a:path w="822" h="1552" extrusionOk="0">
                  <a:moveTo>
                    <a:pt x="646" y="0"/>
                  </a:moveTo>
                  <a:cubicBezTo>
                    <a:pt x="617" y="0"/>
                    <a:pt x="588" y="9"/>
                    <a:pt x="560" y="26"/>
                  </a:cubicBezTo>
                  <a:cubicBezTo>
                    <a:pt x="345" y="181"/>
                    <a:pt x="0" y="538"/>
                    <a:pt x="0" y="1383"/>
                  </a:cubicBezTo>
                  <a:cubicBezTo>
                    <a:pt x="0" y="1462"/>
                    <a:pt x="74" y="1551"/>
                    <a:pt x="163" y="1551"/>
                  </a:cubicBezTo>
                  <a:cubicBezTo>
                    <a:pt x="168" y="1551"/>
                    <a:pt x="173" y="1551"/>
                    <a:pt x="179" y="1550"/>
                  </a:cubicBezTo>
                  <a:cubicBezTo>
                    <a:pt x="250" y="1526"/>
                    <a:pt x="310" y="1455"/>
                    <a:pt x="310" y="1383"/>
                  </a:cubicBezTo>
                  <a:cubicBezTo>
                    <a:pt x="310" y="681"/>
                    <a:pt x="584" y="395"/>
                    <a:pt x="726" y="312"/>
                  </a:cubicBezTo>
                  <a:cubicBezTo>
                    <a:pt x="786" y="264"/>
                    <a:pt x="822" y="205"/>
                    <a:pt x="798" y="133"/>
                  </a:cubicBezTo>
                  <a:cubicBezTo>
                    <a:pt x="781" y="49"/>
                    <a:pt x="716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924413" y="3006819"/>
              <a:ext cx="44162" cy="22176"/>
            </a:xfrm>
            <a:custGeom>
              <a:avLst/>
              <a:gdLst/>
              <a:ahLst/>
              <a:cxnLst/>
              <a:rect l="l" t="t" r="r" b="b"/>
              <a:pathLst>
                <a:path w="1394" h="700" extrusionOk="0">
                  <a:moveTo>
                    <a:pt x="963" y="1"/>
                  </a:moveTo>
                  <a:cubicBezTo>
                    <a:pt x="614" y="1"/>
                    <a:pt x="272" y="163"/>
                    <a:pt x="60" y="437"/>
                  </a:cubicBezTo>
                  <a:cubicBezTo>
                    <a:pt x="1" y="521"/>
                    <a:pt x="25" y="616"/>
                    <a:pt x="96" y="664"/>
                  </a:cubicBezTo>
                  <a:cubicBezTo>
                    <a:pt x="120" y="676"/>
                    <a:pt x="156" y="699"/>
                    <a:pt x="179" y="699"/>
                  </a:cubicBezTo>
                  <a:cubicBezTo>
                    <a:pt x="227" y="699"/>
                    <a:pt x="287" y="664"/>
                    <a:pt x="322" y="640"/>
                  </a:cubicBezTo>
                  <a:cubicBezTo>
                    <a:pt x="464" y="433"/>
                    <a:pt x="716" y="315"/>
                    <a:pt x="976" y="315"/>
                  </a:cubicBezTo>
                  <a:cubicBezTo>
                    <a:pt x="1000" y="315"/>
                    <a:pt x="1025" y="316"/>
                    <a:pt x="1049" y="318"/>
                  </a:cubicBezTo>
                  <a:lnTo>
                    <a:pt x="1191" y="342"/>
                  </a:lnTo>
                  <a:cubicBezTo>
                    <a:pt x="1200" y="343"/>
                    <a:pt x="1208" y="344"/>
                    <a:pt x="1215" y="344"/>
                  </a:cubicBezTo>
                  <a:cubicBezTo>
                    <a:pt x="1298" y="344"/>
                    <a:pt x="1359" y="287"/>
                    <a:pt x="1370" y="199"/>
                  </a:cubicBezTo>
                  <a:cubicBezTo>
                    <a:pt x="1394" y="116"/>
                    <a:pt x="1334" y="21"/>
                    <a:pt x="1239" y="21"/>
                  </a:cubicBezTo>
                  <a:lnTo>
                    <a:pt x="1096" y="9"/>
                  </a:lnTo>
                  <a:cubicBezTo>
                    <a:pt x="1052" y="3"/>
                    <a:pt x="1007" y="1"/>
                    <a:pt x="9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929703" y="3158757"/>
              <a:ext cx="56232" cy="41849"/>
            </a:xfrm>
            <a:custGeom>
              <a:avLst/>
              <a:gdLst/>
              <a:ahLst/>
              <a:cxnLst/>
              <a:rect l="l" t="t" r="r" b="b"/>
              <a:pathLst>
                <a:path w="1775" h="1321" extrusionOk="0">
                  <a:moveTo>
                    <a:pt x="1604" y="1"/>
                  </a:moveTo>
                  <a:cubicBezTo>
                    <a:pt x="1586" y="1"/>
                    <a:pt x="1567" y="4"/>
                    <a:pt x="1548" y="11"/>
                  </a:cubicBezTo>
                  <a:cubicBezTo>
                    <a:pt x="179" y="309"/>
                    <a:pt x="36" y="1095"/>
                    <a:pt x="12" y="1118"/>
                  </a:cubicBezTo>
                  <a:cubicBezTo>
                    <a:pt x="1" y="1214"/>
                    <a:pt x="60" y="1297"/>
                    <a:pt x="155" y="1321"/>
                  </a:cubicBezTo>
                  <a:lnTo>
                    <a:pt x="179" y="1321"/>
                  </a:lnTo>
                  <a:cubicBezTo>
                    <a:pt x="251" y="1321"/>
                    <a:pt x="334" y="1261"/>
                    <a:pt x="346" y="1178"/>
                  </a:cubicBezTo>
                  <a:cubicBezTo>
                    <a:pt x="346" y="1178"/>
                    <a:pt x="477" y="571"/>
                    <a:pt x="1620" y="333"/>
                  </a:cubicBezTo>
                  <a:cubicBezTo>
                    <a:pt x="1715" y="309"/>
                    <a:pt x="1775" y="213"/>
                    <a:pt x="1739" y="130"/>
                  </a:cubicBezTo>
                  <a:cubicBezTo>
                    <a:pt x="1729" y="54"/>
                    <a:pt x="1674" y="1"/>
                    <a:pt x="1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876512" y="3100244"/>
              <a:ext cx="28322" cy="37002"/>
            </a:xfrm>
            <a:custGeom>
              <a:avLst/>
              <a:gdLst/>
              <a:ahLst/>
              <a:cxnLst/>
              <a:rect l="l" t="t" r="r" b="b"/>
              <a:pathLst>
                <a:path w="894" h="1168" extrusionOk="0">
                  <a:moveTo>
                    <a:pt x="714" y="1"/>
                  </a:moveTo>
                  <a:cubicBezTo>
                    <a:pt x="694" y="1"/>
                    <a:pt x="675" y="4"/>
                    <a:pt x="656" y="13"/>
                  </a:cubicBezTo>
                  <a:cubicBezTo>
                    <a:pt x="60" y="203"/>
                    <a:pt x="1" y="965"/>
                    <a:pt x="1" y="1001"/>
                  </a:cubicBezTo>
                  <a:cubicBezTo>
                    <a:pt x="1" y="1096"/>
                    <a:pt x="60" y="1168"/>
                    <a:pt x="144" y="1168"/>
                  </a:cubicBezTo>
                  <a:lnTo>
                    <a:pt x="156" y="1168"/>
                  </a:lnTo>
                  <a:cubicBezTo>
                    <a:pt x="251" y="1168"/>
                    <a:pt x="322" y="1108"/>
                    <a:pt x="322" y="1025"/>
                  </a:cubicBezTo>
                  <a:cubicBezTo>
                    <a:pt x="322" y="1025"/>
                    <a:pt x="358" y="441"/>
                    <a:pt x="751" y="322"/>
                  </a:cubicBezTo>
                  <a:cubicBezTo>
                    <a:pt x="846" y="286"/>
                    <a:pt x="894" y="203"/>
                    <a:pt x="858" y="108"/>
                  </a:cubicBezTo>
                  <a:cubicBezTo>
                    <a:pt x="840" y="44"/>
                    <a:pt x="779" y="1"/>
                    <a:pt x="7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941393" y="3077941"/>
              <a:ext cx="26453" cy="49484"/>
            </a:xfrm>
            <a:custGeom>
              <a:avLst/>
              <a:gdLst/>
              <a:ahLst/>
              <a:cxnLst/>
              <a:rect l="l" t="t" r="r" b="b"/>
              <a:pathLst>
                <a:path w="835" h="1562" extrusionOk="0">
                  <a:moveTo>
                    <a:pt x="185" y="0"/>
                  </a:moveTo>
                  <a:cubicBezTo>
                    <a:pt x="112" y="0"/>
                    <a:pt x="41" y="49"/>
                    <a:pt x="24" y="133"/>
                  </a:cubicBezTo>
                  <a:cubicBezTo>
                    <a:pt x="1" y="193"/>
                    <a:pt x="36" y="264"/>
                    <a:pt x="96" y="312"/>
                  </a:cubicBezTo>
                  <a:cubicBezTo>
                    <a:pt x="239" y="419"/>
                    <a:pt x="513" y="681"/>
                    <a:pt x="513" y="1395"/>
                  </a:cubicBezTo>
                  <a:cubicBezTo>
                    <a:pt x="513" y="1491"/>
                    <a:pt x="584" y="1562"/>
                    <a:pt x="679" y="1562"/>
                  </a:cubicBezTo>
                  <a:cubicBezTo>
                    <a:pt x="763" y="1562"/>
                    <a:pt x="834" y="1491"/>
                    <a:pt x="834" y="1395"/>
                  </a:cubicBezTo>
                  <a:cubicBezTo>
                    <a:pt x="834" y="538"/>
                    <a:pt x="513" y="181"/>
                    <a:pt x="274" y="26"/>
                  </a:cubicBezTo>
                  <a:cubicBezTo>
                    <a:pt x="247" y="9"/>
                    <a:pt x="216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7918475" y="2298096"/>
            <a:ext cx="347435" cy="345534"/>
            <a:chOff x="3527780" y="2885263"/>
            <a:chExt cx="347435" cy="345534"/>
          </a:xfrm>
        </p:grpSpPr>
        <p:sp>
          <p:nvSpPr>
            <p:cNvPr id="145" name="Google Shape;145;p17"/>
            <p:cNvSpPr/>
            <p:nvPr/>
          </p:nvSpPr>
          <p:spPr>
            <a:xfrm>
              <a:off x="3527780" y="2885263"/>
              <a:ext cx="347435" cy="345534"/>
            </a:xfrm>
            <a:custGeom>
              <a:avLst/>
              <a:gdLst/>
              <a:ahLst/>
              <a:cxnLst/>
              <a:rect l="l" t="t" r="r" b="b"/>
              <a:pathLst>
                <a:path w="10967" h="10907" extrusionOk="0">
                  <a:moveTo>
                    <a:pt x="3751" y="298"/>
                  </a:moveTo>
                  <a:cubicBezTo>
                    <a:pt x="3811" y="298"/>
                    <a:pt x="3847" y="345"/>
                    <a:pt x="3847" y="405"/>
                  </a:cubicBezTo>
                  <a:cubicBezTo>
                    <a:pt x="3847" y="464"/>
                    <a:pt x="3811" y="512"/>
                    <a:pt x="3751" y="512"/>
                  </a:cubicBezTo>
                  <a:cubicBezTo>
                    <a:pt x="3692" y="512"/>
                    <a:pt x="3644" y="464"/>
                    <a:pt x="3644" y="405"/>
                  </a:cubicBezTo>
                  <a:cubicBezTo>
                    <a:pt x="3656" y="345"/>
                    <a:pt x="3704" y="298"/>
                    <a:pt x="3751" y="298"/>
                  </a:cubicBezTo>
                  <a:close/>
                  <a:moveTo>
                    <a:pt x="5490" y="298"/>
                  </a:moveTo>
                  <a:cubicBezTo>
                    <a:pt x="5549" y="298"/>
                    <a:pt x="5597" y="345"/>
                    <a:pt x="5597" y="405"/>
                  </a:cubicBezTo>
                  <a:cubicBezTo>
                    <a:pt x="5597" y="464"/>
                    <a:pt x="5549" y="512"/>
                    <a:pt x="5490" y="512"/>
                  </a:cubicBezTo>
                  <a:cubicBezTo>
                    <a:pt x="5430" y="512"/>
                    <a:pt x="5382" y="464"/>
                    <a:pt x="5382" y="405"/>
                  </a:cubicBezTo>
                  <a:cubicBezTo>
                    <a:pt x="5382" y="345"/>
                    <a:pt x="5430" y="298"/>
                    <a:pt x="5490" y="298"/>
                  </a:cubicBezTo>
                  <a:close/>
                  <a:moveTo>
                    <a:pt x="7216" y="298"/>
                  </a:moveTo>
                  <a:cubicBezTo>
                    <a:pt x="7276" y="298"/>
                    <a:pt x="7323" y="345"/>
                    <a:pt x="7323" y="405"/>
                  </a:cubicBezTo>
                  <a:cubicBezTo>
                    <a:pt x="7323" y="464"/>
                    <a:pt x="7276" y="512"/>
                    <a:pt x="7216" y="512"/>
                  </a:cubicBezTo>
                  <a:cubicBezTo>
                    <a:pt x="7156" y="512"/>
                    <a:pt x="7109" y="464"/>
                    <a:pt x="7109" y="405"/>
                  </a:cubicBezTo>
                  <a:cubicBezTo>
                    <a:pt x="7109" y="345"/>
                    <a:pt x="7156" y="298"/>
                    <a:pt x="7216" y="298"/>
                  </a:cubicBezTo>
                  <a:close/>
                  <a:moveTo>
                    <a:pt x="394" y="3632"/>
                  </a:moveTo>
                  <a:cubicBezTo>
                    <a:pt x="453" y="3632"/>
                    <a:pt x="501" y="3679"/>
                    <a:pt x="501" y="3739"/>
                  </a:cubicBezTo>
                  <a:cubicBezTo>
                    <a:pt x="501" y="3798"/>
                    <a:pt x="453" y="3846"/>
                    <a:pt x="394" y="3846"/>
                  </a:cubicBezTo>
                  <a:cubicBezTo>
                    <a:pt x="334" y="3846"/>
                    <a:pt x="287" y="3798"/>
                    <a:pt x="287" y="3739"/>
                  </a:cubicBezTo>
                  <a:cubicBezTo>
                    <a:pt x="287" y="3679"/>
                    <a:pt x="334" y="3632"/>
                    <a:pt x="394" y="3632"/>
                  </a:cubicBezTo>
                  <a:close/>
                  <a:moveTo>
                    <a:pt x="10562" y="3655"/>
                  </a:moveTo>
                  <a:cubicBezTo>
                    <a:pt x="10621" y="3655"/>
                    <a:pt x="10669" y="3691"/>
                    <a:pt x="10669" y="3763"/>
                  </a:cubicBezTo>
                  <a:cubicBezTo>
                    <a:pt x="10669" y="3822"/>
                    <a:pt x="10621" y="3858"/>
                    <a:pt x="10562" y="3858"/>
                  </a:cubicBezTo>
                  <a:cubicBezTo>
                    <a:pt x="10502" y="3858"/>
                    <a:pt x="10454" y="3822"/>
                    <a:pt x="10454" y="3763"/>
                  </a:cubicBezTo>
                  <a:cubicBezTo>
                    <a:pt x="10454" y="3691"/>
                    <a:pt x="10502" y="3655"/>
                    <a:pt x="10562" y="3655"/>
                  </a:cubicBezTo>
                  <a:close/>
                  <a:moveTo>
                    <a:pt x="394" y="5382"/>
                  </a:moveTo>
                  <a:cubicBezTo>
                    <a:pt x="453" y="5382"/>
                    <a:pt x="501" y="5417"/>
                    <a:pt x="501" y="5477"/>
                  </a:cubicBezTo>
                  <a:cubicBezTo>
                    <a:pt x="501" y="5548"/>
                    <a:pt x="453" y="5584"/>
                    <a:pt x="394" y="5584"/>
                  </a:cubicBezTo>
                  <a:cubicBezTo>
                    <a:pt x="334" y="5584"/>
                    <a:pt x="287" y="5548"/>
                    <a:pt x="287" y="5477"/>
                  </a:cubicBezTo>
                  <a:cubicBezTo>
                    <a:pt x="287" y="5417"/>
                    <a:pt x="334" y="5382"/>
                    <a:pt x="394" y="5382"/>
                  </a:cubicBezTo>
                  <a:close/>
                  <a:moveTo>
                    <a:pt x="10562" y="5382"/>
                  </a:moveTo>
                  <a:cubicBezTo>
                    <a:pt x="10621" y="5382"/>
                    <a:pt x="10669" y="5429"/>
                    <a:pt x="10669" y="5489"/>
                  </a:cubicBezTo>
                  <a:cubicBezTo>
                    <a:pt x="10669" y="5548"/>
                    <a:pt x="10621" y="5584"/>
                    <a:pt x="10562" y="5584"/>
                  </a:cubicBezTo>
                  <a:cubicBezTo>
                    <a:pt x="10502" y="5584"/>
                    <a:pt x="10454" y="5548"/>
                    <a:pt x="10454" y="5489"/>
                  </a:cubicBezTo>
                  <a:cubicBezTo>
                    <a:pt x="10454" y="5429"/>
                    <a:pt x="10502" y="5382"/>
                    <a:pt x="10562" y="5382"/>
                  </a:cubicBezTo>
                  <a:close/>
                  <a:moveTo>
                    <a:pt x="394" y="7108"/>
                  </a:moveTo>
                  <a:cubicBezTo>
                    <a:pt x="453" y="7108"/>
                    <a:pt x="501" y="7144"/>
                    <a:pt x="501" y="7215"/>
                  </a:cubicBezTo>
                  <a:cubicBezTo>
                    <a:pt x="501" y="7275"/>
                    <a:pt x="453" y="7311"/>
                    <a:pt x="394" y="7311"/>
                  </a:cubicBezTo>
                  <a:cubicBezTo>
                    <a:pt x="334" y="7311"/>
                    <a:pt x="287" y="7275"/>
                    <a:pt x="287" y="7215"/>
                  </a:cubicBezTo>
                  <a:cubicBezTo>
                    <a:pt x="287" y="7144"/>
                    <a:pt x="334" y="7108"/>
                    <a:pt x="394" y="7108"/>
                  </a:cubicBezTo>
                  <a:close/>
                  <a:moveTo>
                    <a:pt x="10562" y="7120"/>
                  </a:moveTo>
                  <a:cubicBezTo>
                    <a:pt x="10621" y="7120"/>
                    <a:pt x="10669" y="7168"/>
                    <a:pt x="10669" y="7227"/>
                  </a:cubicBezTo>
                  <a:cubicBezTo>
                    <a:pt x="10669" y="7287"/>
                    <a:pt x="10621" y="7334"/>
                    <a:pt x="10562" y="7334"/>
                  </a:cubicBezTo>
                  <a:cubicBezTo>
                    <a:pt x="10502" y="7334"/>
                    <a:pt x="10454" y="7287"/>
                    <a:pt x="10454" y="7227"/>
                  </a:cubicBezTo>
                  <a:cubicBezTo>
                    <a:pt x="10454" y="7168"/>
                    <a:pt x="10502" y="7120"/>
                    <a:pt x="10562" y="7120"/>
                  </a:cubicBezTo>
                  <a:close/>
                  <a:moveTo>
                    <a:pt x="3751" y="10454"/>
                  </a:moveTo>
                  <a:cubicBezTo>
                    <a:pt x="3811" y="10454"/>
                    <a:pt x="3847" y="10501"/>
                    <a:pt x="3847" y="10561"/>
                  </a:cubicBezTo>
                  <a:cubicBezTo>
                    <a:pt x="3847" y="10621"/>
                    <a:pt x="3811" y="10668"/>
                    <a:pt x="3751" y="10668"/>
                  </a:cubicBezTo>
                  <a:cubicBezTo>
                    <a:pt x="3692" y="10668"/>
                    <a:pt x="3644" y="10621"/>
                    <a:pt x="3644" y="10561"/>
                  </a:cubicBezTo>
                  <a:cubicBezTo>
                    <a:pt x="3644" y="10501"/>
                    <a:pt x="3680" y="10454"/>
                    <a:pt x="3751" y="10454"/>
                  </a:cubicBezTo>
                  <a:close/>
                  <a:moveTo>
                    <a:pt x="5490" y="10454"/>
                  </a:moveTo>
                  <a:cubicBezTo>
                    <a:pt x="5549" y="10454"/>
                    <a:pt x="5597" y="10501"/>
                    <a:pt x="5597" y="10561"/>
                  </a:cubicBezTo>
                  <a:cubicBezTo>
                    <a:pt x="5597" y="10621"/>
                    <a:pt x="5537" y="10668"/>
                    <a:pt x="5490" y="10668"/>
                  </a:cubicBezTo>
                  <a:cubicBezTo>
                    <a:pt x="5430" y="10668"/>
                    <a:pt x="5382" y="10621"/>
                    <a:pt x="5382" y="10561"/>
                  </a:cubicBezTo>
                  <a:cubicBezTo>
                    <a:pt x="5382" y="10501"/>
                    <a:pt x="5430" y="10454"/>
                    <a:pt x="5490" y="10454"/>
                  </a:cubicBezTo>
                  <a:close/>
                  <a:moveTo>
                    <a:pt x="7216" y="10454"/>
                  </a:moveTo>
                  <a:cubicBezTo>
                    <a:pt x="7276" y="10454"/>
                    <a:pt x="7323" y="10501"/>
                    <a:pt x="7323" y="10561"/>
                  </a:cubicBezTo>
                  <a:cubicBezTo>
                    <a:pt x="7323" y="10621"/>
                    <a:pt x="7276" y="10668"/>
                    <a:pt x="7216" y="10668"/>
                  </a:cubicBezTo>
                  <a:cubicBezTo>
                    <a:pt x="7156" y="10668"/>
                    <a:pt x="7109" y="10621"/>
                    <a:pt x="7109" y="10561"/>
                  </a:cubicBezTo>
                  <a:cubicBezTo>
                    <a:pt x="7109" y="10501"/>
                    <a:pt x="7156" y="10454"/>
                    <a:pt x="7216" y="10454"/>
                  </a:cubicBezTo>
                  <a:close/>
                  <a:moveTo>
                    <a:pt x="3811" y="0"/>
                  </a:moveTo>
                  <a:cubicBezTo>
                    <a:pt x="3561" y="0"/>
                    <a:pt x="3394" y="203"/>
                    <a:pt x="3394" y="417"/>
                  </a:cubicBezTo>
                  <a:cubicBezTo>
                    <a:pt x="3394" y="595"/>
                    <a:pt x="3489" y="750"/>
                    <a:pt x="3656" y="810"/>
                  </a:cubicBezTo>
                  <a:lnTo>
                    <a:pt x="3656" y="1738"/>
                  </a:lnTo>
                  <a:lnTo>
                    <a:pt x="1965" y="1738"/>
                  </a:lnTo>
                  <a:cubicBezTo>
                    <a:pt x="1870" y="1738"/>
                    <a:pt x="1799" y="1810"/>
                    <a:pt x="1799" y="1893"/>
                  </a:cubicBezTo>
                  <a:lnTo>
                    <a:pt x="1799" y="3596"/>
                  </a:lnTo>
                  <a:lnTo>
                    <a:pt x="799" y="3596"/>
                  </a:lnTo>
                  <a:cubicBezTo>
                    <a:pt x="739" y="3441"/>
                    <a:pt x="596" y="3322"/>
                    <a:pt x="418" y="3322"/>
                  </a:cubicBezTo>
                  <a:cubicBezTo>
                    <a:pt x="179" y="3322"/>
                    <a:pt x="1" y="3524"/>
                    <a:pt x="1" y="3739"/>
                  </a:cubicBezTo>
                  <a:cubicBezTo>
                    <a:pt x="1" y="3977"/>
                    <a:pt x="191" y="4155"/>
                    <a:pt x="418" y="4155"/>
                  </a:cubicBezTo>
                  <a:cubicBezTo>
                    <a:pt x="596" y="4155"/>
                    <a:pt x="739" y="4048"/>
                    <a:pt x="799" y="3893"/>
                  </a:cubicBezTo>
                  <a:lnTo>
                    <a:pt x="1727" y="3893"/>
                  </a:lnTo>
                  <a:lnTo>
                    <a:pt x="1727" y="5310"/>
                  </a:lnTo>
                  <a:lnTo>
                    <a:pt x="799" y="5310"/>
                  </a:lnTo>
                  <a:cubicBezTo>
                    <a:pt x="739" y="5156"/>
                    <a:pt x="596" y="5036"/>
                    <a:pt x="418" y="5036"/>
                  </a:cubicBezTo>
                  <a:cubicBezTo>
                    <a:pt x="179" y="5036"/>
                    <a:pt x="1" y="5227"/>
                    <a:pt x="1" y="5453"/>
                  </a:cubicBezTo>
                  <a:cubicBezTo>
                    <a:pt x="1" y="5691"/>
                    <a:pt x="191" y="5870"/>
                    <a:pt x="418" y="5870"/>
                  </a:cubicBezTo>
                  <a:cubicBezTo>
                    <a:pt x="596" y="5870"/>
                    <a:pt x="739" y="5763"/>
                    <a:pt x="799" y="5608"/>
                  </a:cubicBezTo>
                  <a:lnTo>
                    <a:pt x="1727" y="5608"/>
                  </a:lnTo>
                  <a:lnTo>
                    <a:pt x="1727" y="7013"/>
                  </a:lnTo>
                  <a:lnTo>
                    <a:pt x="799" y="7013"/>
                  </a:lnTo>
                  <a:cubicBezTo>
                    <a:pt x="739" y="6870"/>
                    <a:pt x="596" y="6751"/>
                    <a:pt x="418" y="6751"/>
                  </a:cubicBezTo>
                  <a:cubicBezTo>
                    <a:pt x="179" y="6751"/>
                    <a:pt x="1" y="6941"/>
                    <a:pt x="1" y="7168"/>
                  </a:cubicBezTo>
                  <a:cubicBezTo>
                    <a:pt x="1" y="7406"/>
                    <a:pt x="191" y="7584"/>
                    <a:pt x="418" y="7584"/>
                  </a:cubicBezTo>
                  <a:cubicBezTo>
                    <a:pt x="596" y="7584"/>
                    <a:pt x="739" y="7477"/>
                    <a:pt x="799" y="7311"/>
                  </a:cubicBezTo>
                  <a:lnTo>
                    <a:pt x="1727" y="7311"/>
                  </a:lnTo>
                  <a:lnTo>
                    <a:pt x="1727" y="9013"/>
                  </a:lnTo>
                  <a:cubicBezTo>
                    <a:pt x="1727" y="9097"/>
                    <a:pt x="1799" y="9180"/>
                    <a:pt x="1882" y="9180"/>
                  </a:cubicBezTo>
                  <a:lnTo>
                    <a:pt x="3585" y="9180"/>
                  </a:lnTo>
                  <a:lnTo>
                    <a:pt x="3585" y="10097"/>
                  </a:lnTo>
                  <a:cubicBezTo>
                    <a:pt x="3430" y="10156"/>
                    <a:pt x="3311" y="10311"/>
                    <a:pt x="3311" y="10490"/>
                  </a:cubicBezTo>
                  <a:cubicBezTo>
                    <a:pt x="3311" y="10728"/>
                    <a:pt x="3513" y="10906"/>
                    <a:pt x="3727" y="10906"/>
                  </a:cubicBezTo>
                  <a:cubicBezTo>
                    <a:pt x="3966" y="10906"/>
                    <a:pt x="4144" y="10704"/>
                    <a:pt x="4144" y="10490"/>
                  </a:cubicBezTo>
                  <a:cubicBezTo>
                    <a:pt x="4144" y="10311"/>
                    <a:pt x="4049" y="10156"/>
                    <a:pt x="3882" y="10097"/>
                  </a:cubicBezTo>
                  <a:lnTo>
                    <a:pt x="3882" y="9180"/>
                  </a:lnTo>
                  <a:lnTo>
                    <a:pt x="5299" y="9180"/>
                  </a:lnTo>
                  <a:lnTo>
                    <a:pt x="5299" y="10097"/>
                  </a:lnTo>
                  <a:cubicBezTo>
                    <a:pt x="5144" y="10156"/>
                    <a:pt x="5025" y="10311"/>
                    <a:pt x="5025" y="10490"/>
                  </a:cubicBezTo>
                  <a:cubicBezTo>
                    <a:pt x="5025" y="10728"/>
                    <a:pt x="5216" y="10906"/>
                    <a:pt x="5442" y="10906"/>
                  </a:cubicBezTo>
                  <a:cubicBezTo>
                    <a:pt x="5680" y="10906"/>
                    <a:pt x="5859" y="10704"/>
                    <a:pt x="5859" y="10490"/>
                  </a:cubicBezTo>
                  <a:cubicBezTo>
                    <a:pt x="5859" y="10311"/>
                    <a:pt x="5752" y="10156"/>
                    <a:pt x="5597" y="10097"/>
                  </a:cubicBezTo>
                  <a:lnTo>
                    <a:pt x="5597" y="9180"/>
                  </a:lnTo>
                  <a:lnTo>
                    <a:pt x="7002" y="9180"/>
                  </a:lnTo>
                  <a:lnTo>
                    <a:pt x="7002" y="10097"/>
                  </a:lnTo>
                  <a:cubicBezTo>
                    <a:pt x="6859" y="10156"/>
                    <a:pt x="6740" y="10311"/>
                    <a:pt x="6740" y="10490"/>
                  </a:cubicBezTo>
                  <a:cubicBezTo>
                    <a:pt x="6740" y="10728"/>
                    <a:pt x="6930" y="10906"/>
                    <a:pt x="7156" y="10906"/>
                  </a:cubicBezTo>
                  <a:cubicBezTo>
                    <a:pt x="7383" y="10906"/>
                    <a:pt x="7573" y="10704"/>
                    <a:pt x="7573" y="10490"/>
                  </a:cubicBezTo>
                  <a:cubicBezTo>
                    <a:pt x="7573" y="10311"/>
                    <a:pt x="7466" y="10156"/>
                    <a:pt x="7299" y="10097"/>
                  </a:cubicBezTo>
                  <a:lnTo>
                    <a:pt x="7299" y="9180"/>
                  </a:lnTo>
                  <a:lnTo>
                    <a:pt x="9002" y="9180"/>
                  </a:lnTo>
                  <a:cubicBezTo>
                    <a:pt x="9085" y="9180"/>
                    <a:pt x="9169" y="9097"/>
                    <a:pt x="9169" y="9013"/>
                  </a:cubicBezTo>
                  <a:lnTo>
                    <a:pt x="9169" y="7311"/>
                  </a:lnTo>
                  <a:lnTo>
                    <a:pt x="10085" y="7311"/>
                  </a:lnTo>
                  <a:cubicBezTo>
                    <a:pt x="10145" y="7465"/>
                    <a:pt x="10300" y="7584"/>
                    <a:pt x="10478" y="7584"/>
                  </a:cubicBezTo>
                  <a:cubicBezTo>
                    <a:pt x="10716" y="7584"/>
                    <a:pt x="10895" y="7394"/>
                    <a:pt x="10895" y="7168"/>
                  </a:cubicBezTo>
                  <a:cubicBezTo>
                    <a:pt x="10895" y="6930"/>
                    <a:pt x="10693" y="6751"/>
                    <a:pt x="10478" y="6751"/>
                  </a:cubicBezTo>
                  <a:cubicBezTo>
                    <a:pt x="10300" y="6751"/>
                    <a:pt x="10145" y="6858"/>
                    <a:pt x="10085" y="7013"/>
                  </a:cubicBezTo>
                  <a:lnTo>
                    <a:pt x="9169" y="7013"/>
                  </a:lnTo>
                  <a:lnTo>
                    <a:pt x="9240" y="5644"/>
                  </a:lnTo>
                  <a:lnTo>
                    <a:pt x="10157" y="5644"/>
                  </a:lnTo>
                  <a:cubicBezTo>
                    <a:pt x="10216" y="5798"/>
                    <a:pt x="10371" y="5918"/>
                    <a:pt x="10550" y="5918"/>
                  </a:cubicBezTo>
                  <a:cubicBezTo>
                    <a:pt x="10788" y="5918"/>
                    <a:pt x="10966" y="5727"/>
                    <a:pt x="10966" y="5501"/>
                  </a:cubicBezTo>
                  <a:cubicBezTo>
                    <a:pt x="10966" y="5263"/>
                    <a:pt x="10776" y="5084"/>
                    <a:pt x="10550" y="5084"/>
                  </a:cubicBezTo>
                  <a:cubicBezTo>
                    <a:pt x="10371" y="5084"/>
                    <a:pt x="10216" y="5191"/>
                    <a:pt x="10157" y="5346"/>
                  </a:cubicBezTo>
                  <a:lnTo>
                    <a:pt x="9240" y="5346"/>
                  </a:lnTo>
                  <a:lnTo>
                    <a:pt x="9240" y="3905"/>
                  </a:lnTo>
                  <a:lnTo>
                    <a:pt x="10157" y="3905"/>
                  </a:lnTo>
                  <a:cubicBezTo>
                    <a:pt x="10216" y="4060"/>
                    <a:pt x="10371" y="4179"/>
                    <a:pt x="10550" y="4179"/>
                  </a:cubicBezTo>
                  <a:cubicBezTo>
                    <a:pt x="10788" y="4179"/>
                    <a:pt x="10966" y="3977"/>
                    <a:pt x="10966" y="3763"/>
                  </a:cubicBezTo>
                  <a:cubicBezTo>
                    <a:pt x="10966" y="3524"/>
                    <a:pt x="10776" y="3346"/>
                    <a:pt x="10550" y="3346"/>
                  </a:cubicBezTo>
                  <a:cubicBezTo>
                    <a:pt x="10371" y="3346"/>
                    <a:pt x="10216" y="3441"/>
                    <a:pt x="10157" y="3608"/>
                  </a:cubicBezTo>
                  <a:lnTo>
                    <a:pt x="9240" y="3608"/>
                  </a:lnTo>
                  <a:lnTo>
                    <a:pt x="9240" y="1917"/>
                  </a:lnTo>
                  <a:cubicBezTo>
                    <a:pt x="9240" y="1822"/>
                    <a:pt x="9169" y="1750"/>
                    <a:pt x="9073" y="1750"/>
                  </a:cubicBezTo>
                  <a:lnTo>
                    <a:pt x="8395" y="1750"/>
                  </a:lnTo>
                  <a:cubicBezTo>
                    <a:pt x="8299" y="1750"/>
                    <a:pt x="8228" y="1822"/>
                    <a:pt x="8228" y="1917"/>
                  </a:cubicBezTo>
                  <a:cubicBezTo>
                    <a:pt x="8228" y="2000"/>
                    <a:pt x="8299" y="2072"/>
                    <a:pt x="8395" y="2072"/>
                  </a:cubicBezTo>
                  <a:lnTo>
                    <a:pt x="8930" y="2072"/>
                  </a:lnTo>
                  <a:lnTo>
                    <a:pt x="8930" y="3763"/>
                  </a:lnTo>
                  <a:lnTo>
                    <a:pt x="8930" y="5489"/>
                  </a:lnTo>
                  <a:lnTo>
                    <a:pt x="8930" y="7215"/>
                  </a:lnTo>
                  <a:lnTo>
                    <a:pt x="8930" y="8906"/>
                  </a:lnTo>
                  <a:lnTo>
                    <a:pt x="2049" y="8906"/>
                  </a:lnTo>
                  <a:lnTo>
                    <a:pt x="2049" y="7215"/>
                  </a:lnTo>
                  <a:lnTo>
                    <a:pt x="2049" y="5489"/>
                  </a:lnTo>
                  <a:lnTo>
                    <a:pt x="2049" y="3763"/>
                  </a:lnTo>
                  <a:lnTo>
                    <a:pt x="2049" y="2060"/>
                  </a:lnTo>
                  <a:lnTo>
                    <a:pt x="7752" y="2060"/>
                  </a:lnTo>
                  <a:cubicBezTo>
                    <a:pt x="7835" y="2060"/>
                    <a:pt x="7918" y="1988"/>
                    <a:pt x="7918" y="1893"/>
                  </a:cubicBezTo>
                  <a:cubicBezTo>
                    <a:pt x="7918" y="1810"/>
                    <a:pt x="7835" y="1738"/>
                    <a:pt x="7752" y="1738"/>
                  </a:cubicBezTo>
                  <a:lnTo>
                    <a:pt x="7383" y="1738"/>
                  </a:lnTo>
                  <a:lnTo>
                    <a:pt x="7383" y="810"/>
                  </a:lnTo>
                  <a:cubicBezTo>
                    <a:pt x="7526" y="750"/>
                    <a:pt x="7645" y="595"/>
                    <a:pt x="7645" y="417"/>
                  </a:cubicBezTo>
                  <a:cubicBezTo>
                    <a:pt x="7645" y="179"/>
                    <a:pt x="7454" y="0"/>
                    <a:pt x="7228" y="0"/>
                  </a:cubicBezTo>
                  <a:cubicBezTo>
                    <a:pt x="6990" y="0"/>
                    <a:pt x="6811" y="203"/>
                    <a:pt x="6811" y="417"/>
                  </a:cubicBezTo>
                  <a:cubicBezTo>
                    <a:pt x="6811" y="595"/>
                    <a:pt x="6918" y="750"/>
                    <a:pt x="7085" y="810"/>
                  </a:cubicBezTo>
                  <a:lnTo>
                    <a:pt x="7085" y="1738"/>
                  </a:lnTo>
                  <a:lnTo>
                    <a:pt x="5668" y="1738"/>
                  </a:lnTo>
                  <a:lnTo>
                    <a:pt x="5668" y="810"/>
                  </a:lnTo>
                  <a:cubicBezTo>
                    <a:pt x="5811" y="750"/>
                    <a:pt x="5930" y="595"/>
                    <a:pt x="5930" y="417"/>
                  </a:cubicBezTo>
                  <a:cubicBezTo>
                    <a:pt x="5930" y="179"/>
                    <a:pt x="5740" y="0"/>
                    <a:pt x="5513" y="0"/>
                  </a:cubicBezTo>
                  <a:cubicBezTo>
                    <a:pt x="5275" y="0"/>
                    <a:pt x="5097" y="203"/>
                    <a:pt x="5097" y="417"/>
                  </a:cubicBezTo>
                  <a:cubicBezTo>
                    <a:pt x="5097" y="595"/>
                    <a:pt x="5204" y="750"/>
                    <a:pt x="5371" y="810"/>
                  </a:cubicBezTo>
                  <a:lnTo>
                    <a:pt x="5371" y="1738"/>
                  </a:lnTo>
                  <a:lnTo>
                    <a:pt x="3954" y="1738"/>
                  </a:lnTo>
                  <a:lnTo>
                    <a:pt x="3954" y="810"/>
                  </a:lnTo>
                  <a:cubicBezTo>
                    <a:pt x="4108" y="750"/>
                    <a:pt x="4216" y="595"/>
                    <a:pt x="4216" y="417"/>
                  </a:cubicBezTo>
                  <a:cubicBezTo>
                    <a:pt x="4216" y="179"/>
                    <a:pt x="4025" y="0"/>
                    <a:pt x="3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3599440" y="2956543"/>
              <a:ext cx="204494" cy="204843"/>
            </a:xfrm>
            <a:custGeom>
              <a:avLst/>
              <a:gdLst/>
              <a:ahLst/>
              <a:cxnLst/>
              <a:rect l="l" t="t" r="r" b="b"/>
              <a:pathLst>
                <a:path w="6455" h="6466" extrusionOk="0">
                  <a:moveTo>
                    <a:pt x="156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4644"/>
                  </a:lnTo>
                  <a:cubicBezTo>
                    <a:pt x="1" y="4739"/>
                    <a:pt x="72" y="4811"/>
                    <a:pt x="156" y="4811"/>
                  </a:cubicBezTo>
                  <a:cubicBezTo>
                    <a:pt x="251" y="4811"/>
                    <a:pt x="322" y="4739"/>
                    <a:pt x="322" y="4644"/>
                  </a:cubicBezTo>
                  <a:lnTo>
                    <a:pt x="322" y="334"/>
                  </a:lnTo>
                  <a:lnTo>
                    <a:pt x="6133" y="334"/>
                  </a:lnTo>
                  <a:lnTo>
                    <a:pt x="6133" y="6132"/>
                  </a:lnTo>
                  <a:lnTo>
                    <a:pt x="322" y="6132"/>
                  </a:lnTo>
                  <a:lnTo>
                    <a:pt x="322" y="5287"/>
                  </a:lnTo>
                  <a:cubicBezTo>
                    <a:pt x="322" y="5203"/>
                    <a:pt x="251" y="5120"/>
                    <a:pt x="156" y="5120"/>
                  </a:cubicBezTo>
                  <a:cubicBezTo>
                    <a:pt x="72" y="5120"/>
                    <a:pt x="1" y="5203"/>
                    <a:pt x="1" y="5287"/>
                  </a:cubicBezTo>
                  <a:lnTo>
                    <a:pt x="1" y="6299"/>
                  </a:lnTo>
                  <a:cubicBezTo>
                    <a:pt x="1" y="6394"/>
                    <a:pt x="72" y="6466"/>
                    <a:pt x="156" y="6466"/>
                  </a:cubicBezTo>
                  <a:lnTo>
                    <a:pt x="6287" y="6466"/>
                  </a:lnTo>
                  <a:cubicBezTo>
                    <a:pt x="6383" y="6466"/>
                    <a:pt x="6454" y="6394"/>
                    <a:pt x="6454" y="6299"/>
                  </a:cubicBezTo>
                  <a:lnTo>
                    <a:pt x="6454" y="167"/>
                  </a:lnTo>
                  <a:cubicBezTo>
                    <a:pt x="6442" y="84"/>
                    <a:pt x="6383" y="0"/>
                    <a:pt x="6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3661691" y="3018763"/>
              <a:ext cx="79992" cy="80372"/>
            </a:xfrm>
            <a:custGeom>
              <a:avLst/>
              <a:gdLst/>
              <a:ahLst/>
              <a:cxnLst/>
              <a:rect l="l" t="t" r="r" b="b"/>
              <a:pathLst>
                <a:path w="2525" h="2537" extrusionOk="0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2370"/>
                  </a:lnTo>
                  <a:cubicBezTo>
                    <a:pt x="1" y="2466"/>
                    <a:pt x="72" y="2537"/>
                    <a:pt x="155" y="2537"/>
                  </a:cubicBezTo>
                  <a:lnTo>
                    <a:pt x="1013" y="2537"/>
                  </a:lnTo>
                  <a:cubicBezTo>
                    <a:pt x="1096" y="2537"/>
                    <a:pt x="1167" y="2466"/>
                    <a:pt x="1167" y="2370"/>
                  </a:cubicBezTo>
                  <a:cubicBezTo>
                    <a:pt x="1167" y="2287"/>
                    <a:pt x="1096" y="2204"/>
                    <a:pt x="1013" y="2204"/>
                  </a:cubicBezTo>
                  <a:lnTo>
                    <a:pt x="322" y="2204"/>
                  </a:lnTo>
                  <a:lnTo>
                    <a:pt x="322" y="322"/>
                  </a:lnTo>
                  <a:lnTo>
                    <a:pt x="2215" y="322"/>
                  </a:lnTo>
                  <a:lnTo>
                    <a:pt x="2215" y="2204"/>
                  </a:lnTo>
                  <a:lnTo>
                    <a:pt x="1632" y="2204"/>
                  </a:lnTo>
                  <a:cubicBezTo>
                    <a:pt x="1548" y="2204"/>
                    <a:pt x="1465" y="2287"/>
                    <a:pt x="1465" y="2370"/>
                  </a:cubicBezTo>
                  <a:cubicBezTo>
                    <a:pt x="1465" y="2466"/>
                    <a:pt x="1548" y="2537"/>
                    <a:pt x="1632" y="2537"/>
                  </a:cubicBezTo>
                  <a:lnTo>
                    <a:pt x="2346" y="2537"/>
                  </a:lnTo>
                  <a:cubicBezTo>
                    <a:pt x="2441" y="2537"/>
                    <a:pt x="2513" y="2466"/>
                    <a:pt x="2513" y="2370"/>
                  </a:cubicBezTo>
                  <a:lnTo>
                    <a:pt x="2513" y="168"/>
                  </a:lnTo>
                  <a:cubicBezTo>
                    <a:pt x="2525" y="84"/>
                    <a:pt x="2453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3625101" y="2982552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3651522" y="2982552"/>
              <a:ext cx="18881" cy="18533"/>
            </a:xfrm>
            <a:custGeom>
              <a:avLst/>
              <a:gdLst/>
              <a:ahLst/>
              <a:cxnLst/>
              <a:rect l="l" t="t" r="r" b="b"/>
              <a:pathLst>
                <a:path w="596" h="585" extrusionOk="0">
                  <a:moveTo>
                    <a:pt x="167" y="1"/>
                  </a:moveTo>
                  <a:cubicBezTo>
                    <a:pt x="83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83" y="584"/>
                    <a:pt x="167" y="584"/>
                  </a:cubicBezTo>
                  <a:lnTo>
                    <a:pt x="417" y="584"/>
                  </a:lnTo>
                  <a:cubicBezTo>
                    <a:pt x="512" y="584"/>
                    <a:pt x="583" y="513"/>
                    <a:pt x="583" y="418"/>
                  </a:cubicBezTo>
                  <a:lnTo>
                    <a:pt x="583" y="168"/>
                  </a:lnTo>
                  <a:cubicBezTo>
                    <a:pt x="595" y="72"/>
                    <a:pt x="524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3679052" y="2982552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00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3705822" y="2982552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3732591" y="2982552"/>
              <a:ext cx="18533" cy="18533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13"/>
                    <a:pt x="72" y="584"/>
                    <a:pt x="168" y="584"/>
                  </a:cubicBezTo>
                  <a:lnTo>
                    <a:pt x="418" y="584"/>
                  </a:lnTo>
                  <a:cubicBezTo>
                    <a:pt x="513" y="584"/>
                    <a:pt x="584" y="513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3759773" y="2982552"/>
              <a:ext cx="18121" cy="18533"/>
            </a:xfrm>
            <a:custGeom>
              <a:avLst/>
              <a:gdLst/>
              <a:ahLst/>
              <a:cxnLst/>
              <a:rect l="l" t="t" r="r" b="b"/>
              <a:pathLst>
                <a:path w="572" h="58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13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3"/>
                    <a:pt x="572" y="418"/>
                  </a:cubicBezTo>
                  <a:lnTo>
                    <a:pt x="572" y="168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3625101" y="311684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1"/>
                  </a:moveTo>
                  <a:cubicBezTo>
                    <a:pt x="84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3651522" y="3116844"/>
              <a:ext cx="18881" cy="18501"/>
            </a:xfrm>
            <a:custGeom>
              <a:avLst/>
              <a:gdLst/>
              <a:ahLst/>
              <a:cxnLst/>
              <a:rect l="l" t="t" r="r" b="b"/>
              <a:pathLst>
                <a:path w="596" h="584" extrusionOk="0">
                  <a:moveTo>
                    <a:pt x="167" y="1"/>
                  </a:moveTo>
                  <a:cubicBezTo>
                    <a:pt x="83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83" y="584"/>
                    <a:pt x="167" y="584"/>
                  </a:cubicBezTo>
                  <a:lnTo>
                    <a:pt x="417" y="584"/>
                  </a:lnTo>
                  <a:cubicBezTo>
                    <a:pt x="512" y="584"/>
                    <a:pt x="583" y="513"/>
                    <a:pt x="583" y="417"/>
                  </a:cubicBezTo>
                  <a:lnTo>
                    <a:pt x="583" y="167"/>
                  </a:lnTo>
                  <a:cubicBezTo>
                    <a:pt x="595" y="84"/>
                    <a:pt x="524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3679052" y="311684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00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3705822" y="311684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72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3732591" y="3116844"/>
              <a:ext cx="18533" cy="18501"/>
            </a:xfrm>
            <a:custGeom>
              <a:avLst/>
              <a:gdLst/>
              <a:ahLst/>
              <a:cxnLst/>
              <a:rect l="l" t="t" r="r" b="b"/>
              <a:pathLst>
                <a:path w="585" h="584" extrusionOk="0">
                  <a:moveTo>
                    <a:pt x="168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3"/>
                    <a:pt x="72" y="584"/>
                    <a:pt x="168" y="584"/>
                  </a:cubicBezTo>
                  <a:lnTo>
                    <a:pt x="418" y="584"/>
                  </a:lnTo>
                  <a:cubicBezTo>
                    <a:pt x="513" y="584"/>
                    <a:pt x="584" y="513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3759773" y="3116844"/>
              <a:ext cx="18121" cy="18501"/>
            </a:xfrm>
            <a:custGeom>
              <a:avLst/>
              <a:gdLst/>
              <a:ahLst/>
              <a:cxnLst/>
              <a:rect l="l" t="t" r="r" b="b"/>
              <a:pathLst>
                <a:path w="572" h="584" extrusionOk="0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3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3"/>
                    <a:pt x="572" y="417"/>
                  </a:cubicBezTo>
                  <a:lnTo>
                    <a:pt x="572" y="167"/>
                  </a:lnTo>
                  <a:cubicBezTo>
                    <a:pt x="572" y="84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3625101" y="300935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417"/>
                  </a:lnTo>
                  <a:cubicBezTo>
                    <a:pt x="1" y="512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2"/>
                    <a:pt x="584" y="417"/>
                  </a:cubicBezTo>
                  <a:lnTo>
                    <a:pt x="584" y="167"/>
                  </a:lnTo>
                  <a:cubicBezTo>
                    <a:pt x="584" y="84"/>
                    <a:pt x="513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3625101" y="3036503"/>
              <a:ext cx="18501" cy="18153"/>
            </a:xfrm>
            <a:custGeom>
              <a:avLst/>
              <a:gdLst/>
              <a:ahLst/>
              <a:cxnLst/>
              <a:rect l="l" t="t" r="r" b="b"/>
              <a:pathLst>
                <a:path w="584" h="573" extrusionOk="0">
                  <a:moveTo>
                    <a:pt x="167" y="1"/>
                  </a:moveTo>
                  <a:cubicBezTo>
                    <a:pt x="84" y="1"/>
                    <a:pt x="1" y="72"/>
                    <a:pt x="1" y="155"/>
                  </a:cubicBezTo>
                  <a:lnTo>
                    <a:pt x="1" y="417"/>
                  </a:lnTo>
                  <a:cubicBezTo>
                    <a:pt x="1" y="501"/>
                    <a:pt x="84" y="572"/>
                    <a:pt x="167" y="572"/>
                  </a:cubicBezTo>
                  <a:lnTo>
                    <a:pt x="417" y="572"/>
                  </a:lnTo>
                  <a:cubicBezTo>
                    <a:pt x="513" y="572"/>
                    <a:pt x="584" y="501"/>
                    <a:pt x="584" y="417"/>
                  </a:cubicBezTo>
                  <a:lnTo>
                    <a:pt x="584" y="155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3625101" y="3063273"/>
              <a:ext cx="18501" cy="18533"/>
            </a:xfrm>
            <a:custGeom>
              <a:avLst/>
              <a:gdLst/>
              <a:ahLst/>
              <a:cxnLst/>
              <a:rect l="l" t="t" r="r" b="b"/>
              <a:pathLst>
                <a:path w="584" h="585" extrusionOk="0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418"/>
                  </a:lnTo>
                  <a:cubicBezTo>
                    <a:pt x="1" y="501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01"/>
                    <a:pt x="584" y="418"/>
                  </a:cubicBezTo>
                  <a:lnTo>
                    <a:pt x="584" y="168"/>
                  </a:lnTo>
                  <a:cubicBezTo>
                    <a:pt x="584" y="72"/>
                    <a:pt x="513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3625101" y="3090074"/>
              <a:ext cx="18501" cy="18501"/>
            </a:xfrm>
            <a:custGeom>
              <a:avLst/>
              <a:gdLst/>
              <a:ahLst/>
              <a:cxnLst/>
              <a:rect l="l" t="t" r="r" b="b"/>
              <a:pathLst>
                <a:path w="584" h="584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417"/>
                  </a:lnTo>
                  <a:cubicBezTo>
                    <a:pt x="1" y="512"/>
                    <a:pt x="84" y="584"/>
                    <a:pt x="167" y="584"/>
                  </a:cubicBezTo>
                  <a:lnTo>
                    <a:pt x="417" y="584"/>
                  </a:lnTo>
                  <a:cubicBezTo>
                    <a:pt x="513" y="584"/>
                    <a:pt x="584" y="512"/>
                    <a:pt x="584" y="417"/>
                  </a:cubicBezTo>
                  <a:lnTo>
                    <a:pt x="584" y="167"/>
                  </a:lnTo>
                  <a:cubicBezTo>
                    <a:pt x="584" y="72"/>
                    <a:pt x="513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759773" y="3009354"/>
              <a:ext cx="18121" cy="18501"/>
            </a:xfrm>
            <a:custGeom>
              <a:avLst/>
              <a:gdLst/>
              <a:ahLst/>
              <a:cxnLst/>
              <a:rect l="l" t="t" r="r" b="b"/>
              <a:pathLst>
                <a:path w="572" h="584" extrusionOk="0">
                  <a:moveTo>
                    <a:pt x="155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417"/>
                  </a:lnTo>
                  <a:cubicBezTo>
                    <a:pt x="0" y="512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2"/>
                    <a:pt x="572" y="417"/>
                  </a:cubicBezTo>
                  <a:lnTo>
                    <a:pt x="572" y="167"/>
                  </a:lnTo>
                  <a:cubicBezTo>
                    <a:pt x="572" y="84"/>
                    <a:pt x="500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3759773" y="3036503"/>
              <a:ext cx="18121" cy="18153"/>
            </a:xfrm>
            <a:custGeom>
              <a:avLst/>
              <a:gdLst/>
              <a:ahLst/>
              <a:cxnLst/>
              <a:rect l="l" t="t" r="r" b="b"/>
              <a:pathLst>
                <a:path w="572" h="573" extrusionOk="0">
                  <a:moveTo>
                    <a:pt x="155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417"/>
                  </a:lnTo>
                  <a:cubicBezTo>
                    <a:pt x="0" y="501"/>
                    <a:pt x="72" y="572"/>
                    <a:pt x="155" y="572"/>
                  </a:cubicBezTo>
                  <a:lnTo>
                    <a:pt x="417" y="572"/>
                  </a:lnTo>
                  <a:cubicBezTo>
                    <a:pt x="500" y="572"/>
                    <a:pt x="572" y="501"/>
                    <a:pt x="572" y="417"/>
                  </a:cubicBezTo>
                  <a:lnTo>
                    <a:pt x="572" y="155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3759773" y="3063273"/>
              <a:ext cx="18121" cy="18533"/>
            </a:xfrm>
            <a:custGeom>
              <a:avLst/>
              <a:gdLst/>
              <a:ahLst/>
              <a:cxnLst/>
              <a:rect l="l" t="t" r="r" b="b"/>
              <a:pathLst>
                <a:path w="572" h="58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418"/>
                  </a:lnTo>
                  <a:cubicBezTo>
                    <a:pt x="0" y="501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01"/>
                    <a:pt x="572" y="418"/>
                  </a:cubicBezTo>
                  <a:lnTo>
                    <a:pt x="572" y="168"/>
                  </a:lnTo>
                  <a:cubicBezTo>
                    <a:pt x="572" y="72"/>
                    <a:pt x="500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3759773" y="3090074"/>
              <a:ext cx="18121" cy="18501"/>
            </a:xfrm>
            <a:custGeom>
              <a:avLst/>
              <a:gdLst/>
              <a:ahLst/>
              <a:cxnLst/>
              <a:rect l="l" t="t" r="r" b="b"/>
              <a:pathLst>
                <a:path w="572" h="584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417"/>
                  </a:lnTo>
                  <a:cubicBezTo>
                    <a:pt x="0" y="512"/>
                    <a:pt x="72" y="584"/>
                    <a:pt x="155" y="584"/>
                  </a:cubicBezTo>
                  <a:lnTo>
                    <a:pt x="417" y="584"/>
                  </a:lnTo>
                  <a:cubicBezTo>
                    <a:pt x="500" y="584"/>
                    <a:pt x="572" y="512"/>
                    <a:pt x="572" y="417"/>
                  </a:cubicBezTo>
                  <a:lnTo>
                    <a:pt x="572" y="167"/>
                  </a:lnTo>
                  <a:cubicBezTo>
                    <a:pt x="572" y="72"/>
                    <a:pt x="500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7984671" y="3842588"/>
            <a:ext cx="215044" cy="348924"/>
            <a:chOff x="2691555" y="2884503"/>
            <a:chExt cx="215044" cy="348924"/>
          </a:xfrm>
        </p:grpSpPr>
        <p:sp>
          <p:nvSpPr>
            <p:cNvPr id="169" name="Google Shape;169;p17"/>
            <p:cNvSpPr/>
            <p:nvPr/>
          </p:nvSpPr>
          <p:spPr>
            <a:xfrm>
              <a:off x="2691555" y="2884503"/>
              <a:ext cx="215044" cy="348924"/>
            </a:xfrm>
            <a:custGeom>
              <a:avLst/>
              <a:gdLst/>
              <a:ahLst/>
              <a:cxnLst/>
              <a:rect l="l" t="t" r="r" b="b"/>
              <a:pathLst>
                <a:path w="6788" h="11014" extrusionOk="0">
                  <a:moveTo>
                    <a:pt x="632" y="4941"/>
                  </a:moveTo>
                  <a:lnTo>
                    <a:pt x="632" y="5394"/>
                  </a:lnTo>
                  <a:lnTo>
                    <a:pt x="441" y="5394"/>
                  </a:lnTo>
                  <a:lnTo>
                    <a:pt x="632" y="4941"/>
                  </a:lnTo>
                  <a:close/>
                  <a:moveTo>
                    <a:pt x="3703" y="0"/>
                  </a:moveTo>
                  <a:cubicBezTo>
                    <a:pt x="2013" y="0"/>
                    <a:pt x="632" y="1346"/>
                    <a:pt x="632" y="2989"/>
                  </a:cubicBezTo>
                  <a:lnTo>
                    <a:pt x="632" y="4179"/>
                  </a:lnTo>
                  <a:lnTo>
                    <a:pt x="36" y="5489"/>
                  </a:lnTo>
                  <a:cubicBezTo>
                    <a:pt x="1" y="5537"/>
                    <a:pt x="13" y="5596"/>
                    <a:pt x="48" y="5644"/>
                  </a:cubicBezTo>
                  <a:cubicBezTo>
                    <a:pt x="72" y="5692"/>
                    <a:pt x="120" y="5715"/>
                    <a:pt x="179" y="5715"/>
                  </a:cubicBezTo>
                  <a:lnTo>
                    <a:pt x="632" y="5715"/>
                  </a:lnTo>
                  <a:lnTo>
                    <a:pt x="632" y="6965"/>
                  </a:lnTo>
                  <a:cubicBezTo>
                    <a:pt x="632" y="7335"/>
                    <a:pt x="941" y="7656"/>
                    <a:pt x="1310" y="7656"/>
                  </a:cubicBezTo>
                  <a:lnTo>
                    <a:pt x="2156" y="7656"/>
                  </a:lnTo>
                  <a:lnTo>
                    <a:pt x="2156" y="8704"/>
                  </a:lnTo>
                  <a:lnTo>
                    <a:pt x="751" y="10775"/>
                  </a:lnTo>
                  <a:cubicBezTo>
                    <a:pt x="703" y="10835"/>
                    <a:pt x="703" y="10906"/>
                    <a:pt x="751" y="10954"/>
                  </a:cubicBezTo>
                  <a:cubicBezTo>
                    <a:pt x="775" y="11002"/>
                    <a:pt x="822" y="11014"/>
                    <a:pt x="882" y="11014"/>
                  </a:cubicBezTo>
                  <a:lnTo>
                    <a:pt x="929" y="11014"/>
                  </a:lnTo>
                  <a:lnTo>
                    <a:pt x="2394" y="10585"/>
                  </a:lnTo>
                  <a:cubicBezTo>
                    <a:pt x="2489" y="10549"/>
                    <a:pt x="2537" y="10466"/>
                    <a:pt x="2501" y="10394"/>
                  </a:cubicBezTo>
                  <a:cubicBezTo>
                    <a:pt x="2482" y="10328"/>
                    <a:pt x="2418" y="10277"/>
                    <a:pt x="2356" y="10277"/>
                  </a:cubicBezTo>
                  <a:cubicBezTo>
                    <a:pt x="2340" y="10277"/>
                    <a:pt x="2325" y="10280"/>
                    <a:pt x="2310" y="10287"/>
                  </a:cubicBezTo>
                  <a:lnTo>
                    <a:pt x="1263" y="10597"/>
                  </a:lnTo>
                  <a:lnTo>
                    <a:pt x="2441" y="8859"/>
                  </a:lnTo>
                  <a:cubicBezTo>
                    <a:pt x="2453" y="8823"/>
                    <a:pt x="2477" y="8799"/>
                    <a:pt x="2477" y="8763"/>
                  </a:cubicBezTo>
                  <a:lnTo>
                    <a:pt x="2477" y="7608"/>
                  </a:lnTo>
                  <a:lnTo>
                    <a:pt x="3453" y="7073"/>
                  </a:lnTo>
                  <a:cubicBezTo>
                    <a:pt x="3537" y="7025"/>
                    <a:pt x="3561" y="6942"/>
                    <a:pt x="3513" y="6846"/>
                  </a:cubicBezTo>
                  <a:cubicBezTo>
                    <a:pt x="3488" y="6797"/>
                    <a:pt x="3436" y="6765"/>
                    <a:pt x="3378" y="6765"/>
                  </a:cubicBezTo>
                  <a:cubicBezTo>
                    <a:pt x="3352" y="6765"/>
                    <a:pt x="3325" y="6772"/>
                    <a:pt x="3299" y="6787"/>
                  </a:cubicBezTo>
                  <a:lnTo>
                    <a:pt x="2263" y="7358"/>
                  </a:lnTo>
                  <a:lnTo>
                    <a:pt x="1298" y="7358"/>
                  </a:lnTo>
                  <a:cubicBezTo>
                    <a:pt x="1108" y="7358"/>
                    <a:pt x="941" y="7192"/>
                    <a:pt x="941" y="7001"/>
                  </a:cubicBezTo>
                  <a:lnTo>
                    <a:pt x="941" y="6549"/>
                  </a:lnTo>
                  <a:lnTo>
                    <a:pt x="1775" y="6549"/>
                  </a:lnTo>
                  <a:cubicBezTo>
                    <a:pt x="1870" y="6549"/>
                    <a:pt x="1941" y="6477"/>
                    <a:pt x="1941" y="6382"/>
                  </a:cubicBezTo>
                  <a:cubicBezTo>
                    <a:pt x="1941" y="6299"/>
                    <a:pt x="1870" y="6227"/>
                    <a:pt x="1775" y="6227"/>
                  </a:cubicBezTo>
                  <a:lnTo>
                    <a:pt x="941" y="6227"/>
                  </a:lnTo>
                  <a:lnTo>
                    <a:pt x="941" y="3025"/>
                  </a:lnTo>
                  <a:cubicBezTo>
                    <a:pt x="941" y="1548"/>
                    <a:pt x="2179" y="358"/>
                    <a:pt x="3715" y="358"/>
                  </a:cubicBezTo>
                  <a:cubicBezTo>
                    <a:pt x="5239" y="358"/>
                    <a:pt x="6478" y="1548"/>
                    <a:pt x="6478" y="3025"/>
                  </a:cubicBezTo>
                  <a:cubicBezTo>
                    <a:pt x="6478" y="4263"/>
                    <a:pt x="5811" y="5406"/>
                    <a:pt x="4727" y="6013"/>
                  </a:cubicBezTo>
                  <a:lnTo>
                    <a:pt x="3954" y="6442"/>
                  </a:lnTo>
                  <a:cubicBezTo>
                    <a:pt x="3870" y="6489"/>
                    <a:pt x="3846" y="6584"/>
                    <a:pt x="3894" y="6668"/>
                  </a:cubicBezTo>
                  <a:cubicBezTo>
                    <a:pt x="3918" y="6717"/>
                    <a:pt x="3971" y="6749"/>
                    <a:pt x="4029" y="6749"/>
                  </a:cubicBezTo>
                  <a:cubicBezTo>
                    <a:pt x="4055" y="6749"/>
                    <a:pt x="4082" y="6742"/>
                    <a:pt x="4108" y="6727"/>
                  </a:cubicBezTo>
                  <a:lnTo>
                    <a:pt x="4882" y="6299"/>
                  </a:lnTo>
                  <a:cubicBezTo>
                    <a:pt x="4918" y="6287"/>
                    <a:pt x="4930" y="6263"/>
                    <a:pt x="4966" y="6251"/>
                  </a:cubicBezTo>
                  <a:lnTo>
                    <a:pt x="4966" y="8525"/>
                  </a:lnTo>
                  <a:cubicBezTo>
                    <a:pt x="4966" y="8573"/>
                    <a:pt x="4977" y="8609"/>
                    <a:pt x="5001" y="8632"/>
                  </a:cubicBezTo>
                  <a:lnTo>
                    <a:pt x="5620" y="9323"/>
                  </a:lnTo>
                  <a:lnTo>
                    <a:pt x="2965" y="10109"/>
                  </a:lnTo>
                  <a:cubicBezTo>
                    <a:pt x="2882" y="10133"/>
                    <a:pt x="2834" y="10228"/>
                    <a:pt x="2858" y="10299"/>
                  </a:cubicBezTo>
                  <a:cubicBezTo>
                    <a:pt x="2882" y="10371"/>
                    <a:pt x="2953" y="10418"/>
                    <a:pt x="3013" y="10418"/>
                  </a:cubicBezTo>
                  <a:lnTo>
                    <a:pt x="3061" y="10418"/>
                  </a:lnTo>
                  <a:lnTo>
                    <a:pt x="5942" y="9573"/>
                  </a:lnTo>
                  <a:cubicBezTo>
                    <a:pt x="6001" y="9549"/>
                    <a:pt x="6037" y="9513"/>
                    <a:pt x="6049" y="9466"/>
                  </a:cubicBezTo>
                  <a:cubicBezTo>
                    <a:pt x="6061" y="9406"/>
                    <a:pt x="6049" y="9359"/>
                    <a:pt x="6013" y="9311"/>
                  </a:cubicBezTo>
                  <a:lnTo>
                    <a:pt x="5263" y="8442"/>
                  </a:lnTo>
                  <a:lnTo>
                    <a:pt x="5263" y="6013"/>
                  </a:lnTo>
                  <a:cubicBezTo>
                    <a:pt x="6216" y="5311"/>
                    <a:pt x="6787" y="4203"/>
                    <a:pt x="6787" y="2989"/>
                  </a:cubicBezTo>
                  <a:cubicBezTo>
                    <a:pt x="6787" y="1346"/>
                    <a:pt x="5406" y="0"/>
                    <a:pt x="37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2754535" y="2907503"/>
              <a:ext cx="126783" cy="127164"/>
            </a:xfrm>
            <a:custGeom>
              <a:avLst/>
              <a:gdLst/>
              <a:ahLst/>
              <a:cxnLst/>
              <a:rect l="l" t="t" r="r" b="b"/>
              <a:pathLst>
                <a:path w="4002" h="4014" extrusionOk="0">
                  <a:moveTo>
                    <a:pt x="1989" y="1"/>
                  </a:moveTo>
                  <a:cubicBezTo>
                    <a:pt x="953" y="1"/>
                    <a:pt x="72" y="822"/>
                    <a:pt x="1" y="1870"/>
                  </a:cubicBezTo>
                  <a:cubicBezTo>
                    <a:pt x="1" y="1953"/>
                    <a:pt x="61" y="2025"/>
                    <a:pt x="144" y="2048"/>
                  </a:cubicBezTo>
                  <a:cubicBezTo>
                    <a:pt x="239" y="2048"/>
                    <a:pt x="311" y="1989"/>
                    <a:pt x="322" y="1894"/>
                  </a:cubicBezTo>
                  <a:cubicBezTo>
                    <a:pt x="382" y="1013"/>
                    <a:pt x="1108" y="346"/>
                    <a:pt x="1989" y="346"/>
                  </a:cubicBezTo>
                  <a:cubicBezTo>
                    <a:pt x="2918" y="346"/>
                    <a:pt x="3656" y="1096"/>
                    <a:pt x="3656" y="2013"/>
                  </a:cubicBezTo>
                  <a:cubicBezTo>
                    <a:pt x="3656" y="2941"/>
                    <a:pt x="2918" y="3680"/>
                    <a:pt x="1989" y="3680"/>
                  </a:cubicBezTo>
                  <a:cubicBezTo>
                    <a:pt x="1251" y="3680"/>
                    <a:pt x="596" y="3191"/>
                    <a:pt x="382" y="2477"/>
                  </a:cubicBezTo>
                  <a:cubicBezTo>
                    <a:pt x="363" y="2401"/>
                    <a:pt x="298" y="2363"/>
                    <a:pt x="236" y="2363"/>
                  </a:cubicBezTo>
                  <a:cubicBezTo>
                    <a:pt x="221" y="2363"/>
                    <a:pt x="206" y="2365"/>
                    <a:pt x="191" y="2370"/>
                  </a:cubicBezTo>
                  <a:cubicBezTo>
                    <a:pt x="96" y="2406"/>
                    <a:pt x="61" y="2489"/>
                    <a:pt x="84" y="2560"/>
                  </a:cubicBezTo>
                  <a:cubicBezTo>
                    <a:pt x="322" y="3418"/>
                    <a:pt x="1108" y="4013"/>
                    <a:pt x="2001" y="4013"/>
                  </a:cubicBezTo>
                  <a:cubicBezTo>
                    <a:pt x="3109" y="4013"/>
                    <a:pt x="4001" y="3120"/>
                    <a:pt x="4001" y="2013"/>
                  </a:cubicBezTo>
                  <a:cubicBezTo>
                    <a:pt x="3990" y="917"/>
                    <a:pt x="3097" y="1"/>
                    <a:pt x="1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2781336" y="2931263"/>
              <a:ext cx="74321" cy="74353"/>
            </a:xfrm>
            <a:custGeom>
              <a:avLst/>
              <a:gdLst/>
              <a:ahLst/>
              <a:cxnLst/>
              <a:rect l="l" t="t" r="r" b="b"/>
              <a:pathLst>
                <a:path w="2346" h="2347" extrusionOk="0">
                  <a:moveTo>
                    <a:pt x="1465" y="310"/>
                  </a:moveTo>
                  <a:cubicBezTo>
                    <a:pt x="1620" y="310"/>
                    <a:pt x="1751" y="370"/>
                    <a:pt x="1858" y="477"/>
                  </a:cubicBezTo>
                  <a:cubicBezTo>
                    <a:pt x="1965" y="584"/>
                    <a:pt x="2024" y="715"/>
                    <a:pt x="2024" y="858"/>
                  </a:cubicBezTo>
                  <a:cubicBezTo>
                    <a:pt x="2024" y="1013"/>
                    <a:pt x="1965" y="1144"/>
                    <a:pt x="1858" y="1251"/>
                  </a:cubicBezTo>
                  <a:cubicBezTo>
                    <a:pt x="1751" y="1358"/>
                    <a:pt x="1620" y="1418"/>
                    <a:pt x="1465" y="1418"/>
                  </a:cubicBezTo>
                  <a:cubicBezTo>
                    <a:pt x="1322" y="1418"/>
                    <a:pt x="1191" y="1358"/>
                    <a:pt x="1084" y="1251"/>
                  </a:cubicBezTo>
                  <a:cubicBezTo>
                    <a:pt x="869" y="1037"/>
                    <a:pt x="869" y="679"/>
                    <a:pt x="1084" y="477"/>
                  </a:cubicBezTo>
                  <a:cubicBezTo>
                    <a:pt x="1191" y="370"/>
                    <a:pt x="1322" y="310"/>
                    <a:pt x="1465" y="310"/>
                  </a:cubicBezTo>
                  <a:close/>
                  <a:moveTo>
                    <a:pt x="1489" y="1"/>
                  </a:moveTo>
                  <a:cubicBezTo>
                    <a:pt x="1262" y="1"/>
                    <a:pt x="1036" y="84"/>
                    <a:pt x="869" y="251"/>
                  </a:cubicBezTo>
                  <a:cubicBezTo>
                    <a:pt x="572" y="548"/>
                    <a:pt x="536" y="1025"/>
                    <a:pt x="774" y="1370"/>
                  </a:cubicBezTo>
                  <a:lnTo>
                    <a:pt x="60" y="2084"/>
                  </a:lnTo>
                  <a:cubicBezTo>
                    <a:pt x="0" y="2144"/>
                    <a:pt x="0" y="2239"/>
                    <a:pt x="60" y="2299"/>
                  </a:cubicBezTo>
                  <a:cubicBezTo>
                    <a:pt x="84" y="2334"/>
                    <a:pt x="131" y="2346"/>
                    <a:pt x="179" y="2346"/>
                  </a:cubicBezTo>
                  <a:cubicBezTo>
                    <a:pt x="215" y="2346"/>
                    <a:pt x="262" y="2334"/>
                    <a:pt x="298" y="2299"/>
                  </a:cubicBezTo>
                  <a:lnTo>
                    <a:pt x="1012" y="1584"/>
                  </a:lnTo>
                  <a:cubicBezTo>
                    <a:pt x="1155" y="1691"/>
                    <a:pt x="1322" y="1739"/>
                    <a:pt x="1501" y="1739"/>
                  </a:cubicBezTo>
                  <a:cubicBezTo>
                    <a:pt x="1739" y="1739"/>
                    <a:pt x="1941" y="1644"/>
                    <a:pt x="2108" y="1489"/>
                  </a:cubicBezTo>
                  <a:cubicBezTo>
                    <a:pt x="2263" y="1310"/>
                    <a:pt x="2346" y="1096"/>
                    <a:pt x="2346" y="858"/>
                  </a:cubicBezTo>
                  <a:cubicBezTo>
                    <a:pt x="2346" y="620"/>
                    <a:pt x="2263" y="417"/>
                    <a:pt x="2096" y="251"/>
                  </a:cubicBezTo>
                  <a:cubicBezTo>
                    <a:pt x="1929" y="84"/>
                    <a:pt x="1703" y="1"/>
                    <a:pt x="1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7909985" y="1587301"/>
            <a:ext cx="364415" cy="220936"/>
            <a:chOff x="3961923" y="2486317"/>
            <a:chExt cx="364415" cy="220936"/>
          </a:xfrm>
        </p:grpSpPr>
        <p:sp>
          <p:nvSpPr>
            <p:cNvPr id="173" name="Google Shape;173;p17"/>
            <p:cNvSpPr/>
            <p:nvPr/>
          </p:nvSpPr>
          <p:spPr>
            <a:xfrm>
              <a:off x="4106764" y="2486507"/>
              <a:ext cx="219574" cy="220746"/>
            </a:xfrm>
            <a:custGeom>
              <a:avLst/>
              <a:gdLst/>
              <a:ahLst/>
              <a:cxnLst/>
              <a:rect l="l" t="t" r="r" b="b"/>
              <a:pathLst>
                <a:path w="6931" h="6968" extrusionOk="0">
                  <a:moveTo>
                    <a:pt x="4114" y="1"/>
                  </a:moveTo>
                  <a:cubicBezTo>
                    <a:pt x="4035" y="1"/>
                    <a:pt x="3953" y="69"/>
                    <a:pt x="3942" y="157"/>
                  </a:cubicBezTo>
                  <a:cubicBezTo>
                    <a:pt x="3930" y="240"/>
                    <a:pt x="4001" y="336"/>
                    <a:pt x="4085" y="348"/>
                  </a:cubicBezTo>
                  <a:cubicBezTo>
                    <a:pt x="4906" y="455"/>
                    <a:pt x="5633" y="895"/>
                    <a:pt x="6085" y="1574"/>
                  </a:cubicBezTo>
                  <a:cubicBezTo>
                    <a:pt x="6764" y="2610"/>
                    <a:pt x="6728" y="3943"/>
                    <a:pt x="5954" y="4908"/>
                  </a:cubicBezTo>
                  <a:cubicBezTo>
                    <a:pt x="5918" y="4943"/>
                    <a:pt x="5906" y="4991"/>
                    <a:pt x="5918" y="5027"/>
                  </a:cubicBezTo>
                  <a:lnTo>
                    <a:pt x="5990" y="6539"/>
                  </a:lnTo>
                  <a:lnTo>
                    <a:pt x="5990" y="6539"/>
                  </a:lnTo>
                  <a:lnTo>
                    <a:pt x="4644" y="5896"/>
                  </a:lnTo>
                  <a:cubicBezTo>
                    <a:pt x="4609" y="5884"/>
                    <a:pt x="4561" y="5884"/>
                    <a:pt x="4525" y="5884"/>
                  </a:cubicBezTo>
                  <a:cubicBezTo>
                    <a:pt x="4272" y="5957"/>
                    <a:pt x="4014" y="5992"/>
                    <a:pt x="3758" y="5992"/>
                  </a:cubicBezTo>
                  <a:cubicBezTo>
                    <a:pt x="2969" y="5992"/>
                    <a:pt x="2201" y="5659"/>
                    <a:pt x="1644" y="5074"/>
                  </a:cubicBezTo>
                  <a:cubicBezTo>
                    <a:pt x="1584" y="5015"/>
                    <a:pt x="1549" y="4955"/>
                    <a:pt x="1501" y="4896"/>
                  </a:cubicBezTo>
                  <a:cubicBezTo>
                    <a:pt x="1453" y="4836"/>
                    <a:pt x="1430" y="4789"/>
                    <a:pt x="1382" y="4729"/>
                  </a:cubicBezTo>
                  <a:lnTo>
                    <a:pt x="1382" y="4717"/>
                  </a:lnTo>
                  <a:cubicBezTo>
                    <a:pt x="1620" y="4300"/>
                    <a:pt x="1751" y="3836"/>
                    <a:pt x="1787" y="3384"/>
                  </a:cubicBezTo>
                  <a:cubicBezTo>
                    <a:pt x="1787" y="3288"/>
                    <a:pt x="1727" y="3205"/>
                    <a:pt x="1632" y="3205"/>
                  </a:cubicBezTo>
                  <a:cubicBezTo>
                    <a:pt x="1549" y="3205"/>
                    <a:pt x="1453" y="3265"/>
                    <a:pt x="1453" y="3348"/>
                  </a:cubicBezTo>
                  <a:cubicBezTo>
                    <a:pt x="1430" y="3836"/>
                    <a:pt x="1263" y="4312"/>
                    <a:pt x="977" y="4729"/>
                  </a:cubicBezTo>
                  <a:cubicBezTo>
                    <a:pt x="739" y="5074"/>
                    <a:pt x="441" y="5360"/>
                    <a:pt x="96" y="5586"/>
                  </a:cubicBezTo>
                  <a:cubicBezTo>
                    <a:pt x="25" y="5622"/>
                    <a:pt x="1" y="5729"/>
                    <a:pt x="37" y="5801"/>
                  </a:cubicBezTo>
                  <a:cubicBezTo>
                    <a:pt x="72" y="5848"/>
                    <a:pt x="132" y="5884"/>
                    <a:pt x="191" y="5884"/>
                  </a:cubicBezTo>
                  <a:cubicBezTo>
                    <a:pt x="215" y="5884"/>
                    <a:pt x="251" y="5860"/>
                    <a:pt x="275" y="5848"/>
                  </a:cubicBezTo>
                  <a:cubicBezTo>
                    <a:pt x="632" y="5622"/>
                    <a:pt x="953" y="5348"/>
                    <a:pt x="1192" y="5015"/>
                  </a:cubicBezTo>
                  <a:cubicBezTo>
                    <a:pt x="1203" y="5051"/>
                    <a:pt x="1215" y="5062"/>
                    <a:pt x="1251" y="5086"/>
                  </a:cubicBezTo>
                  <a:cubicBezTo>
                    <a:pt x="1311" y="5170"/>
                    <a:pt x="1370" y="5229"/>
                    <a:pt x="1406" y="5301"/>
                  </a:cubicBezTo>
                  <a:cubicBezTo>
                    <a:pt x="1811" y="5729"/>
                    <a:pt x="2323" y="6039"/>
                    <a:pt x="2894" y="6205"/>
                  </a:cubicBezTo>
                  <a:cubicBezTo>
                    <a:pt x="3179" y="6284"/>
                    <a:pt x="3465" y="6323"/>
                    <a:pt x="3749" y="6323"/>
                  </a:cubicBezTo>
                  <a:cubicBezTo>
                    <a:pt x="4021" y="6323"/>
                    <a:pt x="4293" y="6287"/>
                    <a:pt x="4561" y="6217"/>
                  </a:cubicBezTo>
                  <a:lnTo>
                    <a:pt x="6109" y="6956"/>
                  </a:lnTo>
                  <a:cubicBezTo>
                    <a:pt x="6145" y="6967"/>
                    <a:pt x="6156" y="6967"/>
                    <a:pt x="6192" y="6967"/>
                  </a:cubicBezTo>
                  <a:cubicBezTo>
                    <a:pt x="6216" y="6967"/>
                    <a:pt x="6252" y="6956"/>
                    <a:pt x="6275" y="6932"/>
                  </a:cubicBezTo>
                  <a:cubicBezTo>
                    <a:pt x="6323" y="6908"/>
                    <a:pt x="6347" y="6848"/>
                    <a:pt x="6347" y="6789"/>
                  </a:cubicBezTo>
                  <a:lnTo>
                    <a:pt x="6275" y="5074"/>
                  </a:lnTo>
                  <a:cubicBezTo>
                    <a:pt x="6668" y="4574"/>
                    <a:pt x="6883" y="3955"/>
                    <a:pt x="6918" y="3300"/>
                  </a:cubicBezTo>
                  <a:cubicBezTo>
                    <a:pt x="6930" y="2622"/>
                    <a:pt x="6752" y="1967"/>
                    <a:pt x="6371" y="1383"/>
                  </a:cubicBezTo>
                  <a:cubicBezTo>
                    <a:pt x="5859" y="633"/>
                    <a:pt x="5037" y="121"/>
                    <a:pt x="4132" y="2"/>
                  </a:cubicBezTo>
                  <a:cubicBezTo>
                    <a:pt x="4126" y="1"/>
                    <a:pt x="4120" y="1"/>
                    <a:pt x="4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3961923" y="2486317"/>
              <a:ext cx="259839" cy="220936"/>
            </a:xfrm>
            <a:custGeom>
              <a:avLst/>
              <a:gdLst/>
              <a:ahLst/>
              <a:cxnLst/>
              <a:rect l="l" t="t" r="r" b="b"/>
              <a:pathLst>
                <a:path w="8202" h="6974" extrusionOk="0">
                  <a:moveTo>
                    <a:pt x="3198" y="1"/>
                  </a:moveTo>
                  <a:cubicBezTo>
                    <a:pt x="2177" y="1"/>
                    <a:pt x="1174" y="493"/>
                    <a:pt x="560" y="1413"/>
                  </a:cubicBezTo>
                  <a:cubicBezTo>
                    <a:pt x="179" y="1973"/>
                    <a:pt x="1" y="2640"/>
                    <a:pt x="25" y="3318"/>
                  </a:cubicBezTo>
                  <a:cubicBezTo>
                    <a:pt x="60" y="3949"/>
                    <a:pt x="287" y="4556"/>
                    <a:pt x="668" y="5080"/>
                  </a:cubicBezTo>
                  <a:lnTo>
                    <a:pt x="596" y="6795"/>
                  </a:lnTo>
                  <a:cubicBezTo>
                    <a:pt x="596" y="6854"/>
                    <a:pt x="620" y="6914"/>
                    <a:pt x="668" y="6938"/>
                  </a:cubicBezTo>
                  <a:cubicBezTo>
                    <a:pt x="703" y="6962"/>
                    <a:pt x="727" y="6973"/>
                    <a:pt x="763" y="6973"/>
                  </a:cubicBezTo>
                  <a:cubicBezTo>
                    <a:pt x="787" y="6973"/>
                    <a:pt x="799" y="6973"/>
                    <a:pt x="834" y="6962"/>
                  </a:cubicBezTo>
                  <a:lnTo>
                    <a:pt x="2382" y="6235"/>
                  </a:lnTo>
                  <a:cubicBezTo>
                    <a:pt x="2647" y="6300"/>
                    <a:pt x="2916" y="6333"/>
                    <a:pt x="3186" y="6333"/>
                  </a:cubicBezTo>
                  <a:cubicBezTo>
                    <a:pt x="3512" y="6333"/>
                    <a:pt x="3837" y="6285"/>
                    <a:pt x="4156" y="6188"/>
                  </a:cubicBezTo>
                  <a:cubicBezTo>
                    <a:pt x="4240" y="6152"/>
                    <a:pt x="4287" y="6069"/>
                    <a:pt x="4251" y="5973"/>
                  </a:cubicBezTo>
                  <a:cubicBezTo>
                    <a:pt x="4233" y="5909"/>
                    <a:pt x="4172" y="5866"/>
                    <a:pt x="4107" y="5866"/>
                  </a:cubicBezTo>
                  <a:cubicBezTo>
                    <a:pt x="4088" y="5866"/>
                    <a:pt x="4068" y="5870"/>
                    <a:pt x="4049" y="5878"/>
                  </a:cubicBezTo>
                  <a:cubicBezTo>
                    <a:pt x="3772" y="5971"/>
                    <a:pt x="3484" y="6015"/>
                    <a:pt x="3198" y="6015"/>
                  </a:cubicBezTo>
                  <a:cubicBezTo>
                    <a:pt x="2931" y="6015"/>
                    <a:pt x="2664" y="5976"/>
                    <a:pt x="2406" y="5902"/>
                  </a:cubicBezTo>
                  <a:cubicBezTo>
                    <a:pt x="2391" y="5897"/>
                    <a:pt x="2376" y="5894"/>
                    <a:pt x="2361" y="5894"/>
                  </a:cubicBezTo>
                  <a:cubicBezTo>
                    <a:pt x="2339" y="5894"/>
                    <a:pt x="2315" y="5900"/>
                    <a:pt x="2287" y="5914"/>
                  </a:cubicBezTo>
                  <a:lnTo>
                    <a:pt x="941" y="6533"/>
                  </a:lnTo>
                  <a:lnTo>
                    <a:pt x="941" y="6533"/>
                  </a:lnTo>
                  <a:lnTo>
                    <a:pt x="1013" y="5021"/>
                  </a:lnTo>
                  <a:cubicBezTo>
                    <a:pt x="1013" y="4985"/>
                    <a:pt x="1001" y="4949"/>
                    <a:pt x="977" y="4902"/>
                  </a:cubicBezTo>
                  <a:cubicBezTo>
                    <a:pt x="203" y="3937"/>
                    <a:pt x="168" y="2604"/>
                    <a:pt x="846" y="1568"/>
                  </a:cubicBezTo>
                  <a:cubicBezTo>
                    <a:pt x="1393" y="759"/>
                    <a:pt x="2293" y="318"/>
                    <a:pt x="3208" y="318"/>
                  </a:cubicBezTo>
                  <a:cubicBezTo>
                    <a:pt x="3748" y="318"/>
                    <a:pt x="4294" y="472"/>
                    <a:pt x="4775" y="794"/>
                  </a:cubicBezTo>
                  <a:cubicBezTo>
                    <a:pt x="5430" y="1247"/>
                    <a:pt x="5883" y="1949"/>
                    <a:pt x="6002" y="2735"/>
                  </a:cubicBezTo>
                  <a:cubicBezTo>
                    <a:pt x="6013" y="2811"/>
                    <a:pt x="6083" y="2867"/>
                    <a:pt x="6168" y="2867"/>
                  </a:cubicBezTo>
                  <a:cubicBezTo>
                    <a:pt x="6176" y="2867"/>
                    <a:pt x="6184" y="2867"/>
                    <a:pt x="6192" y="2866"/>
                  </a:cubicBezTo>
                  <a:cubicBezTo>
                    <a:pt x="6275" y="2854"/>
                    <a:pt x="6335" y="2759"/>
                    <a:pt x="6323" y="2675"/>
                  </a:cubicBezTo>
                  <a:cubicBezTo>
                    <a:pt x="6264" y="2282"/>
                    <a:pt x="6133" y="1913"/>
                    <a:pt x="5954" y="1592"/>
                  </a:cubicBezTo>
                  <a:cubicBezTo>
                    <a:pt x="5990" y="1532"/>
                    <a:pt x="6025" y="1473"/>
                    <a:pt x="6073" y="1413"/>
                  </a:cubicBezTo>
                  <a:cubicBezTo>
                    <a:pt x="6133" y="1330"/>
                    <a:pt x="6192" y="1270"/>
                    <a:pt x="6252" y="1199"/>
                  </a:cubicBezTo>
                  <a:cubicBezTo>
                    <a:pt x="6395" y="1056"/>
                    <a:pt x="6561" y="901"/>
                    <a:pt x="6740" y="782"/>
                  </a:cubicBezTo>
                  <a:cubicBezTo>
                    <a:pt x="7121" y="520"/>
                    <a:pt x="7585" y="365"/>
                    <a:pt x="8050" y="318"/>
                  </a:cubicBezTo>
                  <a:cubicBezTo>
                    <a:pt x="8057" y="320"/>
                    <a:pt x="8065" y="322"/>
                    <a:pt x="8073" y="322"/>
                  </a:cubicBezTo>
                  <a:cubicBezTo>
                    <a:pt x="8137" y="322"/>
                    <a:pt x="8202" y="238"/>
                    <a:pt x="8180" y="163"/>
                  </a:cubicBezTo>
                  <a:cubicBezTo>
                    <a:pt x="8169" y="75"/>
                    <a:pt x="8107" y="7"/>
                    <a:pt x="8022" y="7"/>
                  </a:cubicBezTo>
                  <a:cubicBezTo>
                    <a:pt x="8016" y="7"/>
                    <a:pt x="8009" y="7"/>
                    <a:pt x="8002" y="8"/>
                  </a:cubicBezTo>
                  <a:cubicBezTo>
                    <a:pt x="7490" y="56"/>
                    <a:pt x="6978" y="234"/>
                    <a:pt x="6549" y="532"/>
                  </a:cubicBezTo>
                  <a:cubicBezTo>
                    <a:pt x="6359" y="663"/>
                    <a:pt x="6156" y="818"/>
                    <a:pt x="6002" y="996"/>
                  </a:cubicBezTo>
                  <a:cubicBezTo>
                    <a:pt x="5918" y="1068"/>
                    <a:pt x="5859" y="1139"/>
                    <a:pt x="5799" y="1211"/>
                  </a:cubicBezTo>
                  <a:cubicBezTo>
                    <a:pt x="5787" y="1247"/>
                    <a:pt x="5764" y="1258"/>
                    <a:pt x="5740" y="1294"/>
                  </a:cubicBezTo>
                  <a:cubicBezTo>
                    <a:pt x="5525" y="996"/>
                    <a:pt x="5252" y="735"/>
                    <a:pt x="4954" y="532"/>
                  </a:cubicBezTo>
                  <a:cubicBezTo>
                    <a:pt x="4414" y="174"/>
                    <a:pt x="3803" y="1"/>
                    <a:pt x="3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4015113" y="2540870"/>
              <a:ext cx="96212" cy="95832"/>
            </a:xfrm>
            <a:custGeom>
              <a:avLst/>
              <a:gdLst/>
              <a:ahLst/>
              <a:cxnLst/>
              <a:rect l="l" t="t" r="r" b="b"/>
              <a:pathLst>
                <a:path w="3037" h="3025" extrusionOk="0">
                  <a:moveTo>
                    <a:pt x="1418" y="346"/>
                  </a:moveTo>
                  <a:cubicBezTo>
                    <a:pt x="2013" y="346"/>
                    <a:pt x="2501" y="834"/>
                    <a:pt x="2501" y="1430"/>
                  </a:cubicBezTo>
                  <a:cubicBezTo>
                    <a:pt x="2501" y="1668"/>
                    <a:pt x="2430" y="1894"/>
                    <a:pt x="2299" y="2072"/>
                  </a:cubicBezTo>
                  <a:lnTo>
                    <a:pt x="1537" y="1310"/>
                  </a:lnTo>
                  <a:cubicBezTo>
                    <a:pt x="1507" y="1281"/>
                    <a:pt x="1462" y="1266"/>
                    <a:pt x="1418" y="1266"/>
                  </a:cubicBezTo>
                  <a:cubicBezTo>
                    <a:pt x="1373" y="1266"/>
                    <a:pt x="1328" y="1281"/>
                    <a:pt x="1298" y="1310"/>
                  </a:cubicBezTo>
                  <a:cubicBezTo>
                    <a:pt x="1239" y="1370"/>
                    <a:pt x="1239" y="1489"/>
                    <a:pt x="1298" y="1549"/>
                  </a:cubicBezTo>
                  <a:lnTo>
                    <a:pt x="2060" y="2311"/>
                  </a:lnTo>
                  <a:cubicBezTo>
                    <a:pt x="1870" y="2442"/>
                    <a:pt x="1656" y="2513"/>
                    <a:pt x="1418" y="2513"/>
                  </a:cubicBezTo>
                  <a:cubicBezTo>
                    <a:pt x="822" y="2513"/>
                    <a:pt x="334" y="2025"/>
                    <a:pt x="334" y="1430"/>
                  </a:cubicBezTo>
                  <a:cubicBezTo>
                    <a:pt x="334" y="834"/>
                    <a:pt x="822" y="346"/>
                    <a:pt x="1418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30"/>
                  </a:cubicBezTo>
                  <a:cubicBezTo>
                    <a:pt x="1" y="2215"/>
                    <a:pt x="644" y="2858"/>
                    <a:pt x="1429" y="2858"/>
                  </a:cubicBezTo>
                  <a:cubicBezTo>
                    <a:pt x="1763" y="2858"/>
                    <a:pt x="2072" y="2739"/>
                    <a:pt x="2310" y="2549"/>
                  </a:cubicBezTo>
                  <a:lnTo>
                    <a:pt x="2739" y="2977"/>
                  </a:lnTo>
                  <a:cubicBezTo>
                    <a:pt x="2775" y="3001"/>
                    <a:pt x="2811" y="3025"/>
                    <a:pt x="2858" y="3025"/>
                  </a:cubicBezTo>
                  <a:cubicBezTo>
                    <a:pt x="2906" y="3025"/>
                    <a:pt x="2953" y="3001"/>
                    <a:pt x="2977" y="2977"/>
                  </a:cubicBezTo>
                  <a:cubicBezTo>
                    <a:pt x="3037" y="2918"/>
                    <a:pt x="3037" y="2811"/>
                    <a:pt x="2977" y="2739"/>
                  </a:cubicBezTo>
                  <a:lnTo>
                    <a:pt x="2549" y="2311"/>
                  </a:lnTo>
                  <a:cubicBezTo>
                    <a:pt x="2739" y="2072"/>
                    <a:pt x="2858" y="1751"/>
                    <a:pt x="2858" y="1430"/>
                  </a:cubicBezTo>
                  <a:cubicBezTo>
                    <a:pt x="2858" y="644"/>
                    <a:pt x="2215" y="1"/>
                    <a:pt x="1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4186375" y="2539381"/>
              <a:ext cx="77331" cy="90541"/>
            </a:xfrm>
            <a:custGeom>
              <a:avLst/>
              <a:gdLst/>
              <a:ahLst/>
              <a:cxnLst/>
              <a:rect l="l" t="t" r="r" b="b"/>
              <a:pathLst>
                <a:path w="2441" h="2858" extrusionOk="0">
                  <a:moveTo>
                    <a:pt x="1203" y="607"/>
                  </a:moveTo>
                  <a:lnTo>
                    <a:pt x="1572" y="1524"/>
                  </a:lnTo>
                  <a:lnTo>
                    <a:pt x="834" y="1524"/>
                  </a:lnTo>
                  <a:lnTo>
                    <a:pt x="1203" y="607"/>
                  </a:lnTo>
                  <a:close/>
                  <a:moveTo>
                    <a:pt x="1215" y="0"/>
                  </a:moveTo>
                  <a:cubicBezTo>
                    <a:pt x="1155" y="0"/>
                    <a:pt x="1084" y="48"/>
                    <a:pt x="1072" y="107"/>
                  </a:cubicBezTo>
                  <a:lnTo>
                    <a:pt x="441" y="1619"/>
                  </a:lnTo>
                  <a:lnTo>
                    <a:pt x="24" y="2620"/>
                  </a:lnTo>
                  <a:cubicBezTo>
                    <a:pt x="0" y="2715"/>
                    <a:pt x="24" y="2798"/>
                    <a:pt x="119" y="2846"/>
                  </a:cubicBezTo>
                  <a:cubicBezTo>
                    <a:pt x="139" y="2851"/>
                    <a:pt x="159" y="2854"/>
                    <a:pt x="179" y="2854"/>
                  </a:cubicBezTo>
                  <a:cubicBezTo>
                    <a:pt x="245" y="2854"/>
                    <a:pt x="309" y="2823"/>
                    <a:pt x="345" y="2750"/>
                  </a:cubicBezTo>
                  <a:lnTo>
                    <a:pt x="714" y="1858"/>
                  </a:lnTo>
                  <a:lnTo>
                    <a:pt x="1750" y="1858"/>
                  </a:lnTo>
                  <a:lnTo>
                    <a:pt x="2131" y="2750"/>
                  </a:lnTo>
                  <a:cubicBezTo>
                    <a:pt x="2155" y="2810"/>
                    <a:pt x="2215" y="2858"/>
                    <a:pt x="2274" y="2858"/>
                  </a:cubicBezTo>
                  <a:cubicBezTo>
                    <a:pt x="2286" y="2858"/>
                    <a:pt x="2322" y="2858"/>
                    <a:pt x="2334" y="2846"/>
                  </a:cubicBezTo>
                  <a:cubicBezTo>
                    <a:pt x="2405" y="2798"/>
                    <a:pt x="2441" y="2715"/>
                    <a:pt x="2405" y="2620"/>
                  </a:cubicBezTo>
                  <a:lnTo>
                    <a:pt x="1988" y="1619"/>
                  </a:lnTo>
                  <a:lnTo>
                    <a:pt x="1369" y="107"/>
                  </a:lnTo>
                  <a:cubicBezTo>
                    <a:pt x="1334" y="48"/>
                    <a:pt x="1274" y="0"/>
                    <a:pt x="1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7"/>
          <p:cNvSpPr txBox="1"/>
          <p:nvPr/>
        </p:nvSpPr>
        <p:spPr>
          <a:xfrm>
            <a:off x="720000" y="1115506"/>
            <a:ext cx="6624000" cy="3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rPr>
              <a:t>Para aprobar cursada</a:t>
            </a:r>
            <a:r>
              <a:rPr lang="en" sz="20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rPr>
              <a:t/>
            </a:r>
            <a:br>
              <a:rPr lang="en" sz="20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rPr>
            </a:br>
            <a:endParaRPr sz="2000" dirty="0">
              <a:solidFill>
                <a:schemeClr val="bg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rPr>
              <a:t>1 Parcial Práctico</a:t>
            </a:r>
            <a:endParaRPr sz="2000" dirty="0">
              <a:solidFill>
                <a:schemeClr val="bg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rPr>
              <a:t>1 Trabajo Integrador</a:t>
            </a:r>
            <a:endParaRPr sz="2000" dirty="0">
              <a:solidFill>
                <a:schemeClr val="bg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rPr>
              <a:t>Notas mayores a 4 en cada tema de los exámenes.</a:t>
            </a:r>
            <a:endParaRPr sz="2000" dirty="0">
              <a:solidFill>
                <a:schemeClr val="bg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bg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rPr>
              <a:t>Para Promocionar</a:t>
            </a:r>
            <a:endParaRPr sz="2600" dirty="0">
              <a:solidFill>
                <a:schemeClr val="bg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bg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rPr>
              <a:t>Parcial Teórico.</a:t>
            </a:r>
            <a:endParaRPr sz="2000" dirty="0">
              <a:solidFill>
                <a:schemeClr val="bg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rPr>
              <a:t>Notas mayores a 6 en cada tema de los exámenes.</a:t>
            </a:r>
            <a:endParaRPr sz="2000" dirty="0">
              <a:solidFill>
                <a:schemeClr val="bg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●"/>
            </a:pPr>
            <a:r>
              <a:rPr lang="en" sz="20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rPr>
              <a:t>4 faltas o menos.</a:t>
            </a:r>
            <a:endParaRPr sz="2000" dirty="0">
              <a:solidFill>
                <a:schemeClr val="bg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  <p:extLst>
      <p:ext uri="{BB962C8B-B14F-4D97-AF65-F5344CB8AC3E}">
        <p14:creationId xmlns:p14="http://schemas.microsoft.com/office/powerpoint/2010/main" val="31505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Fechas de Parciales (Tentativas)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2185800" y="1248000"/>
            <a:ext cx="47724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 err="1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Comision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S23: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1º 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Fecha: 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19 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 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Junio.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2º 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Fecha: 3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 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Julio.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3º 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Fecha: 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15 de Julio.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Fecha 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Flotante: 5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419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 </a:t>
            </a:r>
            <a:r>
              <a:rPr lang="es-419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Agosto.</a:t>
            </a:r>
            <a:endParaRPr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 smtClean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lvl="0"/>
            <a:r>
              <a:rPr lang="es-AR" sz="200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Comision</a:t>
            </a:r>
            <a:r>
              <a:rPr lang="es-AR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S24:</a:t>
            </a:r>
            <a:endParaRPr lang="es-AR"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lvl="0"/>
            <a:r>
              <a:rPr lang="es-AR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1º Fecha: </a:t>
            </a:r>
            <a:r>
              <a:rPr lang="es-AR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17 de </a:t>
            </a:r>
            <a:r>
              <a:rPr lang="es-AR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Junio.</a:t>
            </a:r>
          </a:p>
          <a:p>
            <a:pPr lvl="0"/>
            <a:r>
              <a:rPr lang="es-AR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2º Fecha: </a:t>
            </a:r>
            <a:r>
              <a:rPr lang="es-AR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 </a:t>
            </a:r>
            <a:r>
              <a:rPr lang="es-AR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 Julio.</a:t>
            </a:r>
          </a:p>
          <a:p>
            <a:pPr lvl="0"/>
            <a:r>
              <a:rPr lang="es-AR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3º Fecha: </a:t>
            </a:r>
            <a:r>
              <a:rPr lang="es-AR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15 </a:t>
            </a:r>
            <a:r>
              <a:rPr lang="es-AR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 Julio.</a:t>
            </a:r>
          </a:p>
          <a:p>
            <a:pPr lvl="0"/>
            <a:r>
              <a:rPr lang="es-AR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Fecha Flotante: </a:t>
            </a:r>
            <a:r>
              <a:rPr lang="es-AR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 </a:t>
            </a:r>
            <a:r>
              <a:rPr lang="es-AR" sz="2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 Agosto</a:t>
            </a:r>
            <a:r>
              <a:rPr lang="es-AR" sz="2000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s-AR" sz="2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Trabajo Integrador</a:t>
            </a:r>
            <a:endParaRPr/>
          </a:p>
        </p:txBody>
      </p:sp>
      <p:grpSp>
        <p:nvGrpSpPr>
          <p:cNvPr id="207" name="Google Shape;207;p19"/>
          <p:cNvGrpSpPr/>
          <p:nvPr/>
        </p:nvGrpSpPr>
        <p:grpSpPr>
          <a:xfrm>
            <a:off x="3966825" y="1493875"/>
            <a:ext cx="4463842" cy="457200"/>
            <a:chOff x="3966775" y="1665600"/>
            <a:chExt cx="2624400" cy="457200"/>
          </a:xfrm>
        </p:grpSpPr>
        <p:sp>
          <p:nvSpPr>
            <p:cNvPr id="208" name="Google Shape;208;p19"/>
            <p:cNvSpPr txBox="1"/>
            <p:nvPr/>
          </p:nvSpPr>
          <p:spPr>
            <a:xfrm>
              <a:off x="4691875" y="1665600"/>
              <a:ext cx="1899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 smtClean="0">
                  <a:solidFill>
                    <a:schemeClr val="bg1"/>
                  </a:solidFill>
                  <a:latin typeface="Quantico"/>
                  <a:ea typeface="Quantico"/>
                  <a:cs typeface="Quantico"/>
                  <a:sym typeface="Quantico"/>
                </a:rPr>
                <a:t>TAD</a:t>
              </a:r>
              <a:endParaRPr sz="22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3966775" y="1665600"/>
              <a:ext cx="725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bg1"/>
                  </a:solidFill>
                  <a:latin typeface="Quantico"/>
                  <a:ea typeface="Quantico"/>
                  <a:cs typeface="Quantico"/>
                  <a:sym typeface="Quantico"/>
                </a:rPr>
                <a:t>{Tema}</a:t>
              </a:r>
              <a:endParaRPr sz="220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210" name="Google Shape;210;p19"/>
          <p:cNvGrpSpPr/>
          <p:nvPr/>
        </p:nvGrpSpPr>
        <p:grpSpPr>
          <a:xfrm>
            <a:off x="3966775" y="3362600"/>
            <a:ext cx="4406900" cy="457200"/>
            <a:chOff x="3966775" y="3627756"/>
            <a:chExt cx="4406900" cy="457200"/>
          </a:xfrm>
        </p:grpSpPr>
        <p:sp>
          <p:nvSpPr>
            <p:cNvPr id="211" name="Google Shape;211;p19"/>
            <p:cNvSpPr txBox="1"/>
            <p:nvPr/>
          </p:nvSpPr>
          <p:spPr>
            <a:xfrm>
              <a:off x="6078675" y="3627756"/>
              <a:ext cx="229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>
                  <a:solidFill>
                    <a:schemeClr val="bg1"/>
                  </a:solidFill>
                  <a:latin typeface="Quantico"/>
                  <a:ea typeface="Quantico"/>
                  <a:cs typeface="Quantico"/>
                  <a:sym typeface="Quantico"/>
                </a:rPr>
                <a:t>Semana </a:t>
              </a:r>
              <a:r>
                <a:rPr lang="en" sz="2200" dirty="0" smtClean="0">
                  <a:solidFill>
                    <a:schemeClr val="bg1"/>
                  </a:solidFill>
                  <a:latin typeface="Quantico"/>
                  <a:ea typeface="Quantico"/>
                  <a:cs typeface="Quantico"/>
                  <a:sym typeface="Quantico"/>
                </a:rPr>
                <a:t>25/05</a:t>
              </a:r>
              <a:endParaRPr sz="22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3966775" y="3627756"/>
              <a:ext cx="223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bg1"/>
                  </a:solidFill>
                  <a:latin typeface="Quantico"/>
                  <a:ea typeface="Quantico"/>
                  <a:cs typeface="Quantico"/>
                  <a:sym typeface="Quantico"/>
                </a:rPr>
                <a:t>{Fecha Límite}</a:t>
              </a:r>
              <a:endParaRPr sz="220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cxnSp>
        <p:nvCxnSpPr>
          <p:cNvPr id="213" name="Google Shape;213;p19"/>
          <p:cNvCxnSpPr>
            <a:stCxn id="209" idx="1"/>
            <a:endCxn id="214" idx="6"/>
          </p:cNvCxnSpPr>
          <p:nvPr/>
        </p:nvCxnSpPr>
        <p:spPr>
          <a:xfrm flipH="1">
            <a:off x="3182925" y="1722475"/>
            <a:ext cx="783900" cy="2718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/>
          <p:cNvCxnSpPr>
            <a:stCxn id="216" idx="1"/>
            <a:endCxn id="217" idx="6"/>
          </p:cNvCxnSpPr>
          <p:nvPr/>
        </p:nvCxnSpPr>
        <p:spPr>
          <a:xfrm flipH="1">
            <a:off x="3182875" y="2345375"/>
            <a:ext cx="783900" cy="1362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19"/>
          <p:cNvCxnSpPr>
            <a:stCxn id="219" idx="1"/>
            <a:endCxn id="220" idx="6"/>
          </p:cNvCxnSpPr>
          <p:nvPr/>
        </p:nvCxnSpPr>
        <p:spPr>
          <a:xfrm flipH="1">
            <a:off x="3182875" y="2968300"/>
            <a:ext cx="783900" cy="9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19"/>
          <p:cNvCxnSpPr>
            <a:stCxn id="212" idx="1"/>
            <a:endCxn id="222" idx="6"/>
          </p:cNvCxnSpPr>
          <p:nvPr/>
        </p:nvCxnSpPr>
        <p:spPr>
          <a:xfrm rot="10800000">
            <a:off x="3182875" y="3456500"/>
            <a:ext cx="783900" cy="1347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Google Shape;214;p19"/>
          <p:cNvSpPr/>
          <p:nvPr/>
        </p:nvSpPr>
        <p:spPr>
          <a:xfrm>
            <a:off x="2835500" y="1820585"/>
            <a:ext cx="347400" cy="347400"/>
          </a:xfrm>
          <a:prstGeom prst="ellipse">
            <a:avLst/>
          </a:prstGeom>
          <a:solidFill>
            <a:schemeClr val="lt2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2835500" y="2307998"/>
            <a:ext cx="347400" cy="3474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2835500" y="2795411"/>
            <a:ext cx="347400" cy="3474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2835500" y="3282824"/>
            <a:ext cx="347400" cy="347400"/>
          </a:xfrm>
          <a:prstGeom prst="ellipse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223" name="Google Shape;223;p19"/>
          <p:cNvGrpSpPr/>
          <p:nvPr/>
        </p:nvGrpSpPr>
        <p:grpSpPr>
          <a:xfrm>
            <a:off x="720000" y="1437774"/>
            <a:ext cx="2235085" cy="2597989"/>
            <a:chOff x="720000" y="1437774"/>
            <a:chExt cx="2235085" cy="2597989"/>
          </a:xfrm>
        </p:grpSpPr>
        <p:sp>
          <p:nvSpPr>
            <p:cNvPr id="224" name="Google Shape;224;p19"/>
            <p:cNvSpPr/>
            <p:nvPr/>
          </p:nvSpPr>
          <p:spPr>
            <a:xfrm>
              <a:off x="720000" y="3317983"/>
              <a:ext cx="2235085" cy="717779"/>
            </a:xfrm>
            <a:custGeom>
              <a:avLst/>
              <a:gdLst/>
              <a:ahLst/>
              <a:cxnLst/>
              <a:rect l="l" t="t" r="r" b="b"/>
              <a:pathLst>
                <a:path w="218430" h="70147" fill="none" extrusionOk="0">
                  <a:moveTo>
                    <a:pt x="29746" y="1"/>
                  </a:moveTo>
                  <a:lnTo>
                    <a:pt x="0" y="14430"/>
                  </a:lnTo>
                  <a:lnTo>
                    <a:pt x="109215" y="70147"/>
                  </a:lnTo>
                  <a:lnTo>
                    <a:pt x="218429" y="14430"/>
                  </a:lnTo>
                  <a:lnTo>
                    <a:pt x="188684" y="1"/>
                  </a:lnTo>
                  <a:lnTo>
                    <a:pt x="109215" y="40623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bg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720000" y="2822990"/>
              <a:ext cx="2235085" cy="717779"/>
            </a:xfrm>
            <a:custGeom>
              <a:avLst/>
              <a:gdLst/>
              <a:ahLst/>
              <a:cxnLst/>
              <a:rect l="l" t="t" r="r" b="b"/>
              <a:pathLst>
                <a:path w="218430" h="70147" fill="none" extrusionOk="0">
                  <a:moveTo>
                    <a:pt x="188684" y="0"/>
                  </a:moveTo>
                  <a:lnTo>
                    <a:pt x="158939" y="15095"/>
                  </a:lnTo>
                  <a:lnTo>
                    <a:pt x="109215" y="40623"/>
                  </a:lnTo>
                  <a:lnTo>
                    <a:pt x="59491" y="15095"/>
                  </a:lnTo>
                  <a:lnTo>
                    <a:pt x="29746" y="0"/>
                  </a:lnTo>
                  <a:lnTo>
                    <a:pt x="0" y="14429"/>
                  </a:lnTo>
                  <a:lnTo>
                    <a:pt x="29746" y="29524"/>
                  </a:lnTo>
                  <a:lnTo>
                    <a:pt x="109215" y="70146"/>
                  </a:lnTo>
                  <a:lnTo>
                    <a:pt x="188684" y="29524"/>
                  </a:lnTo>
                  <a:lnTo>
                    <a:pt x="218429" y="14429"/>
                  </a:lnTo>
                  <a:close/>
                </a:path>
              </a:pathLst>
            </a:custGeom>
            <a:noFill/>
            <a:ln w="9525" cap="flat" cmpd="sng">
              <a:solidFill>
                <a:schemeClr val="bg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720000" y="2327997"/>
              <a:ext cx="2235085" cy="717779"/>
            </a:xfrm>
            <a:custGeom>
              <a:avLst/>
              <a:gdLst/>
              <a:ahLst/>
              <a:cxnLst/>
              <a:rect l="l" t="t" r="r" b="b"/>
              <a:pathLst>
                <a:path w="218430" h="70147" fill="none" extrusionOk="0">
                  <a:moveTo>
                    <a:pt x="188684" y="1"/>
                  </a:moveTo>
                  <a:lnTo>
                    <a:pt x="158939" y="15096"/>
                  </a:lnTo>
                  <a:lnTo>
                    <a:pt x="129193" y="30190"/>
                  </a:lnTo>
                  <a:lnTo>
                    <a:pt x="109215" y="40623"/>
                  </a:lnTo>
                  <a:lnTo>
                    <a:pt x="89237" y="30190"/>
                  </a:lnTo>
                  <a:lnTo>
                    <a:pt x="59491" y="15096"/>
                  </a:lnTo>
                  <a:lnTo>
                    <a:pt x="29746" y="1"/>
                  </a:lnTo>
                  <a:lnTo>
                    <a:pt x="0" y="14208"/>
                  </a:lnTo>
                  <a:lnTo>
                    <a:pt x="29746" y="29524"/>
                  </a:lnTo>
                  <a:lnTo>
                    <a:pt x="59491" y="44619"/>
                  </a:lnTo>
                  <a:lnTo>
                    <a:pt x="109215" y="70147"/>
                  </a:lnTo>
                  <a:lnTo>
                    <a:pt x="158939" y="44619"/>
                  </a:lnTo>
                  <a:lnTo>
                    <a:pt x="188684" y="29524"/>
                  </a:lnTo>
                  <a:lnTo>
                    <a:pt x="218429" y="14208"/>
                  </a:lnTo>
                  <a:close/>
                </a:path>
              </a:pathLst>
            </a:custGeom>
            <a:noFill/>
            <a:ln w="9525" cap="flat" cmpd="sng">
              <a:solidFill>
                <a:schemeClr val="bg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720000" y="1437774"/>
              <a:ext cx="2235085" cy="1113009"/>
            </a:xfrm>
            <a:custGeom>
              <a:avLst/>
              <a:gdLst/>
              <a:ahLst/>
              <a:cxnLst/>
              <a:rect l="l" t="t" r="r" b="b"/>
              <a:pathLst>
                <a:path w="218430" h="108772" fill="none" extrusionOk="0">
                  <a:moveTo>
                    <a:pt x="109215" y="1"/>
                  </a:moveTo>
                  <a:lnTo>
                    <a:pt x="0" y="52832"/>
                  </a:lnTo>
                  <a:lnTo>
                    <a:pt x="109215" y="108771"/>
                  </a:lnTo>
                  <a:lnTo>
                    <a:pt x="218429" y="52832"/>
                  </a:lnTo>
                  <a:close/>
                </a:path>
              </a:pathLst>
            </a:custGeom>
            <a:noFill/>
            <a:ln w="9525" cap="flat" cmpd="sng">
              <a:solidFill>
                <a:schemeClr val="bg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3966775" y="2116775"/>
            <a:ext cx="4407008" cy="457225"/>
            <a:chOff x="3966775" y="2319644"/>
            <a:chExt cx="4407008" cy="457225"/>
          </a:xfrm>
        </p:grpSpPr>
        <p:sp>
          <p:nvSpPr>
            <p:cNvPr id="216" name="Google Shape;216;p19"/>
            <p:cNvSpPr txBox="1"/>
            <p:nvPr/>
          </p:nvSpPr>
          <p:spPr>
            <a:xfrm>
              <a:off x="3966775" y="2319644"/>
              <a:ext cx="1672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bg1"/>
                  </a:solidFill>
                  <a:latin typeface="Quantico"/>
                  <a:ea typeface="Quantico"/>
                  <a:cs typeface="Quantico"/>
                  <a:sym typeface="Quantico"/>
                </a:rPr>
                <a:t>{Lenguaje}</a:t>
              </a:r>
              <a:endParaRPr sz="220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5639583" y="2319669"/>
              <a:ext cx="2734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 smtClean="0">
                  <a:solidFill>
                    <a:schemeClr val="bg1"/>
                  </a:solidFill>
                  <a:latin typeface="Quantico"/>
                  <a:ea typeface="Quantico"/>
                  <a:cs typeface="Quantico"/>
                  <a:sym typeface="Quantico"/>
                </a:rPr>
                <a:t>Python</a:t>
              </a:r>
              <a:endParaRPr sz="22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230" name="Google Shape;230;p19"/>
          <p:cNvGrpSpPr/>
          <p:nvPr/>
        </p:nvGrpSpPr>
        <p:grpSpPr>
          <a:xfrm>
            <a:off x="3966775" y="2739700"/>
            <a:ext cx="4407120" cy="457200"/>
            <a:chOff x="3966775" y="2973713"/>
            <a:chExt cx="4407120" cy="457200"/>
          </a:xfrm>
        </p:grpSpPr>
        <p:sp>
          <p:nvSpPr>
            <p:cNvPr id="219" name="Google Shape;219;p19"/>
            <p:cNvSpPr txBox="1"/>
            <p:nvPr/>
          </p:nvSpPr>
          <p:spPr>
            <a:xfrm>
              <a:off x="3966775" y="2973713"/>
              <a:ext cx="2062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bg1"/>
                  </a:solidFill>
                  <a:latin typeface="Quantico"/>
                  <a:ea typeface="Quantico"/>
                  <a:cs typeface="Quantico"/>
                  <a:sym typeface="Quantico"/>
                </a:rPr>
                <a:t>{Integrantes}</a:t>
              </a:r>
              <a:endParaRPr sz="220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7410595" y="2973713"/>
              <a:ext cx="963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>
                  <a:solidFill>
                    <a:schemeClr val="bg1"/>
                  </a:solidFill>
                  <a:latin typeface="Quantico"/>
                  <a:ea typeface="Quantico"/>
                  <a:cs typeface="Quantico"/>
                  <a:sym typeface="Quantico"/>
                </a:rPr>
                <a:t>3 ó 4</a:t>
              </a:r>
              <a:endParaRPr sz="2200" dirty="0">
                <a:solidFill>
                  <a:schemeClr val="bg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232" name="Google Shape;232;p19"/>
          <p:cNvSpPr txBox="1">
            <a:spLocks noGrp="1"/>
          </p:cNvSpPr>
          <p:nvPr>
            <p:ph type="title"/>
          </p:nvPr>
        </p:nvSpPr>
        <p:spPr>
          <a:xfrm>
            <a:off x="720000" y="4125064"/>
            <a:ext cx="7704000" cy="930300"/>
          </a:xfrm>
          <a:prstGeom prst="rect">
            <a:avLst/>
          </a:prstGeom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" sz="1800" dirty="0" smtClean="0">
                <a:solidFill>
                  <a:schemeClr val="bg1"/>
                </a:solidFill>
              </a:rPr>
              <a:t>- Todos </a:t>
            </a:r>
            <a:r>
              <a:rPr lang="en" sz="1800" dirty="0">
                <a:solidFill>
                  <a:schemeClr val="bg1"/>
                </a:solidFill>
              </a:rPr>
              <a:t>los incisos deben funcionar para </a:t>
            </a:r>
            <a:r>
              <a:rPr lang="en" sz="1800" dirty="0" smtClean="0">
                <a:solidFill>
                  <a:schemeClr val="bg1"/>
                </a:solidFill>
              </a:rPr>
              <a:t>aprobar</a:t>
            </a:r>
            <a:br>
              <a:rPr lang="en" sz="1800" dirty="0" smtClean="0">
                <a:solidFill>
                  <a:schemeClr val="bg1"/>
                </a:solidFill>
              </a:rPr>
            </a:br>
            <a:r>
              <a:rPr lang="en" sz="1800" dirty="0" smtClean="0">
                <a:solidFill>
                  <a:schemeClr val="bg1"/>
                </a:solidFill>
              </a:rPr>
              <a:t>- </a:t>
            </a:r>
            <a:r>
              <a:rPr lang="en" sz="1800" dirty="0" smtClean="0">
                <a:solidFill>
                  <a:schemeClr val="bg1"/>
                </a:solidFill>
              </a:rPr>
              <a:t>Al momento de la asignacion de trabajos se acordaran pautas necesarias para el correcto cumplimiento</a:t>
            </a:r>
            <a:endParaRPr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6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>
            <a:spLocks noGrp="1"/>
          </p:cNvSpPr>
          <p:nvPr>
            <p:ph type="title"/>
          </p:nvPr>
        </p:nvSpPr>
        <p:spPr>
          <a:xfrm>
            <a:off x="1064100" y="1768950"/>
            <a:ext cx="7015800" cy="160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/>
              <a:t>TAD Simple: Especificación y Aplicación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Introducción…</a:t>
            </a:r>
            <a:endParaRPr/>
          </a:p>
        </p:txBody>
      </p:sp>
      <p:sp>
        <p:nvSpPr>
          <p:cNvPr id="279" name="Google Shape;279;p23"/>
          <p:cNvSpPr txBox="1">
            <a:spLocks noGrp="1"/>
          </p:cNvSpPr>
          <p:nvPr>
            <p:ph type="body" idx="1"/>
          </p:nvPr>
        </p:nvSpPr>
        <p:spPr>
          <a:xfrm>
            <a:off x="992250" y="1028525"/>
            <a:ext cx="76494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Entero, float, caracter, son representaciones de datos simples (números y letras), estos tipos de datos son conocidos como </a:t>
            </a:r>
            <a:r>
              <a:rPr lang="es-419" sz="1700" b="1" i="1">
                <a:solidFill>
                  <a:schemeClr val="accent2"/>
                </a:solidFill>
              </a:rPr>
              <a:t>tipos de datos primitivos</a:t>
            </a:r>
            <a:r>
              <a:rPr lang="es-419" sz="1700"/>
              <a:t>. Pero cuando queremos representar elementos más complejos del problema, necesitamos de una combinación de estos datos.</a:t>
            </a:r>
            <a:endParaRPr sz="170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700"/>
              <a:t>Por ejemplo: un estudiante tiene un promedio, que podemos representar con una variable de tipo float, nombre/s y apellido/s representables por medio de variables tipo caracter o un legajo que podríamos reflejar con una variable de tipo entero</a:t>
            </a:r>
            <a:r>
              <a:rPr lang="es-419" sz="1700" b="1"/>
              <a:t>.</a:t>
            </a: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Abstractos de Datos (Definición)</a:t>
            </a:r>
            <a:endParaRPr/>
          </a:p>
        </p:txBody>
      </p:sp>
      <p:sp>
        <p:nvSpPr>
          <p:cNvPr id="285" name="Google Shape;285;p24"/>
          <p:cNvSpPr txBox="1">
            <a:spLocks noGrp="1"/>
          </p:cNvSpPr>
          <p:nvPr>
            <p:ph type="body" idx="1"/>
          </p:nvPr>
        </p:nvSpPr>
        <p:spPr>
          <a:xfrm>
            <a:off x="992250" y="1028525"/>
            <a:ext cx="7649400" cy="16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Es entonces cuando surgen los </a:t>
            </a:r>
            <a:r>
              <a:rPr lang="es-419" sz="1700" b="1" i="1">
                <a:solidFill>
                  <a:schemeClr val="accent2"/>
                </a:solidFill>
              </a:rPr>
              <a:t>Tipos Abstractos de Datos (en adelante TAD)</a:t>
            </a:r>
            <a:r>
              <a:rPr lang="es-419" sz="1700"/>
              <a:t>. </a:t>
            </a:r>
            <a:endParaRPr sz="170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700"/>
              <a:t>Este tipo de datos es definido por el usuario. Cuenta con un conjunto de datos utilizados al definir la </a:t>
            </a:r>
            <a:r>
              <a:rPr lang="es-419" sz="1700" b="1" i="1">
                <a:solidFill>
                  <a:schemeClr val="accent2"/>
                </a:solidFill>
              </a:rPr>
              <a:t>estructura interna</a:t>
            </a:r>
            <a:r>
              <a:rPr lang="es-419" sz="1700" b="1" i="1"/>
              <a:t> </a:t>
            </a:r>
            <a:r>
              <a:rPr lang="es-419" sz="1700"/>
              <a:t>y responde a determinado </a:t>
            </a:r>
            <a:r>
              <a:rPr lang="es-419" sz="1700" b="1" i="1">
                <a:solidFill>
                  <a:schemeClr val="accent2"/>
                </a:solidFill>
              </a:rPr>
              <a:t>comportamiento</a:t>
            </a:r>
            <a:r>
              <a:rPr lang="es-419" sz="1700"/>
              <a:t>.</a:t>
            </a:r>
            <a:endParaRPr sz="1700"/>
          </a:p>
        </p:txBody>
      </p:sp>
      <p:pic>
        <p:nvPicPr>
          <p:cNvPr id="286" name="Google Shape;2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250" y="2743475"/>
            <a:ext cx="2145175" cy="214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24"/>
          <p:cNvCxnSpPr/>
          <p:nvPr/>
        </p:nvCxnSpPr>
        <p:spPr>
          <a:xfrm rot="10800000" flipH="1">
            <a:off x="2558850" y="3205213"/>
            <a:ext cx="742200" cy="613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4"/>
          <p:cNvCxnSpPr/>
          <p:nvPr/>
        </p:nvCxnSpPr>
        <p:spPr>
          <a:xfrm>
            <a:off x="2558850" y="3818713"/>
            <a:ext cx="742200" cy="625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9" name="Google Shape;289;p24"/>
          <p:cNvCxnSpPr/>
          <p:nvPr/>
        </p:nvCxnSpPr>
        <p:spPr>
          <a:xfrm>
            <a:off x="2564700" y="3818713"/>
            <a:ext cx="742200" cy="6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0" name="Google Shape;290;p24"/>
          <p:cNvSpPr txBox="1"/>
          <p:nvPr/>
        </p:nvSpPr>
        <p:spPr>
          <a:xfrm>
            <a:off x="3336050" y="3006463"/>
            <a:ext cx="336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Nombre: Alexis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3336050" y="3623613"/>
            <a:ext cx="336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Legajo: 32967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3336050" y="4240763"/>
            <a:ext cx="336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Promedio: 8,67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4970400" y="3023325"/>
            <a:ext cx="39990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¿Cuánto mide Alexis?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¿Qué edad tiene?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¿Cuál es su color de pelo? ¿Y de ojos?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¿Cuántos hermanos tiene?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Abstractos de Datos (Características)</a:t>
            </a:r>
            <a:endParaRPr/>
          </a:p>
        </p:txBody>
      </p:sp>
      <p:sp>
        <p:nvSpPr>
          <p:cNvPr id="299" name="Google Shape;299;p25"/>
          <p:cNvSpPr txBox="1">
            <a:spLocks noGrp="1"/>
          </p:cNvSpPr>
          <p:nvPr>
            <p:ph type="body" idx="1"/>
          </p:nvPr>
        </p:nvSpPr>
        <p:spPr>
          <a:xfrm>
            <a:off x="992250" y="1028525"/>
            <a:ext cx="4608300" cy="16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700"/>
              <a:t>Por más que todas las personas cuentan con estos datos, lo que nosotros conocemos no es suficiente para responder estas preguntas. </a:t>
            </a:r>
            <a:r>
              <a:rPr lang="es-419" sz="1700">
                <a:solidFill>
                  <a:srgbClr val="FFFFFF"/>
                </a:solidFill>
              </a:rPr>
              <a:t>Tenemos una versión simplificada de la entidad. </a:t>
            </a:r>
            <a:r>
              <a:rPr lang="es-419" sz="1700"/>
              <a:t/>
            </a:r>
            <a:br>
              <a:rPr lang="es-419" sz="1700"/>
            </a:br>
            <a:r>
              <a:rPr lang="es-419" sz="1700"/>
              <a:t>Esto es lo que se conoce como principio de </a:t>
            </a:r>
            <a:r>
              <a:rPr lang="es-419" sz="1700" b="1" i="1">
                <a:solidFill>
                  <a:schemeClr val="accent2"/>
                </a:solidFill>
              </a:rPr>
              <a:t>abstracción</a:t>
            </a:r>
            <a:r>
              <a:rPr lang="es-419" sz="1700"/>
              <a:t>. </a:t>
            </a:r>
            <a:endParaRPr sz="1700"/>
          </a:p>
        </p:txBody>
      </p:sp>
      <p:pic>
        <p:nvPicPr>
          <p:cNvPr id="300" name="Google Shape;3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8675" y="1153875"/>
            <a:ext cx="1154800" cy="1019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25"/>
          <p:cNvCxnSpPr/>
          <p:nvPr/>
        </p:nvCxnSpPr>
        <p:spPr>
          <a:xfrm rot="10800000" flipH="1">
            <a:off x="6599157" y="1373289"/>
            <a:ext cx="429000" cy="291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02" name="Google Shape;302;p25"/>
          <p:cNvCxnSpPr/>
          <p:nvPr/>
        </p:nvCxnSpPr>
        <p:spPr>
          <a:xfrm>
            <a:off x="6599157" y="1664889"/>
            <a:ext cx="429000" cy="2970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03" name="Google Shape;303;p25"/>
          <p:cNvCxnSpPr/>
          <p:nvPr/>
        </p:nvCxnSpPr>
        <p:spPr>
          <a:xfrm>
            <a:off x="6602538" y="1664889"/>
            <a:ext cx="429000" cy="2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4" name="Google Shape;304;p25"/>
          <p:cNvSpPr txBox="1"/>
          <p:nvPr/>
        </p:nvSpPr>
        <p:spPr>
          <a:xfrm>
            <a:off x="7026885" y="1177863"/>
            <a:ext cx="19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Nombre: Alexis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7026885" y="1471167"/>
            <a:ext cx="19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Legajo: 32967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7026885" y="1764470"/>
            <a:ext cx="19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Promedio: 8,67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25"/>
          <p:cNvSpPr txBox="1">
            <a:spLocks noGrp="1"/>
          </p:cNvSpPr>
          <p:nvPr>
            <p:ph type="body" idx="1"/>
          </p:nvPr>
        </p:nvSpPr>
        <p:spPr>
          <a:xfrm>
            <a:off x="1015950" y="2981950"/>
            <a:ext cx="7112100" cy="16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700"/>
              <a:t>Este nuevo tipo de datos trae consigo un nuevo enfoque para la resolución de problemas. </a:t>
            </a:r>
            <a:endParaRPr sz="1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6"/>
          <p:cNvSpPr txBox="1">
            <a:spLocks noGrp="1"/>
          </p:cNvSpPr>
          <p:nvPr>
            <p:ph type="title"/>
          </p:nvPr>
        </p:nvSpPr>
        <p:spPr>
          <a:xfrm>
            <a:off x="1285800" y="170000"/>
            <a:ext cx="5609700" cy="5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Nuevo enfoque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13" name="Google Shape;313;p26"/>
          <p:cNvSpPr txBox="1">
            <a:spLocks noGrp="1"/>
          </p:cNvSpPr>
          <p:nvPr>
            <p:ph type="body" idx="1"/>
          </p:nvPr>
        </p:nvSpPr>
        <p:spPr>
          <a:xfrm>
            <a:off x="2140613" y="980850"/>
            <a:ext cx="5609700" cy="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Definición del problema: analizar qué debemos resolver</a:t>
            </a:r>
            <a:endParaRPr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314" name="Google Shape;314;p26"/>
          <p:cNvGrpSpPr/>
          <p:nvPr/>
        </p:nvGrpSpPr>
        <p:grpSpPr>
          <a:xfrm>
            <a:off x="1393700" y="841337"/>
            <a:ext cx="656128" cy="656128"/>
            <a:chOff x="1359550" y="3154500"/>
            <a:chExt cx="1018200" cy="1018200"/>
          </a:xfrm>
        </p:grpSpPr>
        <p:sp>
          <p:nvSpPr>
            <p:cNvPr id="315" name="Google Shape;315;p26"/>
            <p:cNvSpPr/>
            <p:nvPr/>
          </p:nvSpPr>
          <p:spPr>
            <a:xfrm>
              <a:off x="1359550" y="3154500"/>
              <a:ext cx="1018200" cy="1018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1409800" y="3204750"/>
              <a:ext cx="917700" cy="9177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1540600" y="3335550"/>
              <a:ext cx="656100" cy="656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700" b="1">
                  <a:solidFill>
                    <a:schemeClr val="accent2"/>
                  </a:solidFill>
                </a:rPr>
                <a:t>1</a:t>
              </a:r>
              <a:endParaRPr sz="1700" b="1">
                <a:solidFill>
                  <a:schemeClr val="accent2"/>
                </a:solidFill>
              </a:endParaRPr>
            </a:p>
          </p:txBody>
        </p:sp>
      </p:grpSp>
      <p:sp>
        <p:nvSpPr>
          <p:cNvPr id="318" name="Google Shape;318;p26"/>
          <p:cNvSpPr txBox="1">
            <a:spLocks noGrp="1"/>
          </p:cNvSpPr>
          <p:nvPr>
            <p:ph type="body" idx="1"/>
          </p:nvPr>
        </p:nvSpPr>
        <p:spPr>
          <a:xfrm>
            <a:off x="1393688" y="1689850"/>
            <a:ext cx="5609700" cy="7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Identificación de elementos: en esta etapa analizamos los datos pertinentes de las entidades que intervienen en el problema, así como las operaciones a las que deben responder.</a:t>
            </a:r>
            <a:endParaRPr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319" name="Google Shape;319;p26"/>
          <p:cNvGrpSpPr/>
          <p:nvPr/>
        </p:nvGrpSpPr>
        <p:grpSpPr>
          <a:xfrm>
            <a:off x="7003400" y="1730787"/>
            <a:ext cx="656128" cy="656128"/>
            <a:chOff x="1359550" y="3154500"/>
            <a:chExt cx="1018200" cy="1018200"/>
          </a:xfrm>
        </p:grpSpPr>
        <p:sp>
          <p:nvSpPr>
            <p:cNvPr id="320" name="Google Shape;320;p26"/>
            <p:cNvSpPr/>
            <p:nvPr/>
          </p:nvSpPr>
          <p:spPr>
            <a:xfrm>
              <a:off x="1359550" y="3154500"/>
              <a:ext cx="1018200" cy="1018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1409800" y="3204750"/>
              <a:ext cx="917700" cy="9177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1540600" y="3335550"/>
              <a:ext cx="656100" cy="656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700" b="1">
                  <a:solidFill>
                    <a:schemeClr val="accent2"/>
                  </a:solidFill>
                </a:rPr>
                <a:t>2</a:t>
              </a:r>
              <a:endParaRPr sz="1700" b="1">
                <a:solidFill>
                  <a:schemeClr val="accent2"/>
                </a:solidFill>
              </a:endParaRPr>
            </a:p>
          </p:txBody>
        </p:sp>
      </p:grpSp>
      <p:sp>
        <p:nvSpPr>
          <p:cNvPr id="323" name="Google Shape;323;p26"/>
          <p:cNvSpPr txBox="1">
            <a:spLocks noGrp="1"/>
          </p:cNvSpPr>
          <p:nvPr>
            <p:ph type="body" idx="1"/>
          </p:nvPr>
        </p:nvSpPr>
        <p:spPr>
          <a:xfrm>
            <a:off x="2140600" y="2655925"/>
            <a:ext cx="5609700" cy="7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Desarrollo del TAD: una vez identificados los elementos comenzamos a desarrollar la </a:t>
            </a:r>
            <a:r>
              <a:rPr lang="es-419" b="1" i="1">
                <a:solidFill>
                  <a:schemeClr val="accent2"/>
                </a:solidFill>
              </a:rPr>
              <a:t>estructura interna</a:t>
            </a:r>
            <a:r>
              <a:rPr lang="es-419"/>
              <a:t> del TAD, su </a:t>
            </a:r>
            <a:r>
              <a:rPr lang="es-419" b="1" i="1">
                <a:solidFill>
                  <a:schemeClr val="accent2"/>
                </a:solidFill>
              </a:rPr>
              <a:t>especificación </a:t>
            </a:r>
            <a:r>
              <a:rPr lang="es-419"/>
              <a:t>e </a:t>
            </a:r>
            <a:r>
              <a:rPr lang="es-419" b="1" i="1">
                <a:solidFill>
                  <a:schemeClr val="accent2"/>
                </a:solidFill>
              </a:rPr>
              <a:t>implementación </a:t>
            </a:r>
            <a:r>
              <a:rPr lang="es-419"/>
              <a:t>(ésta última propiedad la vemos la clase que viene).</a:t>
            </a:r>
            <a:endParaRPr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324" name="Google Shape;324;p26"/>
          <p:cNvGrpSpPr/>
          <p:nvPr/>
        </p:nvGrpSpPr>
        <p:grpSpPr>
          <a:xfrm>
            <a:off x="1393687" y="2749412"/>
            <a:ext cx="656128" cy="656128"/>
            <a:chOff x="1359550" y="3154500"/>
            <a:chExt cx="1018200" cy="1018200"/>
          </a:xfrm>
        </p:grpSpPr>
        <p:sp>
          <p:nvSpPr>
            <p:cNvPr id="325" name="Google Shape;325;p26"/>
            <p:cNvSpPr/>
            <p:nvPr/>
          </p:nvSpPr>
          <p:spPr>
            <a:xfrm>
              <a:off x="1359550" y="3154500"/>
              <a:ext cx="1018200" cy="1018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1409800" y="3204750"/>
              <a:ext cx="917700" cy="9177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1540600" y="3335550"/>
              <a:ext cx="656100" cy="656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700" b="1">
                  <a:solidFill>
                    <a:schemeClr val="accent2"/>
                  </a:solidFill>
                </a:rPr>
                <a:t>3</a:t>
              </a:r>
              <a:endParaRPr sz="1700" b="1">
                <a:solidFill>
                  <a:schemeClr val="accent2"/>
                </a:solidFill>
              </a:endParaRPr>
            </a:p>
          </p:txBody>
        </p:sp>
      </p:grpSp>
      <p:sp>
        <p:nvSpPr>
          <p:cNvPr id="328" name="Google Shape;328;p26"/>
          <p:cNvSpPr txBox="1">
            <a:spLocks noGrp="1"/>
          </p:cNvSpPr>
          <p:nvPr>
            <p:ph type="body" idx="1"/>
          </p:nvPr>
        </p:nvSpPr>
        <p:spPr>
          <a:xfrm>
            <a:off x="1393700" y="3698625"/>
            <a:ext cx="5609700" cy="7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Finalmente pasamos al desarrollo de la aplicación utilizando los TAD creados (</a:t>
            </a:r>
            <a:r>
              <a:rPr lang="es-419" i="1"/>
              <a:t>Si ya tuviéramos los TAD </a:t>
            </a:r>
            <a:r>
              <a:rPr lang="es-419"/>
              <a:t>podríamos saltear el paso 3 e ir directo al desarrollo de la aplicación).</a:t>
            </a:r>
            <a:endParaRPr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329" name="Google Shape;329;p26"/>
          <p:cNvGrpSpPr/>
          <p:nvPr/>
        </p:nvGrpSpPr>
        <p:grpSpPr>
          <a:xfrm>
            <a:off x="7003412" y="3739562"/>
            <a:ext cx="656128" cy="656128"/>
            <a:chOff x="1359550" y="3154500"/>
            <a:chExt cx="1018200" cy="1018200"/>
          </a:xfrm>
        </p:grpSpPr>
        <p:sp>
          <p:nvSpPr>
            <p:cNvPr id="330" name="Google Shape;330;p26"/>
            <p:cNvSpPr/>
            <p:nvPr/>
          </p:nvSpPr>
          <p:spPr>
            <a:xfrm>
              <a:off x="1359550" y="3154500"/>
              <a:ext cx="1018200" cy="1018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1409800" y="3204750"/>
              <a:ext cx="917700" cy="9177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540600" y="3335550"/>
              <a:ext cx="656100" cy="656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700" b="1">
                  <a:solidFill>
                    <a:schemeClr val="accent2"/>
                  </a:solidFill>
                </a:rPr>
                <a:t>4</a:t>
              </a:r>
              <a:endParaRPr sz="1700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accent2"/>
                </a:solidFill>
              </a:rPr>
              <a:t>Estructura Interna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38" name="Google Shape;338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16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#TADEstudiante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000"/>
              <a:t>#est=[Nombre, Apellido, Legajo, Promedio]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2000"/>
              <a:t>#est=[“”, “”, 0, 0]</a:t>
            </a:r>
            <a:endParaRPr sz="2000"/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1"/>
          </p:nvPr>
        </p:nvSpPr>
        <p:spPr>
          <a:xfrm>
            <a:off x="1297500" y="3264775"/>
            <a:ext cx="7038900" cy="16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2000" i="1">
                <a:solidFill>
                  <a:schemeClr val="accent2"/>
                </a:solidFill>
              </a:rPr>
              <a:t>La estructura interna representa cómo está almacenada la información, en este caso una lista. Es muy importante que lo que se pone en cada espacio sea del tipo de dato a utilizar</a:t>
            </a:r>
            <a:endParaRPr sz="2000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accent2"/>
                </a:solidFill>
              </a:rPr>
              <a:t>Especificación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45" name="Google Shape;345;p28"/>
          <p:cNvSpPr txBox="1">
            <a:spLocks noGrp="1"/>
          </p:cNvSpPr>
          <p:nvPr>
            <p:ph type="body" idx="1"/>
          </p:nvPr>
        </p:nvSpPr>
        <p:spPr>
          <a:xfrm>
            <a:off x="1297500" y="1231375"/>
            <a:ext cx="7207522" cy="34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/>
              <a:t># </a:t>
            </a:r>
            <a:r>
              <a:rPr lang="es-419" sz="2000" dirty="0" err="1"/>
              <a:t>TADEstudiante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000" dirty="0"/>
              <a:t>#</a:t>
            </a:r>
            <a:r>
              <a:rPr lang="es-419" sz="2000" dirty="0" err="1"/>
              <a:t>def</a:t>
            </a:r>
            <a:r>
              <a:rPr lang="es-419" sz="2000" dirty="0"/>
              <a:t> </a:t>
            </a:r>
            <a:r>
              <a:rPr lang="es-419" sz="2000" dirty="0" err="1"/>
              <a:t>crearEstudiante</a:t>
            </a:r>
            <a:r>
              <a:rPr lang="es-419" sz="2000" dirty="0"/>
              <a:t>():</a:t>
            </a:r>
            <a:br>
              <a:rPr lang="es-419" sz="2000" dirty="0"/>
            </a:br>
            <a:r>
              <a:rPr lang="es-419" sz="2000" dirty="0"/>
              <a:t>#crea un estudiante vacío.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2000" dirty="0"/>
              <a:t>#</a:t>
            </a:r>
            <a:r>
              <a:rPr lang="es-419" sz="2000" dirty="0" err="1"/>
              <a:t>def</a:t>
            </a:r>
            <a:r>
              <a:rPr lang="es-419" sz="2000" dirty="0"/>
              <a:t> </a:t>
            </a:r>
            <a:r>
              <a:rPr lang="es-419" sz="2000" dirty="0" err="1" smtClean="0"/>
              <a:t>cargarEstudiante</a:t>
            </a:r>
            <a:r>
              <a:rPr lang="es-419" sz="2000" dirty="0" smtClean="0"/>
              <a:t>(estudiante, </a:t>
            </a:r>
            <a:r>
              <a:rPr lang="es-419" sz="2000" dirty="0" err="1"/>
              <a:t>nom</a:t>
            </a:r>
            <a:r>
              <a:rPr lang="es-419" sz="2000" dirty="0"/>
              <a:t>, </a:t>
            </a:r>
            <a:r>
              <a:rPr lang="es-419" sz="2000" dirty="0" err="1"/>
              <a:t>ape</a:t>
            </a:r>
            <a:r>
              <a:rPr lang="es-419" sz="2000" dirty="0"/>
              <a:t>, </a:t>
            </a:r>
            <a:r>
              <a:rPr lang="es-419" sz="2000" dirty="0" err="1"/>
              <a:t>leg</a:t>
            </a:r>
            <a:r>
              <a:rPr lang="es-419" sz="2000" dirty="0"/>
              <a:t>, </a:t>
            </a:r>
            <a:r>
              <a:rPr lang="es-419" sz="2000" dirty="0" err="1"/>
              <a:t>prom</a:t>
            </a:r>
            <a:r>
              <a:rPr lang="es-419" sz="2000" dirty="0"/>
              <a:t>):</a:t>
            </a:r>
            <a:br>
              <a:rPr lang="es-419" sz="2000" dirty="0"/>
            </a:br>
            <a:r>
              <a:rPr lang="es-419" sz="2000" dirty="0"/>
              <a:t>#Inicia el estudiante con sus datos.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2000" dirty="0"/>
              <a:t>#</a:t>
            </a:r>
            <a:r>
              <a:rPr lang="es-419" sz="2000" dirty="0" err="1"/>
              <a:t>def</a:t>
            </a:r>
            <a:r>
              <a:rPr lang="es-419" sz="2000" dirty="0"/>
              <a:t> </a:t>
            </a:r>
            <a:r>
              <a:rPr lang="es-419" sz="2000" dirty="0" err="1" smtClean="0"/>
              <a:t>asignarEstudiante</a:t>
            </a:r>
            <a:r>
              <a:rPr lang="es-419" sz="2000" dirty="0" smtClean="0"/>
              <a:t>(estudiante1</a:t>
            </a:r>
            <a:r>
              <a:rPr lang="es-419" sz="2000" dirty="0"/>
              <a:t>, </a:t>
            </a:r>
            <a:r>
              <a:rPr lang="es-419" sz="2000" dirty="0" smtClean="0"/>
              <a:t>estudiante2</a:t>
            </a:r>
            <a:r>
              <a:rPr lang="es-419" sz="2000" dirty="0"/>
              <a:t>):</a:t>
            </a:r>
            <a:br>
              <a:rPr lang="es-419" sz="2000" dirty="0"/>
            </a:br>
            <a:r>
              <a:rPr lang="es-419" sz="2000" dirty="0"/>
              <a:t>#Asigna los datos </a:t>
            </a:r>
            <a:r>
              <a:rPr lang="es-419" sz="2000" dirty="0" smtClean="0"/>
              <a:t>del estudiante1 al estudiante2 </a:t>
            </a:r>
            <a:r>
              <a:rPr lang="es-419" sz="2000" dirty="0"/>
              <a:t>(copia el </a:t>
            </a:r>
            <a:r>
              <a:rPr lang="es-419" sz="2000" dirty="0" smtClean="0"/>
              <a:t>estudiante).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accent2"/>
                </a:solidFill>
              </a:rPr>
              <a:t>Especificación → Ver y Modificar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351" name="Google Shape;351;p29"/>
          <p:cNvSpPr txBox="1">
            <a:spLocks noGrp="1"/>
          </p:cNvSpPr>
          <p:nvPr>
            <p:ph type="body" idx="1"/>
          </p:nvPr>
        </p:nvSpPr>
        <p:spPr>
          <a:xfrm>
            <a:off x="299475" y="1695600"/>
            <a:ext cx="4216500" cy="34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/>
              <a:t>#</a:t>
            </a:r>
            <a:r>
              <a:rPr lang="es-419" sz="1800" dirty="0" err="1"/>
              <a:t>verNombre</a:t>
            </a:r>
            <a:r>
              <a:rPr lang="es-419" sz="1800" dirty="0"/>
              <a:t>(estudiante)</a:t>
            </a:r>
            <a:br>
              <a:rPr lang="es-419" sz="1800" dirty="0"/>
            </a:br>
            <a:r>
              <a:rPr lang="es-419" sz="1800" dirty="0"/>
              <a:t>#Retorna el nombre del estudiante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800" dirty="0"/>
              <a:t>#</a:t>
            </a:r>
            <a:r>
              <a:rPr lang="es-419" sz="1800" dirty="0" err="1"/>
              <a:t>verApellido</a:t>
            </a:r>
            <a:r>
              <a:rPr lang="es-419" sz="1800" dirty="0"/>
              <a:t>(estudiante)</a:t>
            </a:r>
            <a:br>
              <a:rPr lang="es-419" sz="1800" dirty="0"/>
            </a:br>
            <a:r>
              <a:rPr lang="es-419" sz="1800" dirty="0"/>
              <a:t>#Retorna el apellido del estudiante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800" dirty="0"/>
              <a:t>#</a:t>
            </a:r>
            <a:r>
              <a:rPr lang="es-419" sz="1800" dirty="0" err="1"/>
              <a:t>verLegajo</a:t>
            </a:r>
            <a:r>
              <a:rPr lang="es-419" sz="1800" dirty="0"/>
              <a:t>(estudiante)</a:t>
            </a:r>
            <a:br>
              <a:rPr lang="es-419" sz="1800" dirty="0"/>
            </a:br>
            <a:r>
              <a:rPr lang="es-419" sz="1800" dirty="0"/>
              <a:t>#Retorna el legajo del estudiante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800" dirty="0"/>
              <a:t>#</a:t>
            </a:r>
            <a:r>
              <a:rPr lang="es-419" sz="1800" dirty="0" err="1"/>
              <a:t>verPromedio</a:t>
            </a:r>
            <a:r>
              <a:rPr lang="es-419" sz="1800" dirty="0"/>
              <a:t>(estudiante)</a:t>
            </a:r>
            <a:br>
              <a:rPr lang="es-419" sz="1800" dirty="0"/>
            </a:br>
            <a:r>
              <a:rPr lang="es-419" sz="1800" dirty="0"/>
              <a:t>#Retorna el promedio del estudiante</a:t>
            </a:r>
            <a:endParaRPr sz="1800" dirty="0"/>
          </a:p>
        </p:txBody>
      </p:sp>
      <p:sp>
        <p:nvSpPr>
          <p:cNvPr id="352" name="Google Shape;352;p29"/>
          <p:cNvSpPr txBox="1">
            <a:spLocks noGrp="1"/>
          </p:cNvSpPr>
          <p:nvPr>
            <p:ph type="body" idx="1"/>
          </p:nvPr>
        </p:nvSpPr>
        <p:spPr>
          <a:xfrm>
            <a:off x="4449500" y="1695600"/>
            <a:ext cx="4646400" cy="34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/>
              <a:t>#</a:t>
            </a:r>
            <a:r>
              <a:rPr lang="es-419" sz="1800" dirty="0" err="1"/>
              <a:t>modNombre</a:t>
            </a:r>
            <a:r>
              <a:rPr lang="es-419" sz="1800" dirty="0"/>
              <a:t>(estudiante, </a:t>
            </a:r>
            <a:r>
              <a:rPr lang="es-419" sz="1800" dirty="0" err="1"/>
              <a:t>nuevoNom</a:t>
            </a:r>
            <a:r>
              <a:rPr lang="es-419" sz="1800" dirty="0"/>
              <a:t>)</a:t>
            </a:r>
            <a:br>
              <a:rPr lang="es-419" sz="1800" dirty="0"/>
            </a:br>
            <a:r>
              <a:rPr lang="es-419" sz="1800" dirty="0"/>
              <a:t>#Modifica el nombre del estudiante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800" dirty="0"/>
              <a:t>#</a:t>
            </a:r>
            <a:r>
              <a:rPr lang="es-419" sz="1800" dirty="0" err="1"/>
              <a:t>modApellido</a:t>
            </a:r>
            <a:r>
              <a:rPr lang="es-419" sz="1800" dirty="0"/>
              <a:t>(estudiante, </a:t>
            </a:r>
            <a:r>
              <a:rPr lang="es-419" sz="1800" dirty="0" err="1"/>
              <a:t>nuevoApe</a:t>
            </a:r>
            <a:r>
              <a:rPr lang="es-419" sz="1800" dirty="0"/>
              <a:t>)</a:t>
            </a:r>
            <a:br>
              <a:rPr lang="es-419" sz="1800" dirty="0"/>
            </a:br>
            <a:r>
              <a:rPr lang="es-419" sz="1800" dirty="0"/>
              <a:t>#Modifica el apellido del estudiante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800" dirty="0"/>
              <a:t>#</a:t>
            </a:r>
            <a:r>
              <a:rPr lang="es-419" sz="1800" dirty="0" err="1"/>
              <a:t>modLegajo</a:t>
            </a:r>
            <a:r>
              <a:rPr lang="es-419" sz="1800" dirty="0"/>
              <a:t>(estudiante, </a:t>
            </a:r>
            <a:r>
              <a:rPr lang="es-419" sz="1800" dirty="0" err="1"/>
              <a:t>nuevoLeg</a:t>
            </a:r>
            <a:r>
              <a:rPr lang="es-419" sz="1800" dirty="0"/>
              <a:t>)</a:t>
            </a:r>
            <a:br>
              <a:rPr lang="es-419" sz="1800" dirty="0"/>
            </a:br>
            <a:r>
              <a:rPr lang="es-419" sz="1800" dirty="0"/>
              <a:t>#Modifica el legajo del estudiante</a:t>
            </a: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800" dirty="0"/>
              <a:t>#</a:t>
            </a:r>
            <a:r>
              <a:rPr lang="es-419" sz="1800" dirty="0" err="1"/>
              <a:t>modPromedio</a:t>
            </a:r>
            <a:r>
              <a:rPr lang="es-419" sz="1800" dirty="0"/>
              <a:t>(estudiante, </a:t>
            </a:r>
            <a:r>
              <a:rPr lang="es-419" sz="1800" dirty="0" err="1"/>
              <a:t>nuevoProm</a:t>
            </a:r>
            <a:r>
              <a:rPr lang="es-419" sz="1800" dirty="0"/>
              <a:t>)</a:t>
            </a:r>
            <a:br>
              <a:rPr lang="es-419" sz="1800" dirty="0"/>
            </a:br>
            <a:r>
              <a:rPr lang="es-419" sz="1800" dirty="0"/>
              <a:t>#Modifica el promedio del estudiante</a:t>
            </a:r>
            <a:endParaRPr sz="1800" dirty="0"/>
          </a:p>
        </p:txBody>
      </p:sp>
      <p:sp>
        <p:nvSpPr>
          <p:cNvPr id="353" name="Google Shape;353;p29"/>
          <p:cNvSpPr txBox="1">
            <a:spLocks noGrp="1"/>
          </p:cNvSpPr>
          <p:nvPr>
            <p:ph type="title"/>
          </p:nvPr>
        </p:nvSpPr>
        <p:spPr>
          <a:xfrm>
            <a:off x="1015700" y="693300"/>
            <a:ext cx="76200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i="1">
                <a:solidFill>
                  <a:schemeClr val="accent2"/>
                </a:solidFill>
              </a:rPr>
              <a:t>Al desarrollar TAD, se deben generar métodos que permitan ver y modificar cada atributo del mismo por separado.</a:t>
            </a:r>
            <a:endParaRPr sz="20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>
            <a:spLocks noGrp="1"/>
          </p:cNvSpPr>
          <p:nvPr>
            <p:ph type="body" idx="1"/>
          </p:nvPr>
        </p:nvSpPr>
        <p:spPr>
          <a:xfrm>
            <a:off x="1015950" y="1307850"/>
            <a:ext cx="7112100" cy="23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Si prestamos atención, en la especificación del TAD no podemos ver cómo funciona cada método definido. Esto se debe a que hay otro principio al que responden los TAD, el de </a:t>
            </a:r>
            <a:r>
              <a:rPr lang="es-419" sz="1700" b="1" i="1" dirty="0" smtClean="0">
                <a:solidFill>
                  <a:schemeClr val="accent2"/>
                </a:solidFill>
              </a:rPr>
              <a:t>ocultamiento</a:t>
            </a:r>
            <a:r>
              <a:rPr lang="es-419" sz="1700" dirty="0" smtClean="0"/>
              <a:t>. </a:t>
            </a:r>
            <a:endParaRPr sz="1700" dirty="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700" dirty="0"/>
              <a:t>Si bien conocemos los datos de Alexis, no tenemos idea cómo están almacenados internamente, y tampoco conocemos cómo se implementan sus métodos, sólo conocemos para qué sirven.</a:t>
            </a:r>
            <a:endParaRPr sz="1700" dirty="0"/>
          </a:p>
        </p:txBody>
      </p:sp>
      <p:sp>
        <p:nvSpPr>
          <p:cNvPr id="359" name="Google Shape;359;p3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Abstractos de Datos (Características)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 txBox="1">
            <a:spLocks noGrp="1"/>
          </p:cNvSpPr>
          <p:nvPr>
            <p:ph type="title"/>
          </p:nvPr>
        </p:nvSpPr>
        <p:spPr>
          <a:xfrm>
            <a:off x="1297500" y="2336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Métodos de un TAD Simple</a:t>
            </a:r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body" idx="1"/>
          </p:nvPr>
        </p:nvSpPr>
        <p:spPr>
          <a:xfrm>
            <a:off x="1297500" y="740350"/>
            <a:ext cx="7038900" cy="34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Los </a:t>
            </a:r>
            <a:r>
              <a:rPr lang="es-419" sz="2000">
                <a:solidFill>
                  <a:schemeClr val="accent2"/>
                </a:solidFill>
              </a:rPr>
              <a:t>TAD Simple </a:t>
            </a:r>
            <a:r>
              <a:rPr lang="es-419" sz="2000"/>
              <a:t>representan una entidad específica con su estructura interna y responden a determinados métodos. A lo largo de la materia, trabajaremos siempre con los mismos métodos:</a:t>
            </a:r>
            <a:endParaRPr sz="2000"/>
          </a:p>
          <a:p>
            <a:pPr marL="457200" lvl="0" indent="-355600" algn="just" rtl="0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crear()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cargar()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ver()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modificar()</a:t>
            </a:r>
            <a:endParaRPr sz="200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asignar()/copiar() </a:t>
            </a:r>
            <a:r>
              <a:rPr lang="es-419" sz="2000" i="1"/>
              <a:t>*son el mismo método*</a:t>
            </a:r>
            <a:endParaRPr sz="2000" i="1"/>
          </a:p>
        </p:txBody>
      </p:sp>
      <p:sp>
        <p:nvSpPr>
          <p:cNvPr id="366" name="Google Shape;366;p31"/>
          <p:cNvSpPr txBox="1">
            <a:spLocks noGrp="1"/>
          </p:cNvSpPr>
          <p:nvPr>
            <p:ph type="title"/>
          </p:nvPr>
        </p:nvSpPr>
        <p:spPr>
          <a:xfrm>
            <a:off x="1297500" y="4404175"/>
            <a:ext cx="7038900" cy="5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Entonces… ¿Puedo crear métodos para todo?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542868DC-A95C-AE8C-087C-924FED54A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>
            <a:extLst>
              <a:ext uri="{FF2B5EF4-FFF2-40B4-BE49-F238E27FC236}">
                <a16:creationId xmlns:a16="http://schemas.microsoft.com/office/drawing/2014/main" id="{7CF6C2EA-924A-7B3D-4AFF-D6881B693C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151901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Introducción a Python</a:t>
            </a:r>
            <a:endParaRPr dirty="0"/>
          </a:p>
        </p:txBody>
      </p:sp>
      <p:sp>
        <p:nvSpPr>
          <p:cNvPr id="365" name="Google Shape;365;p31">
            <a:extLst>
              <a:ext uri="{FF2B5EF4-FFF2-40B4-BE49-F238E27FC236}">
                <a16:creationId xmlns:a16="http://schemas.microsoft.com/office/drawing/2014/main" id="{F3D45099-8570-DCB6-CA72-8001B89B2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621404"/>
            <a:ext cx="7038900" cy="2337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es-ES" sz="1400" b="1" dirty="0">
                <a:solidFill>
                  <a:srgbClr val="FFFF00"/>
                </a:solidFill>
              </a:rPr>
              <a:t>Bases</a:t>
            </a:r>
            <a:r>
              <a:rPr lang="es-ES" sz="1400" b="1" dirty="0"/>
              <a:t> </a:t>
            </a:r>
            <a:r>
              <a:rPr lang="es-ES" sz="1400" b="1" dirty="0">
                <a:solidFill>
                  <a:srgbClr val="FFFF00"/>
                </a:solidFill>
              </a:rPr>
              <a:t>y Sintaxis</a:t>
            </a:r>
          </a:p>
          <a:p>
            <a:pPr marL="146050" indent="0">
              <a:buNone/>
            </a:pPr>
            <a:r>
              <a:rPr lang="es-ES" sz="1400" b="1" dirty="0"/>
              <a:t>1. Variables y Tipos de Datos</a:t>
            </a:r>
          </a:p>
          <a:p>
            <a:r>
              <a:rPr lang="es-ES" sz="1400" dirty="0"/>
              <a:t>Las </a:t>
            </a:r>
            <a:r>
              <a:rPr lang="es-ES" sz="1400" b="1" dirty="0"/>
              <a:t>variables</a:t>
            </a:r>
            <a:r>
              <a:rPr lang="es-ES" sz="1400" dirty="0"/>
              <a:t> son contenedores que guardan información en la memoria.</a:t>
            </a:r>
          </a:p>
          <a:p>
            <a:r>
              <a:rPr lang="es-ES" sz="1400" dirty="0"/>
              <a:t>No necesitamos decirle a Python qué tipo de dato es (</a:t>
            </a:r>
            <a:r>
              <a:rPr lang="es-ES" sz="1400" dirty="0" err="1"/>
              <a:t>String</a:t>
            </a:r>
            <a:r>
              <a:rPr lang="es-ES" sz="1400" dirty="0"/>
              <a:t>, Entero, etc.), él lo deduce solo.</a:t>
            </a:r>
          </a:p>
          <a:p>
            <a:pPr marL="146050" indent="0">
              <a:buNone/>
            </a:pPr>
            <a:r>
              <a:rPr lang="es-ES" sz="1400" b="1" dirty="0"/>
              <a:t>Ejemplos comunes:</a:t>
            </a:r>
          </a:p>
          <a:p>
            <a:pPr marL="146050" indent="0">
              <a:buNone/>
            </a:pPr>
            <a:r>
              <a:rPr lang="es-ES" sz="1400" dirty="0"/>
              <a:t>nombre = "Python" (Texto o </a:t>
            </a:r>
            <a:r>
              <a:rPr lang="es-ES" sz="1400" i="1" dirty="0" err="1"/>
              <a:t>String</a:t>
            </a:r>
            <a:r>
              <a:rPr lang="es-ES" sz="1400" dirty="0"/>
              <a:t>)</a:t>
            </a:r>
          </a:p>
          <a:p>
            <a:pPr marL="146050" indent="0">
              <a:buNone/>
            </a:pPr>
            <a:r>
              <a:rPr lang="es-ES" sz="1400" dirty="0" err="1"/>
              <a:t>version</a:t>
            </a:r>
            <a:r>
              <a:rPr lang="es-ES" sz="1400" dirty="0"/>
              <a:t> = 3 (Número entero o </a:t>
            </a:r>
            <a:r>
              <a:rPr lang="es-ES" sz="1400" i="1" dirty="0" err="1"/>
              <a:t>Integer</a:t>
            </a:r>
            <a:r>
              <a:rPr lang="es-ES" sz="1400" dirty="0"/>
              <a:t>)</a:t>
            </a:r>
          </a:p>
          <a:p>
            <a:pPr marL="146050" indent="0">
              <a:buNone/>
            </a:pPr>
            <a:endParaRPr lang="es-ES" sz="1400" dirty="0"/>
          </a:p>
          <a:p>
            <a:pPr marL="146050" indent="0">
              <a:buNone/>
            </a:pPr>
            <a:r>
              <a:rPr lang="es-ES" sz="1400" b="1" dirty="0"/>
              <a:t>2. Salida por Pantalla (</a:t>
            </a:r>
            <a:r>
              <a:rPr lang="es-ES" sz="1400" b="1" dirty="0" err="1"/>
              <a:t>print</a:t>
            </a:r>
            <a:r>
              <a:rPr lang="es-ES" sz="1400" b="1" dirty="0"/>
              <a:t>)</a:t>
            </a:r>
          </a:p>
          <a:p>
            <a:pPr marL="146050" indent="0">
              <a:buNone/>
            </a:pPr>
            <a:r>
              <a:rPr lang="es-ES" sz="1400" dirty="0"/>
              <a:t>Existen dos formas principales de mostrar mensajes y variables:</a:t>
            </a:r>
          </a:p>
          <a:p>
            <a:r>
              <a:rPr lang="es-ES" sz="1400" b="1" dirty="0"/>
              <a:t>Forma Clásica:</a:t>
            </a:r>
            <a:r>
              <a:rPr lang="es-ES" sz="1400" dirty="0"/>
              <a:t> Separando elementos con comas. Python agrega un espacio automáticamente.</a:t>
            </a:r>
          </a:p>
          <a:p>
            <a:pPr marL="146050" indent="0">
              <a:buNone/>
            </a:pPr>
            <a:r>
              <a:rPr lang="es-ES" sz="1400" dirty="0" err="1"/>
              <a:t>print</a:t>
            </a:r>
            <a:r>
              <a:rPr lang="es-ES" sz="1400" dirty="0"/>
              <a:t>("Hola", nombre)</a:t>
            </a:r>
          </a:p>
          <a:p>
            <a:r>
              <a:rPr lang="es-ES" sz="1400" b="1" dirty="0"/>
              <a:t>Forma Moderna (f-</a:t>
            </a:r>
            <a:r>
              <a:rPr lang="es-ES" sz="1400" b="1" dirty="0" err="1"/>
              <a:t>strings</a:t>
            </a:r>
            <a:r>
              <a:rPr lang="es-ES" sz="1400" b="1" dirty="0"/>
              <a:t>):</a:t>
            </a:r>
            <a:r>
              <a:rPr lang="es-ES" sz="1400" dirty="0"/>
              <a:t> Usando una f antes de las comillas y {variables} entre llaves. </a:t>
            </a:r>
          </a:p>
          <a:p>
            <a:r>
              <a:rPr lang="es-ES" sz="1400" dirty="0" err="1"/>
              <a:t>print</a:t>
            </a:r>
            <a:r>
              <a:rPr lang="es-ES" sz="1400" dirty="0"/>
              <a:t>(</a:t>
            </a:r>
            <a:r>
              <a:rPr lang="es-ES" sz="1400" dirty="0" err="1"/>
              <a:t>f"Hola</a:t>
            </a:r>
            <a:r>
              <a:rPr lang="es-ES" sz="1400" dirty="0"/>
              <a:t> {nombre2}, bienvenido al curso.")</a:t>
            </a:r>
          </a:p>
          <a:p>
            <a:pPr marL="615950" lvl="1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198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542868DC-A95C-AE8C-087C-924FED54A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>
            <a:extLst>
              <a:ext uri="{FF2B5EF4-FFF2-40B4-BE49-F238E27FC236}">
                <a16:creationId xmlns:a16="http://schemas.microsoft.com/office/drawing/2014/main" id="{7CF6C2EA-924A-7B3D-4AFF-D6881B693C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151901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Introducción a Python</a:t>
            </a:r>
            <a:endParaRPr dirty="0"/>
          </a:p>
        </p:txBody>
      </p:sp>
      <p:sp>
        <p:nvSpPr>
          <p:cNvPr id="365" name="Google Shape;365;p31">
            <a:extLst>
              <a:ext uri="{FF2B5EF4-FFF2-40B4-BE49-F238E27FC236}">
                <a16:creationId xmlns:a16="http://schemas.microsoft.com/office/drawing/2014/main" id="{F3D45099-8570-DCB6-CA72-8001B89B2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621404"/>
            <a:ext cx="7038900" cy="2337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es-ES" sz="1400" b="1" dirty="0">
                <a:solidFill>
                  <a:srgbClr val="FFFF00"/>
                </a:solidFill>
              </a:rPr>
              <a:t>Bases</a:t>
            </a:r>
            <a:r>
              <a:rPr lang="es-ES" sz="1400" b="1" dirty="0"/>
              <a:t> </a:t>
            </a:r>
            <a:r>
              <a:rPr lang="es-ES" sz="1400" b="1" dirty="0">
                <a:solidFill>
                  <a:srgbClr val="FFFF00"/>
                </a:solidFill>
              </a:rPr>
              <a:t>y Sintaxis</a:t>
            </a:r>
          </a:p>
          <a:p>
            <a:pPr marL="146050" indent="0">
              <a:buNone/>
            </a:pPr>
            <a:endParaRPr lang="es-ES" sz="1400" b="1" dirty="0" smtClean="0"/>
          </a:p>
          <a:p>
            <a:pPr marL="146050" indent="0">
              <a:buNone/>
            </a:pPr>
            <a:r>
              <a:rPr lang="es-ES" sz="1400" b="1" dirty="0" smtClean="0"/>
              <a:t>3. Ingreso por teclado (input)</a:t>
            </a:r>
            <a:endParaRPr lang="es-ES" sz="1400" b="1" dirty="0"/>
          </a:p>
          <a:p>
            <a:r>
              <a:rPr lang="es-ES" sz="1400" dirty="0" smtClean="0"/>
              <a:t>Nombre2=input(“Ingrese el nombre: ”)</a:t>
            </a:r>
          </a:p>
          <a:p>
            <a:r>
              <a:rPr lang="es-ES" sz="1400" dirty="0" smtClean="0"/>
              <a:t>print(</a:t>
            </a:r>
            <a:r>
              <a:rPr lang="es-ES" sz="1400" dirty="0" err="1" smtClean="0"/>
              <a:t>f"Hola</a:t>
            </a:r>
            <a:r>
              <a:rPr lang="es-ES" sz="1400" dirty="0" smtClean="0"/>
              <a:t> </a:t>
            </a:r>
            <a:r>
              <a:rPr lang="es-ES" sz="1400" dirty="0"/>
              <a:t>{nombre2}, bienvenido al curso</a:t>
            </a:r>
            <a:r>
              <a:rPr lang="es-ES" sz="1400" dirty="0" smtClean="0"/>
              <a:t>.")</a:t>
            </a:r>
          </a:p>
          <a:p>
            <a:endParaRPr lang="es-ES" sz="1400" dirty="0"/>
          </a:p>
          <a:p>
            <a:pPr marL="146050" indent="0">
              <a:buNone/>
            </a:pPr>
            <a:endParaRPr lang="es-ES" sz="1400" dirty="0" smtClean="0"/>
          </a:p>
          <a:p>
            <a:pPr marL="146050" indent="0">
              <a:buNone/>
            </a:pPr>
            <a:r>
              <a:rPr lang="es-ES" sz="1400" b="1" dirty="0" smtClean="0"/>
              <a:t>4. </a:t>
            </a:r>
            <a:r>
              <a:rPr lang="es-ES" sz="1400" b="1" dirty="0" err="1"/>
              <a:t>Tipado</a:t>
            </a:r>
            <a:r>
              <a:rPr lang="es-ES" sz="1400" b="1" dirty="0"/>
              <a:t> Dinámico </a:t>
            </a:r>
          </a:p>
          <a:p>
            <a:endParaRPr lang="es-ES" sz="1400" b="1" dirty="0"/>
          </a:p>
          <a:p>
            <a:pPr marL="146050" indent="0">
              <a:buNone/>
            </a:pPr>
            <a:r>
              <a:rPr lang="es-ES" sz="1400" dirty="0"/>
              <a:t>En Python, una variable </a:t>
            </a:r>
            <a:r>
              <a:rPr lang="es-ES" sz="1400" b="1" dirty="0"/>
              <a:t>no está atada</a:t>
            </a:r>
            <a:r>
              <a:rPr lang="es-ES" sz="1400" dirty="0"/>
              <a:t> a un tipo de dato para siempre.</a:t>
            </a:r>
          </a:p>
          <a:p>
            <a:pPr marL="146050" indent="0">
              <a:buNone/>
            </a:pPr>
            <a:r>
              <a:rPr lang="es-ES" sz="1400" dirty="0"/>
              <a:t>Se permite reutilizar el mismo nombre de variable para guardar primero un número y luego un texto sin que el programa de error.</a:t>
            </a:r>
          </a:p>
          <a:p>
            <a:pPr marL="146050" indent="0">
              <a:buNone/>
            </a:pPr>
            <a:r>
              <a:rPr lang="es-ES" sz="1400" b="1" dirty="0"/>
              <a:t>Concepto:</a:t>
            </a:r>
            <a:r>
              <a:rPr lang="es-ES" sz="1400" dirty="0"/>
              <a:t> La variable es una "etiqueta" que podemos mover de un valor a otro totalmente distinto.</a:t>
            </a:r>
          </a:p>
          <a:p>
            <a:pPr marL="146050" indent="0">
              <a:buNone/>
            </a:pPr>
            <a:endParaRPr lang="es-ES" sz="1400" dirty="0" smtClean="0"/>
          </a:p>
          <a:p>
            <a:pPr marL="615950" lvl="1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780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B562024E-CA16-6088-DCB5-CAC00AEDC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>
            <a:extLst>
              <a:ext uri="{FF2B5EF4-FFF2-40B4-BE49-F238E27FC236}">
                <a16:creationId xmlns:a16="http://schemas.microsoft.com/office/drawing/2014/main" id="{DB635B4D-3B84-491D-31C4-3164F125AD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151901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Introducción a Python</a:t>
            </a:r>
            <a:endParaRPr dirty="0"/>
          </a:p>
        </p:txBody>
      </p:sp>
      <p:sp>
        <p:nvSpPr>
          <p:cNvPr id="365" name="Google Shape;365;p31">
            <a:extLst>
              <a:ext uri="{FF2B5EF4-FFF2-40B4-BE49-F238E27FC236}">
                <a16:creationId xmlns:a16="http://schemas.microsoft.com/office/drawing/2014/main" id="{117C45E5-2576-3B13-3DDA-5322C2630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517326"/>
            <a:ext cx="7038900" cy="2337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endParaRPr lang="es-ES" sz="1400" b="1" dirty="0">
              <a:solidFill>
                <a:srgbClr val="FFFF00"/>
              </a:solidFill>
            </a:endParaRPr>
          </a:p>
          <a:p>
            <a:pPr marL="146050" indent="0">
              <a:buNone/>
            </a:pPr>
            <a:r>
              <a:rPr lang="es-AR" sz="1600" b="1" dirty="0">
                <a:solidFill>
                  <a:srgbClr val="FFFF00"/>
                </a:solidFill>
              </a:rPr>
              <a:t>Sentencia </a:t>
            </a:r>
            <a:r>
              <a:rPr lang="es-AR" sz="1600" b="1" dirty="0" err="1">
                <a:solidFill>
                  <a:srgbClr val="FFFF00"/>
                </a:solidFill>
              </a:rPr>
              <a:t>import</a:t>
            </a:r>
            <a:endParaRPr lang="es-AR" sz="1600" b="1" dirty="0">
              <a:solidFill>
                <a:srgbClr val="FFFF00"/>
              </a:solidFill>
            </a:endParaRPr>
          </a:p>
          <a:p>
            <a:pPr marL="146050" indent="0">
              <a:buNone/>
            </a:pPr>
            <a:endParaRPr lang="es-AR" sz="1600" b="1" dirty="0">
              <a:solidFill>
                <a:srgbClr val="FFFF00"/>
              </a:solidFill>
            </a:endParaRPr>
          </a:p>
          <a:p>
            <a:r>
              <a:rPr lang="es-AR" sz="1400" b="1" dirty="0" err="1"/>
              <a:t>import</a:t>
            </a:r>
            <a:r>
              <a:rPr lang="es-AR" sz="1400" dirty="0"/>
              <a:t> </a:t>
            </a:r>
            <a:r>
              <a:rPr lang="es-AR" sz="1400" dirty="0" err="1"/>
              <a:t>nombre_modulo</a:t>
            </a:r>
            <a:endParaRPr lang="es-AR" sz="1400" dirty="0"/>
          </a:p>
          <a:p>
            <a:r>
              <a:rPr lang="es-AR" sz="1400" b="1" dirty="0" err="1" smtClean="0"/>
              <a:t>from</a:t>
            </a:r>
            <a:r>
              <a:rPr lang="es-AR" sz="1400" dirty="0" smtClean="0"/>
              <a:t> </a:t>
            </a:r>
            <a:r>
              <a:rPr lang="es-AR" sz="1400" dirty="0" err="1"/>
              <a:t>nombre_modulo</a:t>
            </a:r>
            <a:r>
              <a:rPr lang="es-AR" sz="1400" dirty="0"/>
              <a:t> </a:t>
            </a:r>
            <a:r>
              <a:rPr lang="es-AR" sz="1400" b="1" dirty="0" err="1"/>
              <a:t>import</a:t>
            </a:r>
            <a:r>
              <a:rPr lang="es-AR" sz="1400" dirty="0"/>
              <a:t> nombre función/es</a:t>
            </a:r>
          </a:p>
          <a:p>
            <a:r>
              <a:rPr lang="es-AR" sz="1400" b="1" dirty="0" err="1" smtClean="0"/>
              <a:t>from</a:t>
            </a:r>
            <a:r>
              <a:rPr lang="es-AR" sz="1400" dirty="0" smtClean="0"/>
              <a:t> </a:t>
            </a:r>
            <a:r>
              <a:rPr lang="es-AR" sz="1400" dirty="0" err="1"/>
              <a:t>nombre_modulo</a:t>
            </a:r>
            <a:r>
              <a:rPr lang="es-AR" sz="1400" dirty="0"/>
              <a:t> </a:t>
            </a:r>
            <a:r>
              <a:rPr lang="es-AR" sz="1400" b="1" dirty="0" err="1"/>
              <a:t>import</a:t>
            </a:r>
            <a:r>
              <a:rPr lang="es-AR" sz="1400" dirty="0"/>
              <a:t> *</a:t>
            </a:r>
            <a:endParaRPr lang="es-ES" sz="1600" dirty="0"/>
          </a:p>
          <a:p>
            <a:pPr marL="146050" indent="0">
              <a:buNone/>
            </a:pPr>
            <a:endParaRPr lang="es-ES" sz="1400" b="1" dirty="0">
              <a:solidFill>
                <a:srgbClr val="FFFF00"/>
              </a:solidFill>
            </a:endParaRPr>
          </a:p>
          <a:p>
            <a:pPr marL="146050" indent="0">
              <a:buNone/>
            </a:pPr>
            <a:r>
              <a:rPr lang="es-ES" sz="1400" b="1" dirty="0" smtClean="0">
                <a:solidFill>
                  <a:srgbClr val="FFFF00"/>
                </a:solidFill>
              </a:rPr>
              <a:t>Listas </a:t>
            </a:r>
            <a:r>
              <a:rPr lang="es-ES" sz="1400" b="1" dirty="0">
                <a:solidFill>
                  <a:srgbClr val="FFFF00"/>
                </a:solidFill>
              </a:rPr>
              <a:t>(Colecciones de Datos)</a:t>
            </a:r>
          </a:p>
          <a:p>
            <a:pPr marL="146050" indent="0">
              <a:buNone/>
            </a:pPr>
            <a:endParaRPr lang="es-ES" sz="1400" b="1" dirty="0">
              <a:solidFill>
                <a:srgbClr val="FFFF00"/>
              </a:solidFill>
            </a:endParaRPr>
          </a:p>
          <a:p>
            <a:r>
              <a:rPr lang="es-ES" sz="1400" b="1" dirty="0"/>
              <a:t>Concepto:</a:t>
            </a:r>
            <a:r>
              <a:rPr lang="es-ES" sz="1400" dirty="0"/>
              <a:t> Las listas permiten guardar muchos elementos en una sola variable, manteniendo un orden.</a:t>
            </a:r>
          </a:p>
          <a:p>
            <a:r>
              <a:rPr lang="es-ES" sz="1400" b="1" dirty="0"/>
              <a:t>Índices:</a:t>
            </a:r>
            <a:r>
              <a:rPr lang="es-ES" sz="1400" dirty="0"/>
              <a:t> Python empieza a contar desde </a:t>
            </a:r>
            <a:r>
              <a:rPr lang="es-ES" sz="1400" b="1" dirty="0"/>
              <a:t>0</a:t>
            </a:r>
            <a:r>
              <a:rPr lang="es-ES" sz="1400" dirty="0"/>
              <a:t>. El primer elemento es el </a:t>
            </a:r>
            <a:r>
              <a:rPr lang="es-ES" dirty="0"/>
              <a:t>[0]</a:t>
            </a:r>
            <a:r>
              <a:rPr lang="es-ES" sz="1400" dirty="0"/>
              <a:t>.</a:t>
            </a:r>
          </a:p>
          <a:p>
            <a:r>
              <a:rPr lang="es-ES" sz="1400" b="1" dirty="0"/>
              <a:t>Dinámicas:</a:t>
            </a:r>
            <a:r>
              <a:rPr lang="es-ES" sz="1400" dirty="0"/>
              <a:t> Podemos agregar, sacar o modificar elementos en cualquier momento</a:t>
            </a:r>
          </a:p>
          <a:p>
            <a:pPr marL="146050" indent="0">
              <a:buNone/>
            </a:pPr>
            <a:r>
              <a:rPr lang="es-ES" sz="1400" dirty="0"/>
              <a:t>Métodos: </a:t>
            </a:r>
            <a:r>
              <a:rPr lang="es-ES" sz="1400" dirty="0" err="1" smtClean="0"/>
              <a:t>lista.append</a:t>
            </a:r>
            <a:r>
              <a:rPr lang="es-ES" sz="1400" dirty="0" smtClean="0"/>
              <a:t>(elemento), </a:t>
            </a:r>
            <a:r>
              <a:rPr lang="es-ES" sz="1400" dirty="0" err="1" smtClean="0"/>
              <a:t>lista.remove</a:t>
            </a:r>
            <a:r>
              <a:rPr lang="es-ES" sz="1400" dirty="0" smtClean="0"/>
              <a:t>(elemento), </a:t>
            </a:r>
            <a:r>
              <a:rPr lang="es-ES" sz="1400" dirty="0" err="1" smtClean="0"/>
              <a:t>lista.pop</a:t>
            </a:r>
            <a:r>
              <a:rPr lang="es-ES" sz="1400" dirty="0" smtClean="0"/>
              <a:t>(índice opcional) </a:t>
            </a:r>
            <a:r>
              <a:rPr lang="es-ES" sz="1400" dirty="0"/>
              <a:t>y </a:t>
            </a:r>
            <a:r>
              <a:rPr lang="es-ES" sz="1400" dirty="0" err="1" smtClean="0"/>
              <a:t>len</a:t>
            </a:r>
            <a:r>
              <a:rPr lang="es-ES" sz="1400" dirty="0" smtClean="0"/>
              <a:t>(lista).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73333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CB404BB0-4DCD-91B5-4898-A609AB458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>
            <a:extLst>
              <a:ext uri="{FF2B5EF4-FFF2-40B4-BE49-F238E27FC236}">
                <a16:creationId xmlns:a16="http://schemas.microsoft.com/office/drawing/2014/main" id="{4442CA35-D261-C9B9-0B41-64CF70FA32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151901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Introducción a Python</a:t>
            </a:r>
            <a:endParaRPr dirty="0"/>
          </a:p>
        </p:txBody>
      </p:sp>
      <p:sp>
        <p:nvSpPr>
          <p:cNvPr id="365" name="Google Shape;365;p31">
            <a:extLst>
              <a:ext uri="{FF2B5EF4-FFF2-40B4-BE49-F238E27FC236}">
                <a16:creationId xmlns:a16="http://schemas.microsoft.com/office/drawing/2014/main" id="{2B362810-9887-CC5D-CDB6-AA0DFCDC3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621404"/>
            <a:ext cx="7038900" cy="2337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endParaRPr lang="es-ES" sz="1400" b="1" dirty="0">
              <a:solidFill>
                <a:srgbClr val="FFFF00"/>
              </a:solidFill>
            </a:endParaRPr>
          </a:p>
          <a:p>
            <a:pPr marL="146050" indent="0">
              <a:buNone/>
            </a:pPr>
            <a:r>
              <a:rPr lang="es-ES" sz="1600" b="1" dirty="0">
                <a:solidFill>
                  <a:srgbClr val="FFFF00"/>
                </a:solidFill>
              </a:rPr>
              <a:t>Estructuras de Decisión </a:t>
            </a:r>
          </a:p>
          <a:p>
            <a:r>
              <a:rPr lang="es-ES" sz="1400" b="1" dirty="0"/>
              <a:t>Lógica:</a:t>
            </a:r>
            <a:r>
              <a:rPr lang="es-ES" sz="1400" dirty="0"/>
              <a:t> Permite que el programa tome diferentes caminos según una condición.</a:t>
            </a:r>
          </a:p>
          <a:p>
            <a:r>
              <a:rPr lang="es-ES" sz="1400" b="1" dirty="0"/>
              <a:t>La </a:t>
            </a:r>
            <a:r>
              <a:rPr lang="es-ES" sz="1400" b="1" dirty="0" err="1"/>
              <a:t>Indentación</a:t>
            </a:r>
            <a:r>
              <a:rPr lang="es-ES" sz="1400" b="1" dirty="0"/>
              <a:t> (Sangría):</a:t>
            </a:r>
            <a:r>
              <a:rPr lang="es-ES" sz="1400" dirty="0"/>
              <a:t> En Python, los espacios al principio de la línea no son estéticos, son </a:t>
            </a:r>
            <a:r>
              <a:rPr lang="es-ES" sz="1400" b="1" dirty="0"/>
              <a:t>obligatorios</a:t>
            </a:r>
            <a:r>
              <a:rPr lang="es-ES" sz="1400" dirty="0"/>
              <a:t>. Definen qué código está "dentro" del bloque.</a:t>
            </a:r>
          </a:p>
          <a:p>
            <a:r>
              <a:rPr lang="es-ES" sz="1400" b="1" dirty="0"/>
              <a:t>Sintaxis:</a:t>
            </a:r>
            <a:r>
              <a:rPr lang="es-ES" sz="1400" dirty="0"/>
              <a:t> Siempre lleva dos puntos (</a:t>
            </a:r>
            <a:r>
              <a:rPr lang="es-ES" dirty="0"/>
              <a:t>:</a:t>
            </a:r>
            <a:r>
              <a:rPr lang="es-ES" sz="1400" dirty="0"/>
              <a:t>) al final de la condición.</a:t>
            </a:r>
          </a:p>
          <a:p>
            <a:endParaRPr lang="es-ES" sz="1400" dirty="0"/>
          </a:p>
          <a:p>
            <a:pPr marL="146050" indent="0">
              <a:buNone/>
            </a:pPr>
            <a:r>
              <a:rPr lang="es-ES" sz="1400" dirty="0"/>
              <a:t>EJEMPLO: </a:t>
            </a:r>
          </a:p>
          <a:p>
            <a:pPr marL="146050" indent="0">
              <a:buNone/>
            </a:pPr>
            <a:r>
              <a:rPr lang="es-ES" sz="1400" dirty="0"/>
              <a:t>nota = 7</a:t>
            </a:r>
          </a:p>
          <a:p>
            <a:pPr marL="146050" indent="0">
              <a:buNone/>
            </a:pPr>
            <a:r>
              <a:rPr lang="es-ES" sz="1400" dirty="0" err="1"/>
              <a:t>if</a:t>
            </a:r>
            <a:r>
              <a:rPr lang="es-ES" sz="1400" dirty="0"/>
              <a:t> nota &gt;= 7:</a:t>
            </a:r>
          </a:p>
          <a:p>
            <a:pPr marL="146050" indent="0">
              <a:buNone/>
            </a:pPr>
            <a:r>
              <a:rPr lang="es-ES" sz="1400" dirty="0"/>
              <a:t>    </a:t>
            </a:r>
            <a:r>
              <a:rPr lang="es-ES" sz="1400" dirty="0" err="1"/>
              <a:t>print</a:t>
            </a:r>
            <a:r>
              <a:rPr lang="es-ES" sz="1400" dirty="0"/>
              <a:t>("Resultado: ¡Promocionado! ")</a:t>
            </a:r>
          </a:p>
          <a:p>
            <a:pPr marL="146050" indent="0">
              <a:buNone/>
            </a:pPr>
            <a:r>
              <a:rPr lang="es-ES" sz="1400" dirty="0" err="1"/>
              <a:t>elif</a:t>
            </a:r>
            <a:r>
              <a:rPr lang="es-ES" sz="1400" dirty="0"/>
              <a:t> nota &gt;= 4:</a:t>
            </a:r>
          </a:p>
          <a:p>
            <a:pPr marL="146050" indent="0">
              <a:buNone/>
            </a:pPr>
            <a:r>
              <a:rPr lang="es-ES" sz="1400" dirty="0"/>
              <a:t>    </a:t>
            </a:r>
            <a:r>
              <a:rPr lang="es-ES" sz="1400" dirty="0" err="1"/>
              <a:t>print</a:t>
            </a:r>
            <a:r>
              <a:rPr lang="es-ES" sz="1400" dirty="0"/>
              <a:t>("Resultado: Aprobado (vas a final).")</a:t>
            </a:r>
          </a:p>
          <a:p>
            <a:pPr marL="146050" indent="0">
              <a:buNone/>
            </a:pPr>
            <a:r>
              <a:rPr lang="es-ES" sz="1400" dirty="0" err="1"/>
              <a:t>else</a:t>
            </a:r>
            <a:r>
              <a:rPr lang="es-ES" sz="1400" dirty="0"/>
              <a:t>:</a:t>
            </a:r>
          </a:p>
          <a:p>
            <a:pPr marL="146050" indent="0">
              <a:buNone/>
            </a:pPr>
            <a:r>
              <a:rPr lang="es-ES" sz="1400" dirty="0"/>
              <a:t>    </a:t>
            </a:r>
            <a:r>
              <a:rPr lang="es-ES" sz="1400" dirty="0" err="1"/>
              <a:t>print</a:t>
            </a:r>
            <a:r>
              <a:rPr lang="es-ES" sz="1400" dirty="0"/>
              <a:t>("Resultado: </a:t>
            </a:r>
            <a:r>
              <a:rPr lang="es-ES" sz="1400" dirty="0" err="1"/>
              <a:t>Tenés</a:t>
            </a:r>
            <a:r>
              <a:rPr lang="es-ES" sz="1400" dirty="0"/>
              <a:t> que recursar.")</a:t>
            </a:r>
          </a:p>
        </p:txBody>
      </p:sp>
    </p:spTree>
    <p:extLst>
      <p:ext uri="{BB962C8B-B14F-4D97-AF65-F5344CB8AC3E}">
        <p14:creationId xmlns:p14="http://schemas.microsoft.com/office/powerpoint/2010/main" val="16096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33597820-A0E2-2489-1005-75BBEE30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>
            <a:extLst>
              <a:ext uri="{FF2B5EF4-FFF2-40B4-BE49-F238E27FC236}">
                <a16:creationId xmlns:a16="http://schemas.microsoft.com/office/drawing/2014/main" id="{CDB215EA-C7A3-0F7D-D066-CB904FD146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151901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Introducción a Python</a:t>
            </a:r>
            <a:endParaRPr dirty="0"/>
          </a:p>
        </p:txBody>
      </p:sp>
      <p:sp>
        <p:nvSpPr>
          <p:cNvPr id="365" name="Google Shape;365;p31">
            <a:extLst>
              <a:ext uri="{FF2B5EF4-FFF2-40B4-BE49-F238E27FC236}">
                <a16:creationId xmlns:a16="http://schemas.microsoft.com/office/drawing/2014/main" id="{46D547DB-2288-6A60-7C99-4FCBE4ADF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621404"/>
            <a:ext cx="7038900" cy="2337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endParaRPr lang="es-ES" sz="1400" b="1" dirty="0">
              <a:solidFill>
                <a:srgbClr val="FFFF00"/>
              </a:solidFill>
            </a:endParaRPr>
          </a:p>
          <a:p>
            <a:pPr marL="146050" indent="0">
              <a:buNone/>
            </a:pPr>
            <a:r>
              <a:rPr lang="es-ES" sz="1600" b="1" dirty="0">
                <a:solidFill>
                  <a:srgbClr val="FFFF00"/>
                </a:solidFill>
              </a:rPr>
              <a:t>Estructuras de Repetición </a:t>
            </a:r>
          </a:p>
          <a:p>
            <a:pPr marL="146050" indent="0">
              <a:buNone/>
            </a:pPr>
            <a:r>
              <a:rPr lang="es-ES" sz="1600" b="1" dirty="0" err="1">
                <a:solidFill>
                  <a:srgbClr val="FFFF00"/>
                </a:solidFill>
              </a:rPr>
              <a:t>For</a:t>
            </a:r>
            <a:r>
              <a:rPr lang="es-ES" sz="1600" b="1" dirty="0">
                <a:solidFill>
                  <a:srgbClr val="FFFF00"/>
                </a:solidFill>
              </a:rPr>
              <a:t> (sobre lista)</a:t>
            </a:r>
          </a:p>
          <a:p>
            <a:pPr marL="146050" indent="0">
              <a:buNone/>
            </a:pPr>
            <a:endParaRPr lang="es-ES" sz="1600" b="1" dirty="0">
              <a:solidFill>
                <a:srgbClr val="FFFF00"/>
              </a:solidFill>
            </a:endParaRPr>
          </a:p>
          <a:p>
            <a:r>
              <a:rPr lang="es-ES" sz="1400" b="1" dirty="0"/>
              <a:t>Uso:</a:t>
            </a:r>
            <a:r>
              <a:rPr lang="es-ES" sz="1400" dirty="0"/>
              <a:t> Se usa cuando sabemos de antemano cuántas veces queremos repetir algo (por ejemplo, una vez por cada elemento de una lista).</a:t>
            </a:r>
          </a:p>
          <a:p>
            <a:r>
              <a:rPr lang="es-ES" sz="1400" b="1" dirty="0"/>
              <a:t>Legibilidad:</a:t>
            </a:r>
            <a:r>
              <a:rPr lang="es-ES" sz="1400" dirty="0"/>
              <a:t> Es muy parecido al lenguaje humano: </a:t>
            </a:r>
            <a:r>
              <a:rPr lang="es-ES" sz="1400" i="1" dirty="0"/>
              <a:t>"Para cada materia en la lista de materias, </a:t>
            </a:r>
            <a:r>
              <a:rPr lang="es-ES" sz="1400" i="1" dirty="0" err="1"/>
              <a:t>hacé</a:t>
            </a:r>
            <a:r>
              <a:rPr lang="es-ES" sz="1400" i="1" dirty="0"/>
              <a:t> lo siguiente..."</a:t>
            </a:r>
            <a:endParaRPr lang="es-ES" sz="1400" dirty="0"/>
          </a:p>
          <a:p>
            <a:endParaRPr lang="es-ES" sz="1400" dirty="0"/>
          </a:p>
        </p:txBody>
      </p:sp>
      <p:sp>
        <p:nvSpPr>
          <p:cNvPr id="4" name="Google Shape;365;p31">
            <a:extLst>
              <a:ext uri="{FF2B5EF4-FFF2-40B4-BE49-F238E27FC236}">
                <a16:creationId xmlns:a16="http://schemas.microsoft.com/office/drawing/2014/main" id="{46D547DB-2288-6A60-7C99-4FCBE4ADF127}"/>
              </a:ext>
            </a:extLst>
          </p:cNvPr>
          <p:cNvSpPr txBox="1">
            <a:spLocks/>
          </p:cNvSpPr>
          <p:nvPr/>
        </p:nvSpPr>
        <p:spPr>
          <a:xfrm>
            <a:off x="0" y="2646672"/>
            <a:ext cx="4406747" cy="233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lang="es-ES" sz="1400" dirty="0" smtClean="0"/>
          </a:p>
          <a:p>
            <a:pPr marL="146050" indent="0">
              <a:buFont typeface="Lato"/>
              <a:buNone/>
            </a:pPr>
            <a:r>
              <a:rPr lang="es-ES" sz="1400" dirty="0" smtClean="0"/>
              <a:t>EJEMPLO: </a:t>
            </a:r>
          </a:p>
          <a:p>
            <a:pPr marL="146050" indent="0">
              <a:buFont typeface="Lato"/>
              <a:buNone/>
            </a:pPr>
            <a:r>
              <a:rPr lang="es-ES" sz="1400" dirty="0" smtClean="0"/>
              <a:t>materias = ["Didáctica", "Pedagogía", "Psicología"]</a:t>
            </a:r>
          </a:p>
          <a:p>
            <a:pPr marL="146050" indent="0">
              <a:buFont typeface="Lato"/>
              <a:buNone/>
            </a:pPr>
            <a:r>
              <a:rPr lang="es-ES" sz="1400" dirty="0" smtClean="0"/>
              <a:t>print("Plan de estudio:")</a:t>
            </a:r>
          </a:p>
          <a:p>
            <a:pPr marL="146050" indent="0">
              <a:buFont typeface="Lato"/>
              <a:buNone/>
            </a:pPr>
            <a:r>
              <a:rPr lang="es-ES" sz="1400" b="1" dirty="0" err="1" smtClean="0"/>
              <a:t>for</a:t>
            </a:r>
            <a:r>
              <a:rPr lang="es-ES" sz="1400" b="1" dirty="0" smtClean="0"/>
              <a:t> m in materias:</a:t>
            </a:r>
          </a:p>
          <a:p>
            <a:pPr marL="146050" indent="0">
              <a:buFont typeface="Lato"/>
              <a:buNone/>
            </a:pPr>
            <a:r>
              <a:rPr lang="es-ES" sz="1400" dirty="0" smtClean="0"/>
              <a:t>    # m toma el valor de cada elemento en cada vuelta</a:t>
            </a:r>
          </a:p>
          <a:p>
            <a:pPr marL="146050" indent="0">
              <a:buFont typeface="Lato"/>
              <a:buNone/>
            </a:pPr>
            <a:r>
              <a:rPr lang="es-ES" sz="1400" dirty="0" smtClean="0"/>
              <a:t>    print(f"-&gt; Estudiando: {m}")</a:t>
            </a:r>
            <a:endParaRPr lang="es-ES" sz="1400" dirty="0"/>
          </a:p>
        </p:txBody>
      </p:sp>
      <p:sp>
        <p:nvSpPr>
          <p:cNvPr id="5" name="Google Shape;365;p31">
            <a:extLst>
              <a:ext uri="{FF2B5EF4-FFF2-40B4-BE49-F238E27FC236}">
                <a16:creationId xmlns:a16="http://schemas.microsoft.com/office/drawing/2014/main" id="{46D547DB-2288-6A60-7C99-4FCBE4ADF127}"/>
              </a:ext>
            </a:extLst>
          </p:cNvPr>
          <p:cNvSpPr txBox="1">
            <a:spLocks/>
          </p:cNvSpPr>
          <p:nvPr/>
        </p:nvSpPr>
        <p:spPr>
          <a:xfrm>
            <a:off x="4168200" y="2646671"/>
            <a:ext cx="4406747" cy="233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lang="es-ES" sz="1400" dirty="0" smtClean="0"/>
          </a:p>
          <a:p>
            <a:pPr marL="146050" indent="0">
              <a:buFont typeface="Lato"/>
              <a:buNone/>
            </a:pPr>
            <a:r>
              <a:rPr lang="es-ES" sz="1400" dirty="0" smtClean="0"/>
              <a:t>EJEMPLO 2: </a:t>
            </a:r>
          </a:p>
          <a:p>
            <a:pPr marL="146050" indent="0">
              <a:buFont typeface="Lato"/>
              <a:buNone/>
            </a:pPr>
            <a:r>
              <a:rPr lang="es-ES" sz="1400" dirty="0" smtClean="0"/>
              <a:t>materias = ["Didáctica", "Pedagogía", "Psicología"]</a:t>
            </a:r>
          </a:p>
          <a:p>
            <a:pPr marL="146050" indent="0">
              <a:buFont typeface="Lato"/>
              <a:buNone/>
            </a:pPr>
            <a:r>
              <a:rPr lang="es-ES" sz="1400" dirty="0" smtClean="0"/>
              <a:t>print("Plan de estudio:")</a:t>
            </a:r>
          </a:p>
          <a:p>
            <a:pPr marL="146050" indent="0">
              <a:buFont typeface="Lato"/>
              <a:buNone/>
            </a:pPr>
            <a:r>
              <a:rPr lang="es-ES" sz="1400" b="1" dirty="0" err="1" smtClean="0"/>
              <a:t>for</a:t>
            </a:r>
            <a:r>
              <a:rPr lang="es-ES" sz="1400" b="1" dirty="0" smtClean="0"/>
              <a:t> i in </a:t>
            </a:r>
            <a:r>
              <a:rPr lang="es-ES" sz="1400" b="1" dirty="0" err="1" smtClean="0"/>
              <a:t>range</a:t>
            </a:r>
            <a:r>
              <a:rPr lang="es-ES" sz="1400" b="1" dirty="0" smtClean="0"/>
              <a:t>(0, </a:t>
            </a:r>
            <a:r>
              <a:rPr lang="es-ES" sz="1400" b="1" dirty="0" err="1" smtClean="0"/>
              <a:t>len</a:t>
            </a:r>
            <a:r>
              <a:rPr lang="es-ES" sz="1400" b="1" dirty="0" smtClean="0"/>
              <a:t>(materias)):</a:t>
            </a:r>
          </a:p>
          <a:p>
            <a:pPr marL="146050" indent="0">
              <a:buFont typeface="Lato"/>
              <a:buNone/>
            </a:pPr>
            <a:r>
              <a:rPr lang="es-ES" sz="1400" dirty="0" smtClean="0"/>
              <a:t>    # i es el </a:t>
            </a:r>
            <a:r>
              <a:rPr lang="es-ES" sz="1400" dirty="0" err="1" smtClean="0"/>
              <a:t>indice</a:t>
            </a:r>
            <a:endParaRPr lang="es-ES" sz="1400" dirty="0" smtClean="0"/>
          </a:p>
          <a:p>
            <a:pPr marL="146050" indent="0">
              <a:buFont typeface="Lato"/>
              <a:buNone/>
            </a:pPr>
            <a:r>
              <a:rPr lang="es-ES" sz="1400" dirty="0" smtClean="0"/>
              <a:t>    print(f"-&gt; Estudiando: {materias[i]")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31645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9C4F7-69D8-42E1-1F1A-67F88FF3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Introducción a Python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769309-8734-1C04-E3E9-1C9EC725C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173541"/>
            <a:ext cx="7038900" cy="2911200"/>
          </a:xfrm>
        </p:spPr>
        <p:txBody>
          <a:bodyPr/>
          <a:lstStyle/>
          <a:p>
            <a:r>
              <a:rPr lang="es-ES" sz="1600" b="1" dirty="0">
                <a:solidFill>
                  <a:srgbClr val="FFFF00"/>
                </a:solidFill>
              </a:rPr>
              <a:t>Bucle WHILE (Repetición Condicional)</a:t>
            </a:r>
          </a:p>
          <a:p>
            <a:r>
              <a:rPr lang="es-ES" b="1" dirty="0"/>
              <a:t>Uso:</a:t>
            </a:r>
            <a:r>
              <a:rPr lang="es-ES" dirty="0"/>
              <a:t> Se repite </a:t>
            </a:r>
            <a:r>
              <a:rPr lang="es-ES" b="1" dirty="0"/>
              <a:t>mientras</a:t>
            </a:r>
            <a:r>
              <a:rPr lang="es-ES" dirty="0"/>
              <a:t> una condición sea verdadera (True).</a:t>
            </a:r>
          </a:p>
          <a:p>
            <a:r>
              <a:rPr lang="es-ES" b="1" dirty="0"/>
              <a:t>Detalles:</a:t>
            </a:r>
            <a:r>
              <a:rPr lang="es-ES" dirty="0"/>
              <a:t> Es fundamental cambiar la variable de control dentro del bucle para evitar que sea infinito. Se usa cuando no sabemos exactamente cuántas vueltas dará el programa.</a:t>
            </a:r>
          </a:p>
          <a:p>
            <a:r>
              <a:rPr lang="es-AR" dirty="0"/>
              <a:t>Ejemplo:</a:t>
            </a:r>
          </a:p>
          <a:p>
            <a:pPr marL="146050" indent="0">
              <a:buNone/>
            </a:pPr>
            <a:r>
              <a:rPr lang="es-ES" dirty="0" err="1"/>
              <a:t>energia</a:t>
            </a:r>
            <a:r>
              <a:rPr lang="es-ES" dirty="0"/>
              <a:t> = 3</a:t>
            </a:r>
          </a:p>
          <a:p>
            <a:pPr marL="146050" indent="0">
              <a:buNone/>
            </a:pPr>
            <a:endParaRPr lang="es-ES" dirty="0"/>
          </a:p>
          <a:p>
            <a:pPr marL="146050" indent="0">
              <a:buNone/>
            </a:pPr>
            <a:r>
              <a:rPr lang="es-ES" dirty="0" err="1"/>
              <a:t>while</a:t>
            </a:r>
            <a:r>
              <a:rPr lang="es-ES" dirty="0"/>
              <a:t> </a:t>
            </a:r>
            <a:r>
              <a:rPr lang="es-ES" dirty="0" err="1"/>
              <a:t>energia</a:t>
            </a:r>
            <a:r>
              <a:rPr lang="es-ES" dirty="0"/>
              <a:t> &gt; 0:</a:t>
            </a:r>
          </a:p>
          <a:p>
            <a:pPr marL="146050" indent="0">
              <a:buNone/>
            </a:pPr>
            <a:r>
              <a:rPr lang="es-ES" dirty="0"/>
              <a:t>    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f"Repetición</a:t>
            </a:r>
            <a:r>
              <a:rPr lang="es-ES" dirty="0"/>
              <a:t> en curso... Energía: {</a:t>
            </a:r>
            <a:r>
              <a:rPr lang="es-ES" dirty="0" err="1"/>
              <a:t>energia</a:t>
            </a:r>
            <a:r>
              <a:rPr lang="es-ES" dirty="0"/>
              <a:t>}")</a:t>
            </a:r>
          </a:p>
          <a:p>
            <a:pPr marL="146050" indent="0">
              <a:buNone/>
            </a:pPr>
            <a:r>
              <a:rPr lang="es-ES" dirty="0"/>
              <a:t>    # Restamos 1 en cada vuelta</a:t>
            </a:r>
          </a:p>
          <a:p>
            <a:pPr marL="146050" indent="0">
              <a:buNone/>
            </a:pPr>
            <a:r>
              <a:rPr lang="es-ES" dirty="0"/>
              <a:t>    </a:t>
            </a:r>
            <a:r>
              <a:rPr lang="es-ES" dirty="0" err="1"/>
              <a:t>energia</a:t>
            </a:r>
            <a:r>
              <a:rPr lang="es-ES" dirty="0"/>
              <a:t> = </a:t>
            </a:r>
            <a:r>
              <a:rPr lang="es-ES" dirty="0" err="1"/>
              <a:t>energia</a:t>
            </a:r>
            <a:r>
              <a:rPr lang="es-ES" dirty="0"/>
              <a:t> - 1</a:t>
            </a:r>
          </a:p>
          <a:p>
            <a:pPr marL="146050" indent="0">
              <a:buNone/>
            </a:pPr>
            <a:endParaRPr lang="es-ES" dirty="0"/>
          </a:p>
          <a:p>
            <a:pPr marL="146050" indent="0">
              <a:buNone/>
            </a:pPr>
            <a:r>
              <a:rPr lang="es-ES" dirty="0" err="1"/>
              <a:t>print</a:t>
            </a:r>
            <a:r>
              <a:rPr lang="es-ES" dirty="0"/>
              <a:t>("Fin del bucle: Te quedaste sin energía.")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2197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Ejercicio</a:t>
            </a:r>
            <a:endParaRPr dirty="0"/>
          </a:p>
        </p:txBody>
      </p:sp>
      <p:sp>
        <p:nvSpPr>
          <p:cNvPr id="372" name="Google Shape;372;p32"/>
          <p:cNvSpPr txBox="1">
            <a:spLocks noGrp="1"/>
          </p:cNvSpPr>
          <p:nvPr>
            <p:ph type="body" idx="1"/>
          </p:nvPr>
        </p:nvSpPr>
        <p:spPr>
          <a:xfrm>
            <a:off x="1297500" y="1240542"/>
            <a:ext cx="7038900" cy="19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sz="2000" dirty="0" smtClean="0"/>
              <a:t>Utilizando el TAD visto en clase </a:t>
            </a:r>
            <a:r>
              <a:rPr lang="es-419" sz="2000" dirty="0" err="1" smtClean="0"/>
              <a:t>TADEstudiante</a:t>
            </a:r>
            <a:r>
              <a:rPr lang="es-419" sz="2000" dirty="0" smtClean="0"/>
              <a:t>, desarrollar una aplicación que cumpla con los siguientes puntos:</a:t>
            </a: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s-419" sz="2000" dirty="0" smtClean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 dirty="0" smtClean="0"/>
              <a:t>Crear </a:t>
            </a:r>
            <a:r>
              <a:rPr lang="es-419" sz="2000" dirty="0"/>
              <a:t>dos estudiantes y cargarlos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 dirty="0"/>
              <a:t>Imprimir los datos de cada estudiante al finalizar su respectiva carga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 dirty="0"/>
              <a:t>Comparar los promedios e imprimir un cartel que diga que estudiante tiene mayor promedio.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24602</TotalTime>
  <Words>1455</Words>
  <Application>Microsoft Office PowerPoint</Application>
  <PresentationFormat>Presentación en pantalla (16:9)</PresentationFormat>
  <Paragraphs>221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Montserrat</vt:lpstr>
      <vt:lpstr>Average</vt:lpstr>
      <vt:lpstr>Lato</vt:lpstr>
      <vt:lpstr>Arial</vt:lpstr>
      <vt:lpstr>Quantico</vt:lpstr>
      <vt:lpstr>Focus</vt:lpstr>
      <vt:lpstr>Sintaxis y Semántica del Lenguaje</vt:lpstr>
      <vt:lpstr>Docentes y Ayudantes</vt:lpstr>
      <vt:lpstr>Temas a desarrollar en la materia</vt:lpstr>
      <vt:lpstr>&lt;/Pautas de la materia</vt:lpstr>
      <vt:lpstr>Fechas de Parciales (Tentativas)</vt:lpstr>
      <vt:lpstr>&lt;/Trabajo Integrador</vt:lpstr>
      <vt:lpstr>TAD Simple: Especificación y Aplicación</vt:lpstr>
      <vt:lpstr>Introducción…</vt:lpstr>
      <vt:lpstr>Tipos Abstractos de Datos (Definición)</vt:lpstr>
      <vt:lpstr>Tipos Abstractos de Datos (Características)</vt:lpstr>
      <vt:lpstr>Nuevo enfoque </vt:lpstr>
      <vt:lpstr>Estructura Interna</vt:lpstr>
      <vt:lpstr>Especificación</vt:lpstr>
      <vt:lpstr>Especificación → Ver y Modificar</vt:lpstr>
      <vt:lpstr>Tipos Abstractos de Datos (Características)</vt:lpstr>
      <vt:lpstr>Métodos de un TAD Simple</vt:lpstr>
      <vt:lpstr>Introducción a Python</vt:lpstr>
      <vt:lpstr>Introducción a Python</vt:lpstr>
      <vt:lpstr>Introducción a Python</vt:lpstr>
      <vt:lpstr>Introducción a Python</vt:lpstr>
      <vt:lpstr>Introducción a Python</vt:lpstr>
      <vt:lpstr>Introducción a Python</vt:lpstr>
      <vt:lpstr>Ejercicio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Sintaxis y Semántica del Lenguaje</dc:title>
  <cp:lastModifiedBy>Paternoster, Felix</cp:lastModifiedBy>
  <cp:revision>20</cp:revision>
  <dcterms:modified xsi:type="dcterms:W3CDTF">2026-04-01T22:27:08Z</dcterms:modified>
</cp:coreProperties>
</file>